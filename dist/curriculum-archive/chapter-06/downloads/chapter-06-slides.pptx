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3" autoAdjust="0"/>
    <p:restoredTop sz="95706" autoAdjust="0"/>
  </p:normalViewPr>
  <p:slideViewPr>
    <p:cSldViewPr snapToGrid="0" snapToObjects="1">
      <p:cViewPr>
        <p:scale>
          <a:sx n="118" d="100"/>
          <a:sy n="118" d="100"/>
        </p:scale>
        <p:origin x="240"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7560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4.png"/><Relationship Id="rId3" Type="http://schemas.openxmlformats.org/officeDocument/2006/relationships/image" Target="../media/image5.png"/><Relationship Id="rId7" Type="http://schemas.openxmlformats.org/officeDocument/2006/relationships/image" Target="../media/image3.png"/><Relationship Id="rId12" Type="http://schemas.openxmlformats.org/officeDocument/2006/relationships/image" Target="../media/image11.png"/><Relationship Id="rId2" Type="http://schemas.openxmlformats.org/officeDocument/2006/relationships/notesSlide" Target="../notesSlides/notesSlide4.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png"/><Relationship Id="rId5" Type="http://schemas.openxmlformats.org/officeDocument/2006/relationships/image" Target="../media/image7.png"/><Relationship Id="rId15" Type="http://schemas.openxmlformats.org/officeDocument/2006/relationships/image" Target="../media/image13.png"/><Relationship Id="rId10" Type="http://schemas.openxmlformats.org/officeDocument/2006/relationships/image" Target="../media/image10.png"/><Relationship Id="rId4" Type="http://schemas.openxmlformats.org/officeDocument/2006/relationships/image" Target="../media/image6.png"/><Relationship Id="rId9" Type="http://schemas.openxmlformats.org/officeDocument/2006/relationships/image" Target="../media/image9.png"/><Relationship Id="rId1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7.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5.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2B5B"/>
          </a:solidFill>
          <a:ln/>
        </p:spPr>
        <p:txBody>
          <a:bodyPr/>
          <a:lstStyle/>
          <a:p>
            <a:endParaRPr lang="en-US"/>
          </a:p>
        </p:txBody>
      </p:sp>
      <p:sp>
        <p:nvSpPr>
          <p:cNvPr id="3" name="Shape 1"/>
          <p:cNvSpPr/>
          <p:nvPr/>
        </p:nvSpPr>
        <p:spPr>
          <a:xfrm>
            <a:off x="0" y="0"/>
            <a:ext cx="109728" cy="5143500"/>
          </a:xfrm>
          <a:prstGeom prst="rect">
            <a:avLst/>
          </a:prstGeom>
          <a:solidFill>
            <a:srgbClr val="1A7A4A"/>
          </a:solidFill>
          <a:ln/>
        </p:spPr>
        <p:txBody>
          <a:bodyPr/>
          <a:lstStyle/>
          <a:p>
            <a:endParaRPr lang="en-US"/>
          </a:p>
        </p:txBody>
      </p:sp>
      <p:sp>
        <p:nvSpPr>
          <p:cNvPr id="4" name="Shape 2"/>
          <p:cNvSpPr/>
          <p:nvPr/>
        </p:nvSpPr>
        <p:spPr>
          <a:xfrm>
            <a:off x="5303520" y="914400"/>
            <a:ext cx="3840480" cy="3840480"/>
          </a:xfrm>
          <a:prstGeom prst="rect">
            <a:avLst/>
          </a:prstGeom>
          <a:solidFill>
            <a:srgbClr val="1A3A5A"/>
          </a:solidFill>
          <a:ln w="12700">
            <a:solidFill>
              <a:srgbClr val="1A3A5A"/>
            </a:solidFill>
            <a:prstDash val="solid"/>
          </a:ln>
        </p:spPr>
        <p:txBody>
          <a:bodyPr/>
          <a:lstStyle/>
          <a:p>
            <a:endParaRPr lang="en-US"/>
          </a:p>
        </p:txBody>
      </p:sp>
      <p:sp>
        <p:nvSpPr>
          <p:cNvPr id="5" name="Shape 3"/>
          <p:cNvSpPr/>
          <p:nvPr/>
        </p:nvSpPr>
        <p:spPr>
          <a:xfrm>
            <a:off x="5943600" y="1645920"/>
            <a:ext cx="2743200" cy="2377440"/>
          </a:xfrm>
          <a:prstGeom prst="rect">
            <a:avLst/>
          </a:prstGeom>
          <a:solidFill>
            <a:srgbClr val="0E2040"/>
          </a:solidFill>
          <a:ln w="12700">
            <a:solidFill>
              <a:srgbClr val="0E2040"/>
            </a:solidFill>
            <a:prstDash val="solid"/>
          </a:ln>
        </p:spPr>
        <p:txBody>
          <a:bodyPr/>
          <a:lstStyle/>
          <a:p>
            <a:endParaRPr lang="en-US"/>
          </a:p>
        </p:txBody>
      </p:sp>
      <p:sp>
        <p:nvSpPr>
          <p:cNvPr id="6" name="Shape 4"/>
          <p:cNvSpPr/>
          <p:nvPr/>
        </p:nvSpPr>
        <p:spPr>
          <a:xfrm>
            <a:off x="6858000" y="1280160"/>
            <a:ext cx="1828800" cy="1828800"/>
          </a:xfrm>
          <a:prstGeom prst="ellipse">
            <a:avLst/>
          </a:prstGeom>
          <a:solidFill>
            <a:srgbClr val="1A7A4A"/>
          </a:solidFill>
          <a:ln w="12700">
            <a:solidFill>
              <a:srgbClr val="1A7A4A"/>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7178040" y="1600200"/>
            <a:ext cx="1188720" cy="1188720"/>
          </a:xfrm>
          <a:prstGeom prst="rect">
            <a:avLst/>
          </a:prstGeom>
        </p:spPr>
      </p:pic>
      <p:sp>
        <p:nvSpPr>
          <p:cNvPr id="8" name="Text 5"/>
          <p:cNvSpPr/>
          <p:nvPr/>
        </p:nvSpPr>
        <p:spPr>
          <a:xfrm>
            <a:off x="320040" y="594360"/>
            <a:ext cx="5943600" cy="64008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COMPETITIVE</a:t>
            </a:r>
            <a:endParaRPr lang="en-US" sz="4400" dirty="0"/>
          </a:p>
        </p:txBody>
      </p:sp>
      <p:sp>
        <p:nvSpPr>
          <p:cNvPr id="9" name="Text 6"/>
          <p:cNvSpPr/>
          <p:nvPr/>
        </p:nvSpPr>
        <p:spPr>
          <a:xfrm>
            <a:off x="320040" y="1188720"/>
            <a:ext cx="6400800" cy="64008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INTELLIGENCE</a:t>
            </a:r>
            <a:endParaRPr lang="en-US" sz="4400" dirty="0"/>
          </a:p>
        </p:txBody>
      </p:sp>
      <p:sp>
        <p:nvSpPr>
          <p:cNvPr id="10" name="Text 7"/>
          <p:cNvSpPr/>
          <p:nvPr/>
        </p:nvSpPr>
        <p:spPr>
          <a:xfrm>
            <a:off x="320040" y="1783080"/>
            <a:ext cx="6400800" cy="64008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AS A LIVING</a:t>
            </a:r>
            <a:endParaRPr lang="en-US" sz="4400" dirty="0"/>
          </a:p>
        </p:txBody>
      </p:sp>
      <p:sp>
        <p:nvSpPr>
          <p:cNvPr id="11" name="Text 8"/>
          <p:cNvSpPr/>
          <p:nvPr/>
        </p:nvSpPr>
        <p:spPr>
          <a:xfrm>
            <a:off x="320040" y="2377440"/>
            <a:ext cx="6400800" cy="640080"/>
          </a:xfrm>
          <a:prstGeom prst="rect">
            <a:avLst/>
          </a:prstGeom>
          <a:noFill/>
          <a:ln/>
        </p:spPr>
        <p:txBody>
          <a:bodyPr wrap="square" rtlCol="0" anchor="ctr"/>
          <a:lstStyle/>
          <a:p>
            <a:pPr marL="0" indent="0">
              <a:buNone/>
            </a:pPr>
            <a:r>
              <a:rPr lang="en-US" sz="4400" b="1" dirty="0">
                <a:solidFill>
                  <a:srgbClr val="1A7A4A"/>
                </a:solidFill>
                <a:latin typeface="Calibri" pitchFamily="34" charset="0"/>
                <a:ea typeface="Calibri" pitchFamily="34" charset="-122"/>
                <a:cs typeface="Calibri" pitchFamily="34" charset="-120"/>
              </a:rPr>
              <a:t>SYSTEM.</a:t>
            </a:r>
            <a:endParaRPr lang="en-US" sz="4400" dirty="0"/>
          </a:p>
        </p:txBody>
      </p:sp>
      <p:sp>
        <p:nvSpPr>
          <p:cNvPr id="12" name="Text 9"/>
          <p:cNvSpPr/>
          <p:nvPr/>
        </p:nvSpPr>
        <p:spPr>
          <a:xfrm>
            <a:off x="320040" y="3154680"/>
            <a:ext cx="5029200" cy="594360"/>
          </a:xfrm>
          <a:prstGeom prst="rect">
            <a:avLst/>
          </a:prstGeom>
          <a:noFill/>
          <a:ln/>
        </p:spPr>
        <p:txBody>
          <a:bodyPr wrap="square" rtlCol="0" anchor="ctr"/>
          <a:lstStyle/>
          <a:p>
            <a:pPr marL="0" indent="0">
              <a:buNone/>
            </a:pPr>
            <a:r>
              <a:rPr lang="en-US" sz="1400" i="1" dirty="0">
                <a:solidFill>
                  <a:srgbClr val="B8C8D8"/>
                </a:solidFill>
                <a:latin typeface="Georgia" pitchFamily="34" charset="0"/>
                <a:ea typeface="Georgia" pitchFamily="34" charset="-122"/>
                <a:cs typeface="Georgia" pitchFamily="34" charset="-120"/>
              </a:rPr>
              <a:t>The quarterly battlecard is dead.</a:t>
            </a:r>
            <a:endParaRPr lang="en-US" sz="1400" dirty="0"/>
          </a:p>
          <a:p>
            <a:pPr marL="0" indent="0">
              <a:buNone/>
            </a:pPr>
            <a:r>
              <a:rPr lang="en-US" sz="1400" i="1" dirty="0">
                <a:solidFill>
                  <a:srgbClr val="B8C8D8"/>
                </a:solidFill>
                <a:latin typeface="Georgia" pitchFamily="34" charset="0"/>
                <a:ea typeface="Georgia" pitchFamily="34" charset="-122"/>
                <a:cs typeface="Georgia" pitchFamily="34" charset="-120"/>
              </a:rPr>
              <a:t>The PMM who replaces it wins.</a:t>
            </a:r>
            <a:endParaRPr lang="en-US" sz="1400" dirty="0"/>
          </a:p>
        </p:txBody>
      </p:sp>
      <p:sp>
        <p:nvSpPr>
          <p:cNvPr id="13" name="Shape 10"/>
          <p:cNvSpPr/>
          <p:nvPr/>
        </p:nvSpPr>
        <p:spPr>
          <a:xfrm>
            <a:off x="320040" y="3931920"/>
            <a:ext cx="5852160" cy="1005840"/>
          </a:xfrm>
          <a:prstGeom prst="rect">
            <a:avLst/>
          </a:prstGeom>
          <a:solidFill>
            <a:srgbClr val="1A3A6A"/>
          </a:solidFill>
          <a:ln w="12700">
            <a:solidFill>
              <a:srgbClr val="1A3A6A"/>
            </a:solidFill>
            <a:prstDash val="solid"/>
          </a:ln>
          <a:effectLst>
            <a:outerShdw blurRad="101600" dist="38100" dir="8100000" algn="bl" rotWithShape="0">
              <a:srgbClr val="000000">
                <a:alpha val="10000"/>
              </a:srgbClr>
            </a:outerShdw>
          </a:effectLst>
        </p:spPr>
        <p:txBody>
          <a:bodyPr/>
          <a:lstStyle/>
          <a:p>
            <a:endParaRPr lang="en-US"/>
          </a:p>
        </p:txBody>
      </p:sp>
      <p:sp>
        <p:nvSpPr>
          <p:cNvPr id="14" name="Shape 11"/>
          <p:cNvSpPr/>
          <p:nvPr/>
        </p:nvSpPr>
        <p:spPr>
          <a:xfrm>
            <a:off x="320040" y="3931920"/>
            <a:ext cx="64008" cy="1005840"/>
          </a:xfrm>
          <a:prstGeom prst="rect">
            <a:avLst/>
          </a:prstGeom>
          <a:solidFill>
            <a:srgbClr val="1A7A4A"/>
          </a:solidFill>
          <a:ln w="12700">
            <a:solidFill>
              <a:srgbClr val="1A7A4A"/>
            </a:solidFill>
            <a:prstDash val="solid"/>
          </a:ln>
        </p:spPr>
        <p:txBody>
          <a:bodyPr/>
          <a:lstStyle/>
          <a:p>
            <a:endParaRPr lang="en-US"/>
          </a:p>
        </p:txBody>
      </p:sp>
      <p:sp>
        <p:nvSpPr>
          <p:cNvPr id="15" name="Text 12"/>
          <p:cNvSpPr/>
          <p:nvPr/>
        </p:nvSpPr>
        <p:spPr>
          <a:xfrm>
            <a:off x="502920" y="4005072"/>
            <a:ext cx="5486400" cy="868680"/>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Every major vendor is making AI announcements on a weekly basis.</a:t>
            </a:r>
            <a:endParaRPr lang="en-US" sz="1150" dirty="0"/>
          </a:p>
          <a:p>
            <a:pPr marL="0" indent="0">
              <a:buNone/>
            </a:pPr>
            <a:r>
              <a:rPr lang="en-US" sz="1150" dirty="0">
                <a:solidFill>
                  <a:srgbClr val="FFFFFF"/>
                </a:solidFill>
                <a:latin typeface="Calibri" pitchFamily="34" charset="0"/>
                <a:ea typeface="Calibri" pitchFamily="34" charset="-122"/>
                <a:cs typeface="Calibri" pitchFamily="34" charset="-120"/>
              </a:rPr>
              <a:t>The PMM still running quarterly battlecard cycles is always operating</a:t>
            </a:r>
            <a:endParaRPr lang="en-US" sz="1150" dirty="0"/>
          </a:p>
          <a:p>
            <a:pPr marL="0" indent="0">
              <a:buNone/>
            </a:pPr>
            <a:r>
              <a:rPr lang="en-US" sz="1150" dirty="0">
                <a:solidFill>
                  <a:srgbClr val="FFFFFF"/>
                </a:solidFill>
                <a:latin typeface="Calibri" pitchFamily="34" charset="0"/>
                <a:ea typeface="Calibri" pitchFamily="34" charset="-122"/>
                <a:cs typeface="Calibri" pitchFamily="34" charset="-120"/>
              </a:rPr>
              <a:t>on information that is stale.</a:t>
            </a:r>
            <a:endParaRPr lang="en-US" sz="1150" dirty="0"/>
          </a:p>
        </p:txBody>
      </p:sp>
      <p:sp>
        <p:nvSpPr>
          <p:cNvPr id="16" name="Text 13"/>
          <p:cNvSpPr/>
          <p:nvPr/>
        </p:nvSpPr>
        <p:spPr>
          <a:xfrm>
            <a:off x="320040" y="6492240"/>
            <a:ext cx="8229600" cy="228600"/>
          </a:xfrm>
          <a:prstGeom prst="rect">
            <a:avLst/>
          </a:prstGeom>
          <a:noFill/>
          <a:ln/>
        </p:spPr>
        <p:txBody>
          <a:bodyPr wrap="square" rtlCol="0" anchor="ctr"/>
          <a:lstStyle/>
          <a:p>
            <a:pPr marL="0" indent="0">
              <a:buNone/>
            </a:pPr>
            <a:r>
              <a:rPr lang="en-US" sz="900" i="1" dirty="0">
                <a:solidFill>
                  <a:srgbClr val="6B7B8D"/>
                </a:solidFill>
                <a:latin typeface="Calibri" pitchFamily="34" charset="0"/>
                <a:ea typeface="Calibri" pitchFamily="34" charset="-122"/>
                <a:cs typeface="Calibri" pitchFamily="34" charset="-120"/>
              </a:rPr>
              <a:t>Chapter 6  ·  The Future of Product Marketing  ·  Chris O'Hara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7FB"/>
          </a:solidFill>
          <a:ln/>
        </p:spPr>
        <p:txBody>
          <a:bodyPr/>
          <a:lstStyle/>
          <a:p>
            <a:endParaRPr lang="en-US"/>
          </a:p>
        </p:txBody>
      </p:sp>
      <p:sp>
        <p:nvSpPr>
          <p:cNvPr id="3" name="Shape 1"/>
          <p:cNvSpPr/>
          <p:nvPr/>
        </p:nvSpPr>
        <p:spPr>
          <a:xfrm>
            <a:off x="0" y="0"/>
            <a:ext cx="9144000" cy="960120"/>
          </a:xfrm>
          <a:prstGeom prst="rect">
            <a:avLst/>
          </a:prstGeom>
          <a:solidFill>
            <a:srgbClr val="0F2B5B"/>
          </a:solidFill>
          <a:ln/>
        </p:spPr>
        <p:txBody>
          <a:bodyPr/>
          <a:lstStyle/>
          <a:p>
            <a:endParaRPr lang="en-US"/>
          </a:p>
        </p:txBody>
      </p:sp>
      <p:sp>
        <p:nvSpPr>
          <p:cNvPr id="4" name="Shape 2"/>
          <p:cNvSpPr/>
          <p:nvPr/>
        </p:nvSpPr>
        <p:spPr>
          <a:xfrm>
            <a:off x="0" y="960120"/>
            <a:ext cx="9144000" cy="45720"/>
          </a:xfrm>
          <a:prstGeom prst="rect">
            <a:avLst/>
          </a:prstGeom>
          <a:solidFill>
            <a:srgbClr val="1A7A4A"/>
          </a:solidFill>
          <a:ln/>
        </p:spPr>
        <p:txBody>
          <a:bodyPr/>
          <a:lstStyle/>
          <a:p>
            <a:endParaRPr lang="en-US"/>
          </a:p>
        </p:txBody>
      </p:sp>
      <p:sp>
        <p:nvSpPr>
          <p:cNvPr id="5" name="Text 3"/>
          <p:cNvSpPr/>
          <p:nvPr/>
        </p:nvSpPr>
        <p:spPr>
          <a:xfrm>
            <a:off x="320040" y="73152"/>
            <a:ext cx="7772400" cy="502920"/>
          </a:xfrm>
          <a:prstGeom prst="rect">
            <a:avLst/>
          </a:prstGeom>
          <a:noFill/>
          <a:ln/>
        </p:spPr>
        <p:txBody>
          <a:bodyPr wrap="square" rtlCol="0" anchor="ctr"/>
          <a:lstStyle/>
          <a:p>
            <a:pPr marL="0" indent="0">
              <a:buNone/>
            </a:pPr>
            <a:r>
              <a:rPr lang="en-US" sz="2000" b="1" kern="0" spc="200" dirty="0">
                <a:solidFill>
                  <a:srgbClr val="FFFFFF"/>
                </a:solidFill>
                <a:latin typeface="Calibri" pitchFamily="34" charset="0"/>
                <a:ea typeface="Calibri" pitchFamily="34" charset="-122"/>
                <a:cs typeface="Calibri" pitchFamily="34" charset="-120"/>
              </a:rPr>
              <a:t>THE PROBLEM</a:t>
            </a:r>
            <a:endParaRPr lang="en-US" sz="2000" dirty="0"/>
          </a:p>
        </p:txBody>
      </p:sp>
      <p:sp>
        <p:nvSpPr>
          <p:cNvPr id="6" name="Text 4"/>
          <p:cNvSpPr/>
          <p:nvPr/>
        </p:nvSpPr>
        <p:spPr>
          <a:xfrm>
            <a:off x="320040" y="548640"/>
            <a:ext cx="8412480" cy="347472"/>
          </a:xfrm>
          <a:prstGeom prst="rect">
            <a:avLst/>
          </a:prstGeom>
          <a:noFill/>
          <a:ln/>
        </p:spPr>
        <p:txBody>
          <a:bodyPr wrap="square" rtlCol="0" anchor="ctr"/>
          <a:lstStyle/>
          <a:p>
            <a:pPr marL="0" indent="0">
              <a:buNone/>
            </a:pPr>
            <a:r>
              <a:rPr lang="en-US" sz="1300" i="1" dirty="0">
                <a:solidFill>
                  <a:srgbClr val="D4A843"/>
                </a:solidFill>
                <a:latin typeface="Georgia" pitchFamily="34" charset="0"/>
                <a:ea typeface="Georgia" pitchFamily="34" charset="-122"/>
                <a:cs typeface="Georgia" pitchFamily="34" charset="-120"/>
              </a:rPr>
              <a:t>Your battlecards are outdated before they're published.</a:t>
            </a:r>
            <a:endParaRPr lang="en-US" sz="1300" dirty="0"/>
          </a:p>
        </p:txBody>
      </p:sp>
      <p:sp>
        <p:nvSpPr>
          <p:cNvPr id="7" name="Shape 5"/>
          <p:cNvSpPr/>
          <p:nvPr/>
        </p:nvSpPr>
        <p:spPr>
          <a:xfrm>
            <a:off x="228600" y="1143000"/>
            <a:ext cx="8686800" cy="694944"/>
          </a:xfrm>
          <a:prstGeom prst="rect">
            <a:avLst/>
          </a:prstGeom>
          <a:solidFill>
            <a:srgbClr val="FFFFFF"/>
          </a:solidFill>
          <a:ln w="12700">
            <a:solidFill>
              <a:srgbClr val="E0E8F0"/>
            </a:solidFill>
            <a:prstDash val="solid"/>
          </a:ln>
          <a:effectLst>
            <a:outerShdw blurRad="63500" dist="25400" dir="8100000" algn="bl" rotWithShape="0">
              <a:srgbClr val="000000">
                <a:alpha val="8000"/>
              </a:srgbClr>
            </a:outerShdw>
          </a:effectLst>
        </p:spPr>
        <p:txBody>
          <a:bodyPr/>
          <a:lstStyle/>
          <a:p>
            <a:endParaRPr lang="en-US"/>
          </a:p>
        </p:txBody>
      </p:sp>
      <p:sp>
        <p:nvSpPr>
          <p:cNvPr id="8" name="Shape 6"/>
          <p:cNvSpPr/>
          <p:nvPr/>
        </p:nvSpPr>
        <p:spPr>
          <a:xfrm>
            <a:off x="228600" y="1143000"/>
            <a:ext cx="54864" cy="749808"/>
          </a:xfrm>
          <a:prstGeom prst="rect">
            <a:avLst/>
          </a:prstGeom>
          <a:solidFill>
            <a:srgbClr val="1A7A4A"/>
          </a:solidFill>
          <a:ln w="12700">
            <a:solidFill>
              <a:srgbClr val="1A7A4A"/>
            </a:solidFill>
            <a:prstDash val="solid"/>
          </a:ln>
        </p:spPr>
        <p:txBody>
          <a:bodyPr/>
          <a:lstStyle/>
          <a:p>
            <a:endParaRPr lang="en-US"/>
          </a:p>
        </p:txBody>
      </p:sp>
      <p:sp>
        <p:nvSpPr>
          <p:cNvPr id="9" name="Shape 7"/>
          <p:cNvSpPr/>
          <p:nvPr/>
        </p:nvSpPr>
        <p:spPr>
          <a:xfrm>
            <a:off x="365760" y="1325880"/>
            <a:ext cx="566928" cy="320040"/>
          </a:xfrm>
          <a:prstGeom prst="rect">
            <a:avLst/>
          </a:prstGeom>
          <a:solidFill>
            <a:srgbClr val="1A7A4A"/>
          </a:solidFill>
          <a:ln w="12700">
            <a:solidFill>
              <a:srgbClr val="1A7A4A"/>
            </a:solidFill>
            <a:prstDash val="solid"/>
          </a:ln>
        </p:spPr>
        <p:txBody>
          <a:bodyPr/>
          <a:lstStyle/>
          <a:p>
            <a:endParaRPr lang="en-US"/>
          </a:p>
        </p:txBody>
      </p:sp>
      <p:sp>
        <p:nvSpPr>
          <p:cNvPr id="10" name="Text 8"/>
          <p:cNvSpPr/>
          <p:nvPr/>
        </p:nvSpPr>
        <p:spPr>
          <a:xfrm>
            <a:off x="365760" y="1325880"/>
            <a:ext cx="566928" cy="3200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Mon</a:t>
            </a:r>
            <a:endParaRPr lang="en-US" sz="900" dirty="0"/>
          </a:p>
        </p:txBody>
      </p:sp>
      <p:sp>
        <p:nvSpPr>
          <p:cNvPr id="11" name="Text 9"/>
          <p:cNvSpPr/>
          <p:nvPr/>
        </p:nvSpPr>
        <p:spPr>
          <a:xfrm>
            <a:off x="1051560" y="1234440"/>
            <a:ext cx="7726680" cy="566928"/>
          </a:xfrm>
          <a:prstGeom prst="rect">
            <a:avLst/>
          </a:prstGeom>
          <a:noFill/>
          <a:ln/>
        </p:spPr>
        <p:txBody>
          <a:bodyPr wrap="square" rtlCol="0" anchor="ctr"/>
          <a:lstStyle/>
          <a:p>
            <a:pPr marL="0" indent="0">
              <a:buNone/>
            </a:pPr>
            <a:r>
              <a:rPr lang="en-US" sz="1200" dirty="0">
                <a:solidFill>
                  <a:srgbClr val="1A2B3C"/>
                </a:solidFill>
                <a:latin typeface="Calibri" pitchFamily="34" charset="0"/>
                <a:ea typeface="Calibri" pitchFamily="34" charset="-122"/>
                <a:cs typeface="Calibri" pitchFamily="34" charset="-120"/>
              </a:rPr>
              <a:t>Competitor announces new AI feature on LinkedIn</a:t>
            </a:r>
            <a:endParaRPr lang="en-US" sz="1200" dirty="0"/>
          </a:p>
        </p:txBody>
      </p:sp>
      <p:sp>
        <p:nvSpPr>
          <p:cNvPr id="12" name="Shape 10"/>
          <p:cNvSpPr/>
          <p:nvPr/>
        </p:nvSpPr>
        <p:spPr>
          <a:xfrm>
            <a:off x="228600" y="1965960"/>
            <a:ext cx="8686800" cy="694944"/>
          </a:xfrm>
          <a:prstGeom prst="rect">
            <a:avLst/>
          </a:prstGeom>
          <a:solidFill>
            <a:srgbClr val="FFFFFF"/>
          </a:solidFill>
          <a:ln w="12700">
            <a:solidFill>
              <a:srgbClr val="E0E8F0"/>
            </a:solidFill>
            <a:prstDash val="solid"/>
          </a:ln>
          <a:effectLst>
            <a:outerShdw blurRad="63500" dist="25400" dir="8100000" algn="bl" rotWithShape="0">
              <a:srgbClr val="000000">
                <a:alpha val="8000"/>
              </a:srgbClr>
            </a:outerShdw>
          </a:effectLst>
        </p:spPr>
        <p:txBody>
          <a:bodyPr/>
          <a:lstStyle/>
          <a:p>
            <a:endParaRPr lang="en-US"/>
          </a:p>
        </p:txBody>
      </p:sp>
      <p:sp>
        <p:nvSpPr>
          <p:cNvPr id="13" name="Shape 11"/>
          <p:cNvSpPr/>
          <p:nvPr/>
        </p:nvSpPr>
        <p:spPr>
          <a:xfrm>
            <a:off x="228600" y="1965960"/>
            <a:ext cx="54864" cy="749808"/>
          </a:xfrm>
          <a:prstGeom prst="rect">
            <a:avLst/>
          </a:prstGeom>
          <a:solidFill>
            <a:srgbClr val="1A7A4A"/>
          </a:solidFill>
          <a:ln w="12700">
            <a:solidFill>
              <a:srgbClr val="1A7A4A"/>
            </a:solidFill>
            <a:prstDash val="solid"/>
          </a:ln>
        </p:spPr>
        <p:txBody>
          <a:bodyPr/>
          <a:lstStyle/>
          <a:p>
            <a:endParaRPr lang="en-US"/>
          </a:p>
        </p:txBody>
      </p:sp>
      <p:sp>
        <p:nvSpPr>
          <p:cNvPr id="14" name="Shape 12"/>
          <p:cNvSpPr/>
          <p:nvPr/>
        </p:nvSpPr>
        <p:spPr>
          <a:xfrm>
            <a:off x="365760" y="2148840"/>
            <a:ext cx="566928" cy="320040"/>
          </a:xfrm>
          <a:prstGeom prst="rect">
            <a:avLst/>
          </a:prstGeom>
          <a:solidFill>
            <a:srgbClr val="1A7A4A"/>
          </a:solidFill>
          <a:ln w="12700">
            <a:solidFill>
              <a:srgbClr val="1A7A4A"/>
            </a:solidFill>
            <a:prstDash val="solid"/>
          </a:ln>
        </p:spPr>
        <p:txBody>
          <a:bodyPr/>
          <a:lstStyle/>
          <a:p>
            <a:endParaRPr lang="en-US"/>
          </a:p>
        </p:txBody>
      </p:sp>
      <p:sp>
        <p:nvSpPr>
          <p:cNvPr id="15" name="Text 13"/>
          <p:cNvSpPr/>
          <p:nvPr/>
        </p:nvSpPr>
        <p:spPr>
          <a:xfrm>
            <a:off x="365760" y="2148840"/>
            <a:ext cx="566928" cy="3200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Tue</a:t>
            </a:r>
            <a:endParaRPr lang="en-US" sz="900" dirty="0"/>
          </a:p>
        </p:txBody>
      </p:sp>
      <p:sp>
        <p:nvSpPr>
          <p:cNvPr id="16" name="Text 14"/>
          <p:cNvSpPr/>
          <p:nvPr/>
        </p:nvSpPr>
        <p:spPr>
          <a:xfrm>
            <a:off x="1051560" y="2057400"/>
            <a:ext cx="7726680" cy="566928"/>
          </a:xfrm>
          <a:prstGeom prst="rect">
            <a:avLst/>
          </a:prstGeom>
          <a:noFill/>
          <a:ln/>
        </p:spPr>
        <p:txBody>
          <a:bodyPr wrap="square" rtlCol="0" anchor="ctr"/>
          <a:lstStyle/>
          <a:p>
            <a:pPr marL="0" indent="0">
              <a:buNone/>
            </a:pPr>
            <a:r>
              <a:rPr lang="en-US" sz="1200" dirty="0">
                <a:solidFill>
                  <a:srgbClr val="1A2B3C"/>
                </a:solidFill>
                <a:latin typeface="Calibri" pitchFamily="34" charset="0"/>
                <a:ea typeface="Calibri" pitchFamily="34" charset="-122"/>
                <a:cs typeface="Calibri" pitchFamily="34" charset="-120"/>
              </a:rPr>
              <a:t>G2 review mentions it. Three prospects ask your reps about it.</a:t>
            </a:r>
            <a:endParaRPr lang="en-US" sz="1200" dirty="0"/>
          </a:p>
        </p:txBody>
      </p:sp>
      <p:sp>
        <p:nvSpPr>
          <p:cNvPr id="17" name="Shape 15"/>
          <p:cNvSpPr/>
          <p:nvPr/>
        </p:nvSpPr>
        <p:spPr>
          <a:xfrm>
            <a:off x="228600" y="2788920"/>
            <a:ext cx="8686800" cy="694944"/>
          </a:xfrm>
          <a:prstGeom prst="rect">
            <a:avLst/>
          </a:prstGeom>
          <a:solidFill>
            <a:srgbClr val="FFFFFF"/>
          </a:solidFill>
          <a:ln w="12700">
            <a:solidFill>
              <a:srgbClr val="E0E8F0"/>
            </a:solidFill>
            <a:prstDash val="solid"/>
          </a:ln>
          <a:effectLst>
            <a:outerShdw blurRad="63500" dist="25400" dir="8100000" algn="bl" rotWithShape="0">
              <a:srgbClr val="000000">
                <a:alpha val="8000"/>
              </a:srgbClr>
            </a:outerShdw>
          </a:effectLst>
        </p:spPr>
        <p:txBody>
          <a:bodyPr/>
          <a:lstStyle/>
          <a:p>
            <a:endParaRPr lang="en-US"/>
          </a:p>
        </p:txBody>
      </p:sp>
      <p:sp>
        <p:nvSpPr>
          <p:cNvPr id="18" name="Shape 16"/>
          <p:cNvSpPr/>
          <p:nvPr/>
        </p:nvSpPr>
        <p:spPr>
          <a:xfrm>
            <a:off x="228600" y="2788920"/>
            <a:ext cx="54864" cy="749808"/>
          </a:xfrm>
          <a:prstGeom prst="rect">
            <a:avLst/>
          </a:prstGeom>
          <a:solidFill>
            <a:srgbClr val="1A7A4A"/>
          </a:solidFill>
          <a:ln w="12700">
            <a:solidFill>
              <a:srgbClr val="1A7A4A"/>
            </a:solidFill>
            <a:prstDash val="solid"/>
          </a:ln>
        </p:spPr>
        <p:txBody>
          <a:bodyPr/>
          <a:lstStyle/>
          <a:p>
            <a:endParaRPr lang="en-US"/>
          </a:p>
        </p:txBody>
      </p:sp>
      <p:sp>
        <p:nvSpPr>
          <p:cNvPr id="19" name="Shape 17"/>
          <p:cNvSpPr/>
          <p:nvPr/>
        </p:nvSpPr>
        <p:spPr>
          <a:xfrm>
            <a:off x="365760" y="2971800"/>
            <a:ext cx="566928" cy="320040"/>
          </a:xfrm>
          <a:prstGeom prst="rect">
            <a:avLst/>
          </a:prstGeom>
          <a:solidFill>
            <a:srgbClr val="1A7A4A"/>
          </a:solidFill>
          <a:ln w="12700">
            <a:solidFill>
              <a:srgbClr val="1A7A4A"/>
            </a:solidFill>
            <a:prstDash val="solid"/>
          </a:ln>
        </p:spPr>
        <p:txBody>
          <a:bodyPr/>
          <a:lstStyle/>
          <a:p>
            <a:endParaRPr lang="en-US"/>
          </a:p>
        </p:txBody>
      </p:sp>
      <p:sp>
        <p:nvSpPr>
          <p:cNvPr id="20" name="Text 18"/>
          <p:cNvSpPr/>
          <p:nvPr/>
        </p:nvSpPr>
        <p:spPr>
          <a:xfrm>
            <a:off x="365760" y="2971800"/>
            <a:ext cx="566928" cy="3200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Wed</a:t>
            </a:r>
            <a:endParaRPr lang="en-US" sz="900" dirty="0"/>
          </a:p>
        </p:txBody>
      </p:sp>
      <p:sp>
        <p:nvSpPr>
          <p:cNvPr id="21" name="Text 19"/>
          <p:cNvSpPr/>
          <p:nvPr/>
        </p:nvSpPr>
        <p:spPr>
          <a:xfrm>
            <a:off x="1051560" y="2880360"/>
            <a:ext cx="7726680" cy="566928"/>
          </a:xfrm>
          <a:prstGeom prst="rect">
            <a:avLst/>
          </a:prstGeom>
          <a:noFill/>
          <a:ln/>
        </p:spPr>
        <p:txBody>
          <a:bodyPr wrap="square" rtlCol="0" anchor="ctr"/>
          <a:lstStyle/>
          <a:p>
            <a:pPr marL="0" indent="0">
              <a:buNone/>
            </a:pPr>
            <a:r>
              <a:rPr lang="en-US" sz="1200" dirty="0">
                <a:solidFill>
                  <a:srgbClr val="1A2B3C"/>
                </a:solidFill>
                <a:latin typeface="Calibri" pitchFamily="34" charset="0"/>
                <a:ea typeface="Calibri" pitchFamily="34" charset="-122"/>
                <a:cs typeface="Calibri" pitchFamily="34" charset="-120"/>
              </a:rPr>
              <a:t>Competitor's job postings reveal 8 new ML engineers hired</a:t>
            </a:r>
            <a:endParaRPr lang="en-US" sz="1200" dirty="0"/>
          </a:p>
        </p:txBody>
      </p:sp>
      <p:sp>
        <p:nvSpPr>
          <p:cNvPr id="22" name="Shape 20"/>
          <p:cNvSpPr/>
          <p:nvPr/>
        </p:nvSpPr>
        <p:spPr>
          <a:xfrm>
            <a:off x="228600" y="3611880"/>
            <a:ext cx="8686800" cy="694944"/>
          </a:xfrm>
          <a:prstGeom prst="rect">
            <a:avLst/>
          </a:prstGeom>
          <a:solidFill>
            <a:srgbClr val="FFFFFF"/>
          </a:solidFill>
          <a:ln w="12700">
            <a:solidFill>
              <a:srgbClr val="E0E8F0"/>
            </a:solidFill>
            <a:prstDash val="solid"/>
          </a:ln>
          <a:effectLst>
            <a:outerShdw blurRad="63500" dist="25400" dir="8100000" algn="bl" rotWithShape="0">
              <a:srgbClr val="000000">
                <a:alpha val="8000"/>
              </a:srgbClr>
            </a:outerShdw>
          </a:effectLst>
        </p:spPr>
        <p:txBody>
          <a:bodyPr/>
          <a:lstStyle/>
          <a:p>
            <a:endParaRPr lang="en-US"/>
          </a:p>
        </p:txBody>
      </p:sp>
      <p:sp>
        <p:nvSpPr>
          <p:cNvPr id="23" name="Shape 21"/>
          <p:cNvSpPr/>
          <p:nvPr/>
        </p:nvSpPr>
        <p:spPr>
          <a:xfrm>
            <a:off x="228600" y="3611880"/>
            <a:ext cx="54864" cy="749808"/>
          </a:xfrm>
          <a:prstGeom prst="rect">
            <a:avLst/>
          </a:prstGeom>
          <a:solidFill>
            <a:srgbClr val="1A7A4A"/>
          </a:solidFill>
          <a:ln w="12700">
            <a:solidFill>
              <a:srgbClr val="1A7A4A"/>
            </a:solidFill>
            <a:prstDash val="solid"/>
          </a:ln>
        </p:spPr>
        <p:txBody>
          <a:bodyPr/>
          <a:lstStyle/>
          <a:p>
            <a:endParaRPr lang="en-US"/>
          </a:p>
        </p:txBody>
      </p:sp>
      <p:sp>
        <p:nvSpPr>
          <p:cNvPr id="24" name="Shape 22"/>
          <p:cNvSpPr/>
          <p:nvPr/>
        </p:nvSpPr>
        <p:spPr>
          <a:xfrm>
            <a:off x="365760" y="3794760"/>
            <a:ext cx="566928" cy="320040"/>
          </a:xfrm>
          <a:prstGeom prst="rect">
            <a:avLst/>
          </a:prstGeom>
          <a:solidFill>
            <a:srgbClr val="1A7A4A"/>
          </a:solidFill>
          <a:ln w="12700">
            <a:solidFill>
              <a:srgbClr val="1A7A4A"/>
            </a:solidFill>
            <a:prstDash val="solid"/>
          </a:ln>
        </p:spPr>
        <p:txBody>
          <a:bodyPr/>
          <a:lstStyle/>
          <a:p>
            <a:endParaRPr lang="en-US"/>
          </a:p>
        </p:txBody>
      </p:sp>
      <p:sp>
        <p:nvSpPr>
          <p:cNvPr id="25" name="Text 23"/>
          <p:cNvSpPr/>
          <p:nvPr/>
        </p:nvSpPr>
        <p:spPr>
          <a:xfrm>
            <a:off x="365760" y="3794760"/>
            <a:ext cx="566928" cy="3200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Thu</a:t>
            </a:r>
            <a:endParaRPr lang="en-US" sz="900" dirty="0"/>
          </a:p>
        </p:txBody>
      </p:sp>
      <p:sp>
        <p:nvSpPr>
          <p:cNvPr id="26" name="Text 24"/>
          <p:cNvSpPr/>
          <p:nvPr/>
        </p:nvSpPr>
        <p:spPr>
          <a:xfrm>
            <a:off x="1051560" y="3703320"/>
            <a:ext cx="7726680" cy="566928"/>
          </a:xfrm>
          <a:prstGeom prst="rect">
            <a:avLst/>
          </a:prstGeom>
          <a:noFill/>
          <a:ln/>
        </p:spPr>
        <p:txBody>
          <a:bodyPr wrap="square" rtlCol="0" anchor="ctr"/>
          <a:lstStyle/>
          <a:p>
            <a:pPr marL="0" indent="0">
              <a:buNone/>
            </a:pPr>
            <a:r>
              <a:rPr lang="en-US" sz="1200" dirty="0">
                <a:solidFill>
                  <a:srgbClr val="1A2B3C"/>
                </a:solidFill>
                <a:latin typeface="Calibri" pitchFamily="34" charset="0"/>
                <a:ea typeface="Calibri" pitchFamily="34" charset="-122"/>
                <a:cs typeface="Calibri" pitchFamily="34" charset="-120"/>
              </a:rPr>
              <a:t>Analyst mentions it in a passing comment on Twitter/X</a:t>
            </a:r>
            <a:endParaRPr lang="en-US" sz="1200" dirty="0"/>
          </a:p>
        </p:txBody>
      </p:sp>
      <p:sp>
        <p:nvSpPr>
          <p:cNvPr id="27" name="Shape 25"/>
          <p:cNvSpPr/>
          <p:nvPr/>
        </p:nvSpPr>
        <p:spPr>
          <a:xfrm>
            <a:off x="228600" y="4434840"/>
            <a:ext cx="8686800" cy="694944"/>
          </a:xfrm>
          <a:prstGeom prst="rect">
            <a:avLst/>
          </a:prstGeom>
          <a:solidFill>
            <a:srgbClr val="FDF0EE"/>
          </a:solidFill>
          <a:ln w="12700">
            <a:solidFill>
              <a:srgbClr val="C0392B"/>
            </a:solidFill>
            <a:prstDash val="solid"/>
          </a:ln>
          <a:effectLst>
            <a:outerShdw blurRad="63500" dist="25400" dir="8100000" algn="bl" rotWithShape="0">
              <a:srgbClr val="000000">
                <a:alpha val="8000"/>
              </a:srgbClr>
            </a:outerShdw>
          </a:effectLst>
        </p:spPr>
        <p:txBody>
          <a:bodyPr/>
          <a:lstStyle/>
          <a:p>
            <a:endParaRPr lang="en-US"/>
          </a:p>
        </p:txBody>
      </p:sp>
      <p:sp>
        <p:nvSpPr>
          <p:cNvPr id="28" name="Shape 26"/>
          <p:cNvSpPr/>
          <p:nvPr/>
        </p:nvSpPr>
        <p:spPr>
          <a:xfrm>
            <a:off x="228600" y="4434840"/>
            <a:ext cx="54864" cy="749808"/>
          </a:xfrm>
          <a:prstGeom prst="rect">
            <a:avLst/>
          </a:prstGeom>
          <a:solidFill>
            <a:srgbClr val="C0392B"/>
          </a:solidFill>
          <a:ln w="12700">
            <a:solidFill>
              <a:srgbClr val="C0392B"/>
            </a:solidFill>
            <a:prstDash val="solid"/>
          </a:ln>
        </p:spPr>
        <p:txBody>
          <a:bodyPr/>
          <a:lstStyle/>
          <a:p>
            <a:endParaRPr lang="en-US"/>
          </a:p>
        </p:txBody>
      </p:sp>
      <p:sp>
        <p:nvSpPr>
          <p:cNvPr id="29" name="Shape 27"/>
          <p:cNvSpPr/>
          <p:nvPr/>
        </p:nvSpPr>
        <p:spPr>
          <a:xfrm>
            <a:off x="365760" y="4617720"/>
            <a:ext cx="566928" cy="320040"/>
          </a:xfrm>
          <a:prstGeom prst="rect">
            <a:avLst/>
          </a:prstGeom>
          <a:solidFill>
            <a:srgbClr val="C0392B"/>
          </a:solidFill>
          <a:ln w="12700">
            <a:solidFill>
              <a:srgbClr val="C0392B"/>
            </a:solidFill>
            <a:prstDash val="solid"/>
          </a:ln>
        </p:spPr>
        <p:txBody>
          <a:bodyPr/>
          <a:lstStyle/>
          <a:p>
            <a:endParaRPr lang="en-US"/>
          </a:p>
        </p:txBody>
      </p:sp>
      <p:sp>
        <p:nvSpPr>
          <p:cNvPr id="30" name="Text 28"/>
          <p:cNvSpPr/>
          <p:nvPr/>
        </p:nvSpPr>
        <p:spPr>
          <a:xfrm>
            <a:off x="365760" y="4617720"/>
            <a:ext cx="566928" cy="3200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Fri</a:t>
            </a:r>
            <a:endParaRPr lang="en-US" sz="900" dirty="0"/>
          </a:p>
        </p:txBody>
      </p:sp>
      <p:sp>
        <p:nvSpPr>
          <p:cNvPr id="31" name="Text 29"/>
          <p:cNvSpPr/>
          <p:nvPr/>
        </p:nvSpPr>
        <p:spPr>
          <a:xfrm>
            <a:off x="1051560" y="4526280"/>
            <a:ext cx="7726680" cy="566928"/>
          </a:xfrm>
          <a:prstGeom prst="rect">
            <a:avLst/>
          </a:prstGeom>
          <a:noFill/>
          <a:ln/>
        </p:spPr>
        <p:txBody>
          <a:bodyPr wrap="square"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Your battlecard still says 'limited AI capabilities'</a:t>
            </a:r>
            <a:endParaRPr lang="en-US" sz="1200" dirty="0"/>
          </a:p>
        </p:txBody>
      </p:sp>
      <p:sp>
        <p:nvSpPr>
          <p:cNvPr id="32" name="Text 30"/>
          <p:cNvSpPr/>
          <p:nvPr/>
        </p:nvSpPr>
        <p:spPr>
          <a:xfrm>
            <a:off x="320040" y="6492240"/>
            <a:ext cx="8229600" cy="228600"/>
          </a:xfrm>
          <a:prstGeom prst="rect">
            <a:avLst/>
          </a:prstGeom>
          <a:noFill/>
          <a:ln/>
        </p:spPr>
        <p:txBody>
          <a:bodyPr wrap="square" rtlCol="0" anchor="ctr"/>
          <a:lstStyle/>
          <a:p>
            <a:pPr marL="0" indent="0">
              <a:buNone/>
            </a:pPr>
            <a:r>
              <a:rPr lang="en-US" sz="900" i="1" dirty="0">
                <a:solidFill>
                  <a:srgbClr val="6B7B8D"/>
                </a:solidFill>
                <a:latin typeface="Calibri" pitchFamily="34" charset="0"/>
                <a:ea typeface="Calibri" pitchFamily="34" charset="-122"/>
                <a:cs typeface="Calibri" pitchFamily="34" charset="-120"/>
              </a:rPr>
              <a:t>Chapter 6  ·  The Future of Product Marketing  ·  Chris O'Hara</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7FB"/>
          </a:solidFill>
          <a:ln/>
        </p:spPr>
        <p:txBody>
          <a:bodyPr/>
          <a:lstStyle/>
          <a:p>
            <a:endParaRPr lang="en-US"/>
          </a:p>
        </p:txBody>
      </p:sp>
      <p:sp>
        <p:nvSpPr>
          <p:cNvPr id="3" name="Shape 1"/>
          <p:cNvSpPr/>
          <p:nvPr/>
        </p:nvSpPr>
        <p:spPr>
          <a:xfrm>
            <a:off x="0" y="0"/>
            <a:ext cx="9144000" cy="960120"/>
          </a:xfrm>
          <a:prstGeom prst="rect">
            <a:avLst/>
          </a:prstGeom>
          <a:solidFill>
            <a:srgbClr val="0F2B5B"/>
          </a:solidFill>
          <a:ln/>
        </p:spPr>
        <p:txBody>
          <a:bodyPr/>
          <a:lstStyle/>
          <a:p>
            <a:endParaRPr lang="en-US"/>
          </a:p>
        </p:txBody>
      </p:sp>
      <p:sp>
        <p:nvSpPr>
          <p:cNvPr id="4" name="Shape 2"/>
          <p:cNvSpPr/>
          <p:nvPr/>
        </p:nvSpPr>
        <p:spPr>
          <a:xfrm>
            <a:off x="0" y="960120"/>
            <a:ext cx="9144000" cy="45720"/>
          </a:xfrm>
          <a:prstGeom prst="rect">
            <a:avLst/>
          </a:prstGeom>
          <a:solidFill>
            <a:srgbClr val="1A7A4A"/>
          </a:solidFill>
          <a:ln/>
        </p:spPr>
        <p:txBody>
          <a:bodyPr/>
          <a:lstStyle/>
          <a:p>
            <a:endParaRPr lang="en-US"/>
          </a:p>
        </p:txBody>
      </p:sp>
      <p:sp>
        <p:nvSpPr>
          <p:cNvPr id="5" name="Text 3"/>
          <p:cNvSpPr/>
          <p:nvPr/>
        </p:nvSpPr>
        <p:spPr>
          <a:xfrm>
            <a:off x="320040" y="73152"/>
            <a:ext cx="7772400" cy="502920"/>
          </a:xfrm>
          <a:prstGeom prst="rect">
            <a:avLst/>
          </a:prstGeom>
          <a:noFill/>
          <a:ln/>
        </p:spPr>
        <p:txBody>
          <a:bodyPr wrap="square" rtlCol="0" anchor="ctr"/>
          <a:lstStyle/>
          <a:p>
            <a:pPr marL="0" indent="0">
              <a:buNone/>
            </a:pPr>
            <a:r>
              <a:rPr lang="en-US" sz="2000" b="1" kern="0" spc="200" dirty="0">
                <a:solidFill>
                  <a:srgbClr val="FFFFFF"/>
                </a:solidFill>
                <a:latin typeface="Calibri" pitchFamily="34" charset="0"/>
                <a:ea typeface="Calibri" pitchFamily="34" charset="-122"/>
                <a:cs typeface="Calibri" pitchFamily="34" charset="-120"/>
              </a:rPr>
              <a:t>FIGURE 1</a:t>
            </a:r>
            <a:endParaRPr lang="en-US" sz="2000" dirty="0"/>
          </a:p>
        </p:txBody>
      </p:sp>
      <p:sp>
        <p:nvSpPr>
          <p:cNvPr id="6" name="Text 4"/>
          <p:cNvSpPr/>
          <p:nvPr/>
        </p:nvSpPr>
        <p:spPr>
          <a:xfrm>
            <a:off x="320040" y="548640"/>
            <a:ext cx="8412480" cy="347472"/>
          </a:xfrm>
          <a:prstGeom prst="rect">
            <a:avLst/>
          </a:prstGeom>
          <a:noFill/>
          <a:ln/>
        </p:spPr>
        <p:txBody>
          <a:bodyPr wrap="square" rtlCol="0" anchor="ctr"/>
          <a:lstStyle/>
          <a:p>
            <a:pPr marL="0" indent="0">
              <a:buNone/>
            </a:pPr>
            <a:r>
              <a:rPr lang="en-US" sz="1300" i="1" dirty="0">
                <a:solidFill>
                  <a:srgbClr val="D4A843"/>
                </a:solidFill>
                <a:latin typeface="Georgia" pitchFamily="34" charset="0"/>
                <a:ea typeface="Georgia" pitchFamily="34" charset="-122"/>
                <a:cs typeface="Georgia" pitchFamily="34" charset="-120"/>
              </a:rPr>
              <a:t>The CI Maturity Model: four stages, one direction.</a:t>
            </a:r>
            <a:endParaRPr lang="en-US" sz="1300" dirty="0"/>
          </a:p>
        </p:txBody>
      </p:sp>
      <p:sp>
        <p:nvSpPr>
          <p:cNvPr id="7" name="Shape 5"/>
          <p:cNvSpPr/>
          <p:nvPr/>
        </p:nvSpPr>
        <p:spPr>
          <a:xfrm>
            <a:off x="228600" y="1115568"/>
            <a:ext cx="2103120" cy="4983480"/>
          </a:xfrm>
          <a:prstGeom prst="rect">
            <a:avLst/>
          </a:prstGeom>
          <a:solidFill>
            <a:srgbClr val="FFFFFF"/>
          </a:solidFill>
          <a:ln w="12700">
            <a:solidFill>
              <a:srgbClr val="E0E8F0"/>
            </a:solidFill>
            <a:prstDash val="solid"/>
          </a:ln>
          <a:effectLst>
            <a:outerShdw blurRad="63500" dist="25400" dir="8100000" algn="bl" rotWithShape="0">
              <a:srgbClr val="000000">
                <a:alpha val="8000"/>
              </a:srgbClr>
            </a:outerShdw>
          </a:effectLst>
        </p:spPr>
        <p:txBody>
          <a:bodyPr/>
          <a:lstStyle/>
          <a:p>
            <a:endParaRPr lang="en-US"/>
          </a:p>
        </p:txBody>
      </p:sp>
      <p:sp>
        <p:nvSpPr>
          <p:cNvPr id="8" name="Shape 6"/>
          <p:cNvSpPr/>
          <p:nvPr/>
        </p:nvSpPr>
        <p:spPr>
          <a:xfrm>
            <a:off x="228600" y="1115568"/>
            <a:ext cx="2103120" cy="64008"/>
          </a:xfrm>
          <a:prstGeom prst="rect">
            <a:avLst/>
          </a:prstGeom>
          <a:solidFill>
            <a:srgbClr val="C0392B"/>
          </a:solidFill>
          <a:ln w="12700">
            <a:solidFill>
              <a:srgbClr val="C0392B"/>
            </a:solidFill>
            <a:prstDash val="solid"/>
          </a:ln>
        </p:spPr>
        <p:txBody>
          <a:bodyPr/>
          <a:lstStyle/>
          <a:p>
            <a:endParaRPr lang="en-US"/>
          </a:p>
        </p:txBody>
      </p:sp>
      <p:sp>
        <p:nvSpPr>
          <p:cNvPr id="9" name="Shape 7"/>
          <p:cNvSpPr/>
          <p:nvPr/>
        </p:nvSpPr>
        <p:spPr>
          <a:xfrm>
            <a:off x="1005840" y="1234440"/>
            <a:ext cx="566928" cy="566928"/>
          </a:xfrm>
          <a:prstGeom prst="ellipse">
            <a:avLst/>
          </a:prstGeom>
          <a:solidFill>
            <a:srgbClr val="C0392B"/>
          </a:solidFill>
          <a:ln w="12700">
            <a:solidFill>
              <a:srgbClr val="C0392B"/>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1115568" y="1344168"/>
            <a:ext cx="347472" cy="347472"/>
          </a:xfrm>
          <a:prstGeom prst="rect">
            <a:avLst/>
          </a:prstGeom>
        </p:spPr>
      </p:pic>
      <p:sp>
        <p:nvSpPr>
          <p:cNvPr id="11" name="Text 8"/>
          <p:cNvSpPr/>
          <p:nvPr/>
        </p:nvSpPr>
        <p:spPr>
          <a:xfrm>
            <a:off x="320040" y="1901952"/>
            <a:ext cx="1920240" cy="256032"/>
          </a:xfrm>
          <a:prstGeom prst="rect">
            <a:avLst/>
          </a:prstGeom>
          <a:noFill/>
          <a:ln/>
        </p:spPr>
        <p:txBody>
          <a:bodyPr wrap="square" rtlCol="0" anchor="ctr"/>
          <a:lstStyle/>
          <a:p>
            <a:pPr marL="0" indent="0" algn="ctr">
              <a:buNone/>
            </a:pPr>
            <a:r>
              <a:rPr lang="en-US" sz="850" b="1" kern="0" spc="50" dirty="0">
                <a:solidFill>
                  <a:srgbClr val="C0392B"/>
                </a:solidFill>
                <a:latin typeface="Calibri" pitchFamily="34" charset="0"/>
                <a:ea typeface="Calibri" pitchFamily="34" charset="-122"/>
                <a:cs typeface="Calibri" pitchFamily="34" charset="-120"/>
              </a:rPr>
              <a:t>Stage 1</a:t>
            </a:r>
            <a:endParaRPr lang="en-US" sz="850" dirty="0"/>
          </a:p>
        </p:txBody>
      </p:sp>
      <p:sp>
        <p:nvSpPr>
          <p:cNvPr id="12" name="Text 9"/>
          <p:cNvSpPr/>
          <p:nvPr/>
        </p:nvSpPr>
        <p:spPr>
          <a:xfrm>
            <a:off x="320040" y="2130552"/>
            <a:ext cx="1920240" cy="347472"/>
          </a:xfrm>
          <a:prstGeom prst="rect">
            <a:avLst/>
          </a:prstGeom>
          <a:noFill/>
          <a:ln/>
        </p:spPr>
        <p:txBody>
          <a:bodyPr wrap="square" rtlCol="0" anchor="ctr"/>
          <a:lstStyle/>
          <a:p>
            <a:pPr marL="0" indent="0" algn="ctr">
              <a:buNone/>
            </a:pPr>
            <a:r>
              <a:rPr lang="en-US" sz="1300" b="1" dirty="0">
                <a:solidFill>
                  <a:srgbClr val="0F2B5B"/>
                </a:solidFill>
                <a:latin typeface="Calibri" pitchFamily="34" charset="0"/>
                <a:ea typeface="Calibri" pitchFamily="34" charset="-122"/>
                <a:cs typeface="Calibri" pitchFamily="34" charset="-120"/>
              </a:rPr>
              <a:t>REACTIVE</a:t>
            </a:r>
            <a:endParaRPr lang="en-US" sz="1300" dirty="0"/>
          </a:p>
        </p:txBody>
      </p:sp>
      <p:sp>
        <p:nvSpPr>
          <p:cNvPr id="13" name="Text 10"/>
          <p:cNvSpPr/>
          <p:nvPr/>
        </p:nvSpPr>
        <p:spPr>
          <a:xfrm>
            <a:off x="320040" y="2450592"/>
            <a:ext cx="1920240" cy="228600"/>
          </a:xfrm>
          <a:prstGeom prst="rect">
            <a:avLst/>
          </a:prstGeom>
          <a:noFill/>
          <a:ln/>
        </p:spPr>
        <p:txBody>
          <a:bodyPr wrap="square" rtlCol="0" anchor="ctr"/>
          <a:lstStyle/>
          <a:p>
            <a:pPr marL="0" indent="0" algn="ctr">
              <a:buNone/>
            </a:pPr>
            <a:r>
              <a:rPr lang="en-US" sz="900" i="1" dirty="0">
                <a:solidFill>
                  <a:srgbClr val="6B7B8D"/>
                </a:solidFill>
                <a:latin typeface="Georgia" pitchFamily="34" charset="0"/>
                <a:ea typeface="Georgia" pitchFamily="34" charset="-122"/>
                <a:cs typeface="Georgia" pitchFamily="34" charset="-120"/>
              </a:rPr>
              <a:t>No system</a:t>
            </a:r>
            <a:endParaRPr lang="en-US" sz="900" dirty="0"/>
          </a:p>
        </p:txBody>
      </p:sp>
      <p:sp>
        <p:nvSpPr>
          <p:cNvPr id="14" name="Shape 11"/>
          <p:cNvSpPr/>
          <p:nvPr/>
        </p:nvSpPr>
        <p:spPr>
          <a:xfrm>
            <a:off x="365760" y="2743200"/>
            <a:ext cx="1828800" cy="18288"/>
          </a:xfrm>
          <a:prstGeom prst="rect">
            <a:avLst/>
          </a:prstGeom>
          <a:solidFill>
            <a:srgbClr val="E0E8F0"/>
          </a:solidFill>
          <a:ln/>
        </p:spPr>
        <p:txBody>
          <a:bodyPr/>
          <a:lstStyle/>
          <a:p>
            <a:endParaRPr lang="en-US"/>
          </a:p>
        </p:txBody>
      </p:sp>
      <p:sp>
        <p:nvSpPr>
          <p:cNvPr id="15" name="Text 12"/>
          <p:cNvSpPr/>
          <p:nvPr/>
        </p:nvSpPr>
        <p:spPr>
          <a:xfrm>
            <a:off x="338328" y="2834640"/>
            <a:ext cx="1883664" cy="1234440"/>
          </a:xfrm>
          <a:prstGeom prst="rect">
            <a:avLst/>
          </a:prstGeom>
          <a:noFill/>
          <a:ln/>
        </p:spPr>
        <p:txBody>
          <a:bodyPr wrap="square" rtlCol="0" anchor="t"/>
          <a:lstStyle/>
          <a:p>
            <a:pPr marL="0" indent="0">
              <a:buNone/>
            </a:pPr>
            <a:r>
              <a:rPr lang="en-US" sz="950" dirty="0">
                <a:solidFill>
                  <a:srgbClr val="1A2B3C"/>
                </a:solidFill>
                <a:latin typeface="Calibri" pitchFamily="34" charset="0"/>
                <a:ea typeface="Calibri" pitchFamily="34" charset="-122"/>
                <a:cs typeface="Calibri" pitchFamily="34" charset="-120"/>
              </a:rPr>
              <a:t>CI happens when a rep loses a deal and asks what happened. Battlecards don't exist or are 2+ years old.</a:t>
            </a:r>
            <a:endParaRPr lang="en-US" sz="950" dirty="0"/>
          </a:p>
        </p:txBody>
      </p:sp>
      <p:sp>
        <p:nvSpPr>
          <p:cNvPr id="16" name="Shape 13"/>
          <p:cNvSpPr/>
          <p:nvPr/>
        </p:nvSpPr>
        <p:spPr>
          <a:xfrm>
            <a:off x="320040" y="4069080"/>
            <a:ext cx="1920240" cy="320040"/>
          </a:xfrm>
          <a:prstGeom prst="rect">
            <a:avLst/>
          </a:prstGeom>
          <a:solidFill>
            <a:srgbClr val="F4F7FB"/>
          </a:solidFill>
          <a:ln w="12700">
            <a:solidFill>
              <a:srgbClr val="E0E8F0"/>
            </a:solidFill>
            <a:prstDash val="solid"/>
          </a:ln>
        </p:spPr>
        <p:txBody>
          <a:bodyPr/>
          <a:lstStyle/>
          <a:p>
            <a:endParaRPr lang="en-US"/>
          </a:p>
        </p:txBody>
      </p:sp>
      <p:sp>
        <p:nvSpPr>
          <p:cNvPr id="17" name="Text 14"/>
          <p:cNvSpPr/>
          <p:nvPr/>
        </p:nvSpPr>
        <p:spPr>
          <a:xfrm>
            <a:off x="356616" y="4087368"/>
            <a:ext cx="1847088" cy="283464"/>
          </a:xfrm>
          <a:prstGeom prst="rect">
            <a:avLst/>
          </a:prstGeom>
          <a:noFill/>
          <a:ln/>
        </p:spPr>
        <p:txBody>
          <a:bodyPr wrap="square" rtlCol="0" anchor="ctr"/>
          <a:lstStyle/>
          <a:p>
            <a:pPr marL="0" indent="0">
              <a:buNone/>
            </a:pPr>
            <a:r>
              <a:rPr lang="en-US" sz="850" dirty="0">
                <a:solidFill>
                  <a:srgbClr val="6B7B8D"/>
                </a:solidFill>
                <a:latin typeface="Calibri" pitchFamily="34" charset="0"/>
                <a:ea typeface="Calibri" pitchFamily="34" charset="-122"/>
                <a:cs typeface="Calibri" pitchFamily="34" charset="-120"/>
              </a:rPr>
              <a:t>Freshness: Days to months</a:t>
            </a:r>
            <a:endParaRPr lang="en-US" sz="850" dirty="0"/>
          </a:p>
        </p:txBody>
      </p:sp>
      <p:sp>
        <p:nvSpPr>
          <p:cNvPr id="18" name="Shape 15"/>
          <p:cNvSpPr/>
          <p:nvPr/>
        </p:nvSpPr>
        <p:spPr>
          <a:xfrm>
            <a:off x="320040" y="4443984"/>
            <a:ext cx="1920240" cy="320040"/>
          </a:xfrm>
          <a:prstGeom prst="rect">
            <a:avLst/>
          </a:prstGeom>
          <a:solidFill>
            <a:srgbClr val="F4F7FB"/>
          </a:solidFill>
          <a:ln w="12700">
            <a:solidFill>
              <a:srgbClr val="E0E8F0"/>
            </a:solidFill>
            <a:prstDash val="solid"/>
          </a:ln>
        </p:spPr>
        <p:txBody>
          <a:bodyPr/>
          <a:lstStyle/>
          <a:p>
            <a:endParaRPr lang="en-US"/>
          </a:p>
        </p:txBody>
      </p:sp>
      <p:sp>
        <p:nvSpPr>
          <p:cNvPr id="19" name="Text 16"/>
          <p:cNvSpPr/>
          <p:nvPr/>
        </p:nvSpPr>
        <p:spPr>
          <a:xfrm>
            <a:off x="356616" y="4462272"/>
            <a:ext cx="1847088" cy="283464"/>
          </a:xfrm>
          <a:prstGeom prst="rect">
            <a:avLst/>
          </a:prstGeom>
          <a:noFill/>
          <a:ln/>
        </p:spPr>
        <p:txBody>
          <a:bodyPr wrap="square" rtlCol="0" anchor="ctr"/>
          <a:lstStyle/>
          <a:p>
            <a:pPr marL="0" indent="0">
              <a:buNone/>
            </a:pPr>
            <a:r>
              <a:rPr lang="en-US" sz="850" dirty="0">
                <a:solidFill>
                  <a:srgbClr val="6B7B8D"/>
                </a:solidFill>
                <a:latin typeface="Calibri" pitchFamily="34" charset="0"/>
                <a:ea typeface="Calibri" pitchFamily="34" charset="-122"/>
                <a:cs typeface="Calibri" pitchFamily="34" charset="-120"/>
              </a:rPr>
              <a:t>Effort: High (manual, crisis-driven)</a:t>
            </a:r>
            <a:endParaRPr lang="en-US" sz="850" dirty="0"/>
          </a:p>
        </p:txBody>
      </p:sp>
      <p:sp>
        <p:nvSpPr>
          <p:cNvPr id="20" name="Text 17"/>
          <p:cNvSpPr/>
          <p:nvPr/>
        </p:nvSpPr>
        <p:spPr>
          <a:xfrm>
            <a:off x="2350008" y="3291840"/>
            <a:ext cx="91440" cy="274320"/>
          </a:xfrm>
          <a:prstGeom prst="rect">
            <a:avLst/>
          </a:prstGeom>
          <a:noFill/>
          <a:ln/>
        </p:spPr>
        <p:txBody>
          <a:bodyPr wrap="square" rtlCol="0" anchor="ctr"/>
          <a:lstStyle/>
          <a:p>
            <a:pPr marL="0" indent="0" algn="ctr">
              <a:buNone/>
            </a:pPr>
            <a:r>
              <a:rPr lang="en-US" sz="1400" b="1" dirty="0">
                <a:solidFill>
                  <a:srgbClr val="1A7A4A"/>
                </a:solidFill>
                <a:latin typeface="Calibri" pitchFamily="34" charset="0"/>
                <a:ea typeface="Calibri" pitchFamily="34" charset="-122"/>
                <a:cs typeface="Calibri" pitchFamily="34" charset="-120"/>
              </a:rPr>
              <a:t>→</a:t>
            </a:r>
            <a:endParaRPr lang="en-US" sz="1400" dirty="0"/>
          </a:p>
        </p:txBody>
      </p:sp>
      <p:sp>
        <p:nvSpPr>
          <p:cNvPr id="21" name="Shape 18"/>
          <p:cNvSpPr/>
          <p:nvPr/>
        </p:nvSpPr>
        <p:spPr>
          <a:xfrm>
            <a:off x="2423160" y="1115568"/>
            <a:ext cx="2103120" cy="4983480"/>
          </a:xfrm>
          <a:prstGeom prst="rect">
            <a:avLst/>
          </a:prstGeom>
          <a:solidFill>
            <a:srgbClr val="FFFFFF"/>
          </a:solidFill>
          <a:ln w="12700">
            <a:solidFill>
              <a:srgbClr val="E0E8F0"/>
            </a:solidFill>
            <a:prstDash val="solid"/>
          </a:ln>
          <a:effectLst>
            <a:outerShdw blurRad="63500" dist="25400" dir="8100000" algn="bl" rotWithShape="0">
              <a:srgbClr val="000000">
                <a:alpha val="8000"/>
              </a:srgbClr>
            </a:outerShdw>
          </a:effectLst>
        </p:spPr>
        <p:txBody>
          <a:bodyPr/>
          <a:lstStyle/>
          <a:p>
            <a:endParaRPr lang="en-US"/>
          </a:p>
        </p:txBody>
      </p:sp>
      <p:sp>
        <p:nvSpPr>
          <p:cNvPr id="22" name="Shape 19"/>
          <p:cNvSpPr/>
          <p:nvPr/>
        </p:nvSpPr>
        <p:spPr>
          <a:xfrm>
            <a:off x="2423160" y="1115568"/>
            <a:ext cx="2103120" cy="64008"/>
          </a:xfrm>
          <a:prstGeom prst="rect">
            <a:avLst/>
          </a:prstGeom>
          <a:solidFill>
            <a:srgbClr val="D4790A"/>
          </a:solidFill>
          <a:ln w="12700">
            <a:solidFill>
              <a:srgbClr val="D4790A"/>
            </a:solidFill>
            <a:prstDash val="solid"/>
          </a:ln>
        </p:spPr>
        <p:txBody>
          <a:bodyPr/>
          <a:lstStyle/>
          <a:p>
            <a:endParaRPr lang="en-US"/>
          </a:p>
        </p:txBody>
      </p:sp>
      <p:sp>
        <p:nvSpPr>
          <p:cNvPr id="23" name="Shape 20"/>
          <p:cNvSpPr/>
          <p:nvPr/>
        </p:nvSpPr>
        <p:spPr>
          <a:xfrm>
            <a:off x="3200400" y="1234440"/>
            <a:ext cx="566928" cy="566928"/>
          </a:xfrm>
          <a:prstGeom prst="ellipse">
            <a:avLst/>
          </a:prstGeom>
          <a:solidFill>
            <a:srgbClr val="D4790A"/>
          </a:solidFill>
          <a:ln w="12700">
            <a:solidFill>
              <a:srgbClr val="D4790A"/>
            </a:solidFill>
            <a:prstDash val="solid"/>
          </a:ln>
        </p:spPr>
        <p:txBody>
          <a:bodyPr/>
          <a:lstStyle/>
          <a:p>
            <a:endParaRPr lang="en-US"/>
          </a:p>
        </p:txBody>
      </p:sp>
      <p:pic>
        <p:nvPicPr>
          <p:cNvPr id="24" name="Image 1" descr="preencoded.png"/>
          <p:cNvPicPr>
            <a:picLocks noChangeAspect="1"/>
          </p:cNvPicPr>
          <p:nvPr/>
        </p:nvPicPr>
        <p:blipFill>
          <a:blip r:embed="rId4"/>
          <a:stretch>
            <a:fillRect/>
          </a:stretch>
        </p:blipFill>
        <p:spPr>
          <a:xfrm>
            <a:off x="3310128" y="1344168"/>
            <a:ext cx="347472" cy="347472"/>
          </a:xfrm>
          <a:prstGeom prst="rect">
            <a:avLst/>
          </a:prstGeom>
        </p:spPr>
      </p:pic>
      <p:sp>
        <p:nvSpPr>
          <p:cNvPr id="25" name="Text 21"/>
          <p:cNvSpPr/>
          <p:nvPr/>
        </p:nvSpPr>
        <p:spPr>
          <a:xfrm>
            <a:off x="2514600" y="1901952"/>
            <a:ext cx="1920240" cy="256032"/>
          </a:xfrm>
          <a:prstGeom prst="rect">
            <a:avLst/>
          </a:prstGeom>
          <a:noFill/>
          <a:ln/>
        </p:spPr>
        <p:txBody>
          <a:bodyPr wrap="square" rtlCol="0" anchor="ctr"/>
          <a:lstStyle/>
          <a:p>
            <a:pPr marL="0" indent="0" algn="ctr">
              <a:buNone/>
            </a:pPr>
            <a:r>
              <a:rPr lang="en-US" sz="850" b="1" kern="0" spc="50" dirty="0">
                <a:solidFill>
                  <a:srgbClr val="D4790A"/>
                </a:solidFill>
                <a:latin typeface="Calibri" pitchFamily="34" charset="0"/>
                <a:ea typeface="Calibri" pitchFamily="34" charset="-122"/>
                <a:cs typeface="Calibri" pitchFamily="34" charset="-120"/>
              </a:rPr>
              <a:t>Stage 2</a:t>
            </a:r>
            <a:endParaRPr lang="en-US" sz="850" dirty="0"/>
          </a:p>
        </p:txBody>
      </p:sp>
      <p:sp>
        <p:nvSpPr>
          <p:cNvPr id="26" name="Text 22"/>
          <p:cNvSpPr/>
          <p:nvPr/>
        </p:nvSpPr>
        <p:spPr>
          <a:xfrm>
            <a:off x="2514600" y="2130552"/>
            <a:ext cx="1920240" cy="347472"/>
          </a:xfrm>
          <a:prstGeom prst="rect">
            <a:avLst/>
          </a:prstGeom>
          <a:noFill/>
          <a:ln/>
        </p:spPr>
        <p:txBody>
          <a:bodyPr wrap="square" rtlCol="0" anchor="ctr"/>
          <a:lstStyle/>
          <a:p>
            <a:pPr marL="0" indent="0" algn="ctr">
              <a:buNone/>
            </a:pPr>
            <a:r>
              <a:rPr lang="en-US" sz="1300" b="1" dirty="0">
                <a:solidFill>
                  <a:srgbClr val="0F2B5B"/>
                </a:solidFill>
                <a:latin typeface="Calibri" pitchFamily="34" charset="0"/>
                <a:ea typeface="Calibri" pitchFamily="34" charset="-122"/>
                <a:cs typeface="Calibri" pitchFamily="34" charset="-120"/>
              </a:rPr>
              <a:t>PERIODIC</a:t>
            </a:r>
            <a:endParaRPr lang="en-US" sz="1300" dirty="0"/>
          </a:p>
        </p:txBody>
      </p:sp>
      <p:sp>
        <p:nvSpPr>
          <p:cNvPr id="27" name="Text 23"/>
          <p:cNvSpPr/>
          <p:nvPr/>
        </p:nvSpPr>
        <p:spPr>
          <a:xfrm>
            <a:off x="2514600" y="2450592"/>
            <a:ext cx="1920240" cy="228600"/>
          </a:xfrm>
          <a:prstGeom prst="rect">
            <a:avLst/>
          </a:prstGeom>
          <a:noFill/>
          <a:ln/>
        </p:spPr>
        <p:txBody>
          <a:bodyPr wrap="square" rtlCol="0" anchor="ctr"/>
          <a:lstStyle/>
          <a:p>
            <a:pPr marL="0" indent="0" algn="ctr">
              <a:buNone/>
            </a:pPr>
            <a:r>
              <a:rPr lang="en-US" sz="900" i="1" dirty="0">
                <a:solidFill>
                  <a:srgbClr val="6B7B8D"/>
                </a:solidFill>
                <a:latin typeface="Georgia" pitchFamily="34" charset="0"/>
                <a:ea typeface="Georgia" pitchFamily="34" charset="-122"/>
                <a:cs typeface="Georgia" pitchFamily="34" charset="-120"/>
              </a:rPr>
              <a:t>Quarterly cycle</a:t>
            </a:r>
            <a:endParaRPr lang="en-US" sz="900" dirty="0"/>
          </a:p>
        </p:txBody>
      </p:sp>
      <p:sp>
        <p:nvSpPr>
          <p:cNvPr id="28" name="Shape 24"/>
          <p:cNvSpPr/>
          <p:nvPr/>
        </p:nvSpPr>
        <p:spPr>
          <a:xfrm>
            <a:off x="2560320" y="2743200"/>
            <a:ext cx="1828800" cy="18288"/>
          </a:xfrm>
          <a:prstGeom prst="rect">
            <a:avLst/>
          </a:prstGeom>
          <a:solidFill>
            <a:srgbClr val="E0E8F0"/>
          </a:solidFill>
          <a:ln/>
        </p:spPr>
        <p:txBody>
          <a:bodyPr/>
          <a:lstStyle/>
          <a:p>
            <a:endParaRPr lang="en-US"/>
          </a:p>
        </p:txBody>
      </p:sp>
      <p:sp>
        <p:nvSpPr>
          <p:cNvPr id="29" name="Text 25"/>
          <p:cNvSpPr/>
          <p:nvPr/>
        </p:nvSpPr>
        <p:spPr>
          <a:xfrm>
            <a:off x="2532888" y="2834640"/>
            <a:ext cx="1883664" cy="1234440"/>
          </a:xfrm>
          <a:prstGeom prst="rect">
            <a:avLst/>
          </a:prstGeom>
          <a:noFill/>
          <a:ln/>
        </p:spPr>
        <p:txBody>
          <a:bodyPr wrap="square" rtlCol="0" anchor="t"/>
          <a:lstStyle/>
          <a:p>
            <a:pPr marL="0" indent="0">
              <a:buNone/>
            </a:pPr>
            <a:r>
              <a:rPr lang="en-US" sz="950" dirty="0">
                <a:solidFill>
                  <a:srgbClr val="1A2B3C"/>
                </a:solidFill>
                <a:latin typeface="Calibri" pitchFamily="34" charset="0"/>
                <a:ea typeface="Calibri" pitchFamily="34" charset="-122"/>
                <a:cs typeface="Calibri" pitchFamily="34" charset="-120"/>
              </a:rPr>
              <a:t>A dedicated PMM updates battlecards once a quarter. Good coverage at point of publication. Stale within weeks.</a:t>
            </a:r>
            <a:endParaRPr lang="en-US" sz="950" dirty="0"/>
          </a:p>
        </p:txBody>
      </p:sp>
      <p:sp>
        <p:nvSpPr>
          <p:cNvPr id="30" name="Shape 26"/>
          <p:cNvSpPr/>
          <p:nvPr/>
        </p:nvSpPr>
        <p:spPr>
          <a:xfrm>
            <a:off x="2514600" y="4069080"/>
            <a:ext cx="1920240" cy="320040"/>
          </a:xfrm>
          <a:prstGeom prst="rect">
            <a:avLst/>
          </a:prstGeom>
          <a:solidFill>
            <a:srgbClr val="F4F7FB"/>
          </a:solidFill>
          <a:ln w="12700">
            <a:solidFill>
              <a:srgbClr val="E0E8F0"/>
            </a:solidFill>
            <a:prstDash val="solid"/>
          </a:ln>
        </p:spPr>
        <p:txBody>
          <a:bodyPr/>
          <a:lstStyle/>
          <a:p>
            <a:endParaRPr lang="en-US"/>
          </a:p>
        </p:txBody>
      </p:sp>
      <p:sp>
        <p:nvSpPr>
          <p:cNvPr id="31" name="Text 27"/>
          <p:cNvSpPr/>
          <p:nvPr/>
        </p:nvSpPr>
        <p:spPr>
          <a:xfrm>
            <a:off x="2551176" y="4087368"/>
            <a:ext cx="1847088" cy="283464"/>
          </a:xfrm>
          <a:prstGeom prst="rect">
            <a:avLst/>
          </a:prstGeom>
          <a:noFill/>
          <a:ln/>
        </p:spPr>
        <p:txBody>
          <a:bodyPr wrap="square" rtlCol="0" anchor="ctr"/>
          <a:lstStyle/>
          <a:p>
            <a:pPr marL="0" indent="0">
              <a:buNone/>
            </a:pPr>
            <a:r>
              <a:rPr lang="en-US" sz="850" dirty="0">
                <a:solidFill>
                  <a:srgbClr val="6B7B8D"/>
                </a:solidFill>
                <a:latin typeface="Calibri" pitchFamily="34" charset="0"/>
                <a:ea typeface="Calibri" pitchFamily="34" charset="-122"/>
                <a:cs typeface="Calibri" pitchFamily="34" charset="-120"/>
              </a:rPr>
              <a:t>Freshness: Weeks to months</a:t>
            </a:r>
            <a:endParaRPr lang="en-US" sz="850" dirty="0"/>
          </a:p>
        </p:txBody>
      </p:sp>
      <p:sp>
        <p:nvSpPr>
          <p:cNvPr id="32" name="Shape 28"/>
          <p:cNvSpPr/>
          <p:nvPr/>
        </p:nvSpPr>
        <p:spPr>
          <a:xfrm>
            <a:off x="2514600" y="4443984"/>
            <a:ext cx="1920240" cy="320040"/>
          </a:xfrm>
          <a:prstGeom prst="rect">
            <a:avLst/>
          </a:prstGeom>
          <a:solidFill>
            <a:srgbClr val="F4F7FB"/>
          </a:solidFill>
          <a:ln w="12700">
            <a:solidFill>
              <a:srgbClr val="E0E8F0"/>
            </a:solidFill>
            <a:prstDash val="solid"/>
          </a:ln>
        </p:spPr>
        <p:txBody>
          <a:bodyPr/>
          <a:lstStyle/>
          <a:p>
            <a:endParaRPr lang="en-US"/>
          </a:p>
        </p:txBody>
      </p:sp>
      <p:sp>
        <p:nvSpPr>
          <p:cNvPr id="33" name="Text 29"/>
          <p:cNvSpPr/>
          <p:nvPr/>
        </p:nvSpPr>
        <p:spPr>
          <a:xfrm>
            <a:off x="2551176" y="4462272"/>
            <a:ext cx="1847088" cy="283464"/>
          </a:xfrm>
          <a:prstGeom prst="rect">
            <a:avLst/>
          </a:prstGeom>
          <a:noFill/>
          <a:ln/>
        </p:spPr>
        <p:txBody>
          <a:bodyPr wrap="square" rtlCol="0" anchor="ctr"/>
          <a:lstStyle/>
          <a:p>
            <a:pPr marL="0" indent="0">
              <a:buNone/>
            </a:pPr>
            <a:r>
              <a:rPr lang="en-US" sz="850" dirty="0">
                <a:solidFill>
                  <a:srgbClr val="6B7B8D"/>
                </a:solidFill>
                <a:latin typeface="Calibri" pitchFamily="34" charset="0"/>
                <a:ea typeface="Calibri" pitchFamily="34" charset="-122"/>
                <a:cs typeface="Calibri" pitchFamily="34" charset="-120"/>
              </a:rPr>
              <a:t>Effort: Medium (scheduled, isolated)</a:t>
            </a:r>
            <a:endParaRPr lang="en-US" sz="850" dirty="0"/>
          </a:p>
        </p:txBody>
      </p:sp>
      <p:sp>
        <p:nvSpPr>
          <p:cNvPr id="34" name="Text 30"/>
          <p:cNvSpPr/>
          <p:nvPr/>
        </p:nvSpPr>
        <p:spPr>
          <a:xfrm>
            <a:off x="4544568" y="3291840"/>
            <a:ext cx="91440" cy="274320"/>
          </a:xfrm>
          <a:prstGeom prst="rect">
            <a:avLst/>
          </a:prstGeom>
          <a:noFill/>
          <a:ln/>
        </p:spPr>
        <p:txBody>
          <a:bodyPr wrap="square" rtlCol="0" anchor="ctr"/>
          <a:lstStyle/>
          <a:p>
            <a:pPr marL="0" indent="0" algn="ctr">
              <a:buNone/>
            </a:pPr>
            <a:r>
              <a:rPr lang="en-US" sz="1400" b="1" dirty="0">
                <a:solidFill>
                  <a:srgbClr val="1A7A4A"/>
                </a:solidFill>
                <a:latin typeface="Calibri" pitchFamily="34" charset="0"/>
                <a:ea typeface="Calibri" pitchFamily="34" charset="-122"/>
                <a:cs typeface="Calibri" pitchFamily="34" charset="-120"/>
              </a:rPr>
              <a:t>→</a:t>
            </a:r>
            <a:endParaRPr lang="en-US" sz="1400" dirty="0"/>
          </a:p>
        </p:txBody>
      </p:sp>
      <p:sp>
        <p:nvSpPr>
          <p:cNvPr id="35" name="Shape 31"/>
          <p:cNvSpPr/>
          <p:nvPr/>
        </p:nvSpPr>
        <p:spPr>
          <a:xfrm>
            <a:off x="4617720" y="1115568"/>
            <a:ext cx="2103120" cy="4983480"/>
          </a:xfrm>
          <a:prstGeom prst="rect">
            <a:avLst/>
          </a:prstGeom>
          <a:solidFill>
            <a:srgbClr val="FFFFFF"/>
          </a:solidFill>
          <a:ln w="12700">
            <a:solidFill>
              <a:srgbClr val="E0E8F0"/>
            </a:solidFill>
            <a:prstDash val="solid"/>
          </a:ln>
          <a:effectLst>
            <a:outerShdw blurRad="63500" dist="25400" dir="8100000" algn="bl" rotWithShape="0">
              <a:srgbClr val="000000">
                <a:alpha val="8000"/>
              </a:srgbClr>
            </a:outerShdw>
          </a:effectLst>
        </p:spPr>
        <p:txBody>
          <a:bodyPr/>
          <a:lstStyle/>
          <a:p>
            <a:endParaRPr lang="en-US"/>
          </a:p>
        </p:txBody>
      </p:sp>
      <p:sp>
        <p:nvSpPr>
          <p:cNvPr id="36" name="Shape 32"/>
          <p:cNvSpPr/>
          <p:nvPr/>
        </p:nvSpPr>
        <p:spPr>
          <a:xfrm>
            <a:off x="4617720" y="1115568"/>
            <a:ext cx="2103120" cy="64008"/>
          </a:xfrm>
          <a:prstGeom prst="rect">
            <a:avLst/>
          </a:prstGeom>
          <a:solidFill>
            <a:srgbClr val="1A4A8A"/>
          </a:solidFill>
          <a:ln w="12700">
            <a:solidFill>
              <a:srgbClr val="1A4A8A"/>
            </a:solidFill>
            <a:prstDash val="solid"/>
          </a:ln>
        </p:spPr>
        <p:txBody>
          <a:bodyPr/>
          <a:lstStyle/>
          <a:p>
            <a:endParaRPr lang="en-US"/>
          </a:p>
        </p:txBody>
      </p:sp>
      <p:sp>
        <p:nvSpPr>
          <p:cNvPr id="37" name="Shape 33"/>
          <p:cNvSpPr/>
          <p:nvPr/>
        </p:nvSpPr>
        <p:spPr>
          <a:xfrm>
            <a:off x="5394960" y="1234440"/>
            <a:ext cx="566928" cy="566928"/>
          </a:xfrm>
          <a:prstGeom prst="ellipse">
            <a:avLst/>
          </a:prstGeom>
          <a:solidFill>
            <a:srgbClr val="1A4A8A"/>
          </a:solidFill>
          <a:ln w="12700">
            <a:solidFill>
              <a:srgbClr val="1A4A8A"/>
            </a:solidFill>
            <a:prstDash val="solid"/>
          </a:ln>
        </p:spPr>
        <p:txBody>
          <a:bodyPr/>
          <a:lstStyle/>
          <a:p>
            <a:endParaRPr lang="en-US"/>
          </a:p>
        </p:txBody>
      </p:sp>
      <p:pic>
        <p:nvPicPr>
          <p:cNvPr id="38" name="Image 2" descr="preencoded.png"/>
          <p:cNvPicPr>
            <a:picLocks noChangeAspect="1"/>
          </p:cNvPicPr>
          <p:nvPr/>
        </p:nvPicPr>
        <p:blipFill>
          <a:blip r:embed="rId5"/>
          <a:stretch>
            <a:fillRect/>
          </a:stretch>
        </p:blipFill>
        <p:spPr>
          <a:xfrm>
            <a:off x="5504688" y="1344168"/>
            <a:ext cx="347472" cy="347472"/>
          </a:xfrm>
          <a:prstGeom prst="rect">
            <a:avLst/>
          </a:prstGeom>
        </p:spPr>
      </p:pic>
      <p:sp>
        <p:nvSpPr>
          <p:cNvPr id="39" name="Text 34"/>
          <p:cNvSpPr/>
          <p:nvPr/>
        </p:nvSpPr>
        <p:spPr>
          <a:xfrm>
            <a:off x="4709160" y="1901952"/>
            <a:ext cx="1920240" cy="256032"/>
          </a:xfrm>
          <a:prstGeom prst="rect">
            <a:avLst/>
          </a:prstGeom>
          <a:noFill/>
          <a:ln/>
        </p:spPr>
        <p:txBody>
          <a:bodyPr wrap="square" rtlCol="0" anchor="ctr"/>
          <a:lstStyle/>
          <a:p>
            <a:pPr marL="0" indent="0" algn="ctr">
              <a:buNone/>
            </a:pPr>
            <a:r>
              <a:rPr lang="en-US" sz="850" b="1" kern="0" spc="50" dirty="0">
                <a:solidFill>
                  <a:srgbClr val="1A4A8A"/>
                </a:solidFill>
                <a:latin typeface="Calibri" pitchFamily="34" charset="0"/>
                <a:ea typeface="Calibri" pitchFamily="34" charset="-122"/>
                <a:cs typeface="Calibri" pitchFamily="34" charset="-120"/>
              </a:rPr>
              <a:t>Stage 3</a:t>
            </a:r>
            <a:endParaRPr lang="en-US" sz="850" dirty="0"/>
          </a:p>
        </p:txBody>
      </p:sp>
      <p:sp>
        <p:nvSpPr>
          <p:cNvPr id="40" name="Text 35"/>
          <p:cNvSpPr/>
          <p:nvPr/>
        </p:nvSpPr>
        <p:spPr>
          <a:xfrm>
            <a:off x="4709160" y="2130552"/>
            <a:ext cx="1920240" cy="347472"/>
          </a:xfrm>
          <a:prstGeom prst="rect">
            <a:avLst/>
          </a:prstGeom>
          <a:noFill/>
          <a:ln/>
        </p:spPr>
        <p:txBody>
          <a:bodyPr wrap="square" rtlCol="0" anchor="ctr"/>
          <a:lstStyle/>
          <a:p>
            <a:pPr marL="0" indent="0" algn="ctr">
              <a:buNone/>
            </a:pPr>
            <a:r>
              <a:rPr lang="en-US" sz="1300" b="1" dirty="0">
                <a:solidFill>
                  <a:srgbClr val="0F2B5B"/>
                </a:solidFill>
                <a:latin typeface="Calibri" pitchFamily="34" charset="0"/>
                <a:ea typeface="Calibri" pitchFamily="34" charset="-122"/>
                <a:cs typeface="Calibri" pitchFamily="34" charset="-120"/>
              </a:rPr>
              <a:t>MONITORED</a:t>
            </a:r>
            <a:endParaRPr lang="en-US" sz="1300" dirty="0"/>
          </a:p>
        </p:txBody>
      </p:sp>
      <p:sp>
        <p:nvSpPr>
          <p:cNvPr id="41" name="Text 36"/>
          <p:cNvSpPr/>
          <p:nvPr/>
        </p:nvSpPr>
        <p:spPr>
          <a:xfrm>
            <a:off x="4709160" y="2450592"/>
            <a:ext cx="1920240" cy="228600"/>
          </a:xfrm>
          <a:prstGeom prst="rect">
            <a:avLst/>
          </a:prstGeom>
          <a:noFill/>
          <a:ln/>
        </p:spPr>
        <p:txBody>
          <a:bodyPr wrap="square" rtlCol="0" anchor="ctr"/>
          <a:lstStyle/>
          <a:p>
            <a:pPr marL="0" indent="0" algn="ctr">
              <a:buNone/>
            </a:pPr>
            <a:r>
              <a:rPr lang="en-US" sz="900" i="1" dirty="0">
                <a:solidFill>
                  <a:srgbClr val="6B7B8D"/>
                </a:solidFill>
                <a:latin typeface="Georgia" pitchFamily="34" charset="0"/>
                <a:ea typeface="Georgia" pitchFamily="34" charset="-122"/>
                <a:cs typeface="Georgia" pitchFamily="34" charset="-120"/>
              </a:rPr>
              <a:t>Alerts + triggers</a:t>
            </a:r>
            <a:endParaRPr lang="en-US" sz="900" dirty="0"/>
          </a:p>
        </p:txBody>
      </p:sp>
      <p:sp>
        <p:nvSpPr>
          <p:cNvPr id="42" name="Shape 37"/>
          <p:cNvSpPr/>
          <p:nvPr/>
        </p:nvSpPr>
        <p:spPr>
          <a:xfrm>
            <a:off x="4754880" y="2743200"/>
            <a:ext cx="1828800" cy="18288"/>
          </a:xfrm>
          <a:prstGeom prst="rect">
            <a:avLst/>
          </a:prstGeom>
          <a:solidFill>
            <a:srgbClr val="E0E8F0"/>
          </a:solidFill>
          <a:ln/>
        </p:spPr>
        <p:txBody>
          <a:bodyPr/>
          <a:lstStyle/>
          <a:p>
            <a:endParaRPr lang="en-US"/>
          </a:p>
        </p:txBody>
      </p:sp>
      <p:sp>
        <p:nvSpPr>
          <p:cNvPr id="43" name="Text 38"/>
          <p:cNvSpPr/>
          <p:nvPr/>
        </p:nvSpPr>
        <p:spPr>
          <a:xfrm>
            <a:off x="4727448" y="2834640"/>
            <a:ext cx="1883664" cy="1234440"/>
          </a:xfrm>
          <a:prstGeom prst="rect">
            <a:avLst/>
          </a:prstGeom>
          <a:noFill/>
          <a:ln/>
        </p:spPr>
        <p:txBody>
          <a:bodyPr wrap="square" rtlCol="0" anchor="t"/>
          <a:lstStyle/>
          <a:p>
            <a:pPr marL="0" indent="0">
              <a:buNone/>
            </a:pPr>
            <a:r>
              <a:rPr lang="en-US" sz="950" dirty="0">
                <a:solidFill>
                  <a:srgbClr val="1A2B3C"/>
                </a:solidFill>
                <a:latin typeface="Calibri" pitchFamily="34" charset="0"/>
                <a:ea typeface="Calibri" pitchFamily="34" charset="-122"/>
                <a:cs typeface="Calibri" pitchFamily="34" charset="-120"/>
              </a:rPr>
              <a:t>Automated alerts fire on key competitor signals. PMM reviews and updates within days. Battlecards have freshness dates.</a:t>
            </a:r>
            <a:endParaRPr lang="en-US" sz="950" dirty="0"/>
          </a:p>
        </p:txBody>
      </p:sp>
      <p:sp>
        <p:nvSpPr>
          <p:cNvPr id="44" name="Shape 39"/>
          <p:cNvSpPr/>
          <p:nvPr/>
        </p:nvSpPr>
        <p:spPr>
          <a:xfrm>
            <a:off x="4709160" y="4069080"/>
            <a:ext cx="1920240" cy="320040"/>
          </a:xfrm>
          <a:prstGeom prst="rect">
            <a:avLst/>
          </a:prstGeom>
          <a:solidFill>
            <a:srgbClr val="F4F7FB"/>
          </a:solidFill>
          <a:ln w="12700">
            <a:solidFill>
              <a:srgbClr val="E0E8F0"/>
            </a:solidFill>
            <a:prstDash val="solid"/>
          </a:ln>
        </p:spPr>
        <p:txBody>
          <a:bodyPr/>
          <a:lstStyle/>
          <a:p>
            <a:endParaRPr lang="en-US"/>
          </a:p>
        </p:txBody>
      </p:sp>
      <p:sp>
        <p:nvSpPr>
          <p:cNvPr id="45" name="Text 40"/>
          <p:cNvSpPr/>
          <p:nvPr/>
        </p:nvSpPr>
        <p:spPr>
          <a:xfrm>
            <a:off x="4745736" y="4087368"/>
            <a:ext cx="1847088" cy="283464"/>
          </a:xfrm>
          <a:prstGeom prst="rect">
            <a:avLst/>
          </a:prstGeom>
          <a:noFill/>
          <a:ln/>
        </p:spPr>
        <p:txBody>
          <a:bodyPr wrap="square" rtlCol="0" anchor="ctr"/>
          <a:lstStyle/>
          <a:p>
            <a:pPr marL="0" indent="0">
              <a:buNone/>
            </a:pPr>
            <a:r>
              <a:rPr lang="en-US" sz="850" dirty="0">
                <a:solidFill>
                  <a:srgbClr val="6B7B8D"/>
                </a:solidFill>
                <a:latin typeface="Calibri" pitchFamily="34" charset="0"/>
                <a:ea typeface="Calibri" pitchFamily="34" charset="-122"/>
                <a:cs typeface="Calibri" pitchFamily="34" charset="-120"/>
              </a:rPr>
              <a:t>Freshness: Days to a week</a:t>
            </a:r>
            <a:endParaRPr lang="en-US" sz="850" dirty="0"/>
          </a:p>
        </p:txBody>
      </p:sp>
      <p:sp>
        <p:nvSpPr>
          <p:cNvPr id="46" name="Shape 41"/>
          <p:cNvSpPr/>
          <p:nvPr/>
        </p:nvSpPr>
        <p:spPr>
          <a:xfrm>
            <a:off x="4709160" y="4443984"/>
            <a:ext cx="1920240" cy="320040"/>
          </a:xfrm>
          <a:prstGeom prst="rect">
            <a:avLst/>
          </a:prstGeom>
          <a:solidFill>
            <a:srgbClr val="F4F7FB"/>
          </a:solidFill>
          <a:ln w="12700">
            <a:solidFill>
              <a:srgbClr val="E0E8F0"/>
            </a:solidFill>
            <a:prstDash val="solid"/>
          </a:ln>
        </p:spPr>
        <p:txBody>
          <a:bodyPr/>
          <a:lstStyle/>
          <a:p>
            <a:endParaRPr lang="en-US"/>
          </a:p>
        </p:txBody>
      </p:sp>
      <p:sp>
        <p:nvSpPr>
          <p:cNvPr id="47" name="Text 42"/>
          <p:cNvSpPr/>
          <p:nvPr/>
        </p:nvSpPr>
        <p:spPr>
          <a:xfrm>
            <a:off x="4745736" y="4462272"/>
            <a:ext cx="1847088" cy="283464"/>
          </a:xfrm>
          <a:prstGeom prst="rect">
            <a:avLst/>
          </a:prstGeom>
          <a:noFill/>
          <a:ln/>
        </p:spPr>
        <p:txBody>
          <a:bodyPr wrap="square" rtlCol="0" anchor="ctr"/>
          <a:lstStyle/>
          <a:p>
            <a:pPr marL="0" indent="0">
              <a:buNone/>
            </a:pPr>
            <a:r>
              <a:rPr lang="en-US" sz="850" dirty="0">
                <a:solidFill>
                  <a:srgbClr val="6B7B8D"/>
                </a:solidFill>
                <a:latin typeface="Calibri" pitchFamily="34" charset="0"/>
                <a:ea typeface="Calibri" pitchFamily="34" charset="-122"/>
                <a:cs typeface="Calibri" pitchFamily="34" charset="-120"/>
              </a:rPr>
              <a:t>Effort: Low (reactive to signals)</a:t>
            </a:r>
            <a:endParaRPr lang="en-US" sz="850" dirty="0"/>
          </a:p>
        </p:txBody>
      </p:sp>
      <p:sp>
        <p:nvSpPr>
          <p:cNvPr id="48" name="Text 43"/>
          <p:cNvSpPr/>
          <p:nvPr/>
        </p:nvSpPr>
        <p:spPr>
          <a:xfrm>
            <a:off x="6739128" y="3291840"/>
            <a:ext cx="91440" cy="274320"/>
          </a:xfrm>
          <a:prstGeom prst="rect">
            <a:avLst/>
          </a:prstGeom>
          <a:noFill/>
          <a:ln/>
        </p:spPr>
        <p:txBody>
          <a:bodyPr wrap="square" rtlCol="0" anchor="ctr"/>
          <a:lstStyle/>
          <a:p>
            <a:pPr marL="0" indent="0" algn="ctr">
              <a:buNone/>
            </a:pPr>
            <a:r>
              <a:rPr lang="en-US" sz="1400" b="1" dirty="0">
                <a:solidFill>
                  <a:srgbClr val="1A7A4A"/>
                </a:solidFill>
                <a:latin typeface="Calibri" pitchFamily="34" charset="0"/>
                <a:ea typeface="Calibri" pitchFamily="34" charset="-122"/>
                <a:cs typeface="Calibri" pitchFamily="34" charset="-120"/>
              </a:rPr>
              <a:t>→</a:t>
            </a:r>
            <a:endParaRPr lang="en-US" sz="1400" dirty="0"/>
          </a:p>
        </p:txBody>
      </p:sp>
      <p:sp>
        <p:nvSpPr>
          <p:cNvPr id="49" name="Shape 44"/>
          <p:cNvSpPr/>
          <p:nvPr/>
        </p:nvSpPr>
        <p:spPr>
          <a:xfrm>
            <a:off x="6812280" y="1115568"/>
            <a:ext cx="2103120" cy="4983480"/>
          </a:xfrm>
          <a:prstGeom prst="rect">
            <a:avLst/>
          </a:prstGeom>
          <a:solidFill>
            <a:srgbClr val="EAF5EC"/>
          </a:solidFill>
          <a:ln w="12700">
            <a:solidFill>
              <a:srgbClr val="1A7A4A"/>
            </a:solidFill>
            <a:prstDash val="solid"/>
          </a:ln>
          <a:effectLst>
            <a:outerShdw blurRad="101600" dist="38100" dir="8100000" algn="bl" rotWithShape="0">
              <a:srgbClr val="000000">
                <a:alpha val="10000"/>
              </a:srgbClr>
            </a:outerShdw>
          </a:effectLst>
        </p:spPr>
        <p:txBody>
          <a:bodyPr/>
          <a:lstStyle/>
          <a:p>
            <a:endParaRPr lang="en-US"/>
          </a:p>
        </p:txBody>
      </p:sp>
      <p:sp>
        <p:nvSpPr>
          <p:cNvPr id="50" name="Shape 45"/>
          <p:cNvSpPr/>
          <p:nvPr/>
        </p:nvSpPr>
        <p:spPr>
          <a:xfrm>
            <a:off x="6812280" y="1115568"/>
            <a:ext cx="2103120" cy="64008"/>
          </a:xfrm>
          <a:prstGeom prst="rect">
            <a:avLst/>
          </a:prstGeom>
          <a:solidFill>
            <a:srgbClr val="1A7A4A"/>
          </a:solidFill>
          <a:ln w="12700">
            <a:solidFill>
              <a:srgbClr val="1A7A4A"/>
            </a:solidFill>
            <a:prstDash val="solid"/>
          </a:ln>
        </p:spPr>
        <p:txBody>
          <a:bodyPr/>
          <a:lstStyle/>
          <a:p>
            <a:endParaRPr lang="en-US"/>
          </a:p>
        </p:txBody>
      </p:sp>
      <p:sp>
        <p:nvSpPr>
          <p:cNvPr id="51" name="Shape 46"/>
          <p:cNvSpPr/>
          <p:nvPr/>
        </p:nvSpPr>
        <p:spPr>
          <a:xfrm>
            <a:off x="7589520" y="1234440"/>
            <a:ext cx="566928" cy="566928"/>
          </a:xfrm>
          <a:prstGeom prst="ellipse">
            <a:avLst/>
          </a:prstGeom>
          <a:solidFill>
            <a:srgbClr val="1A7A4A"/>
          </a:solidFill>
          <a:ln w="12700">
            <a:solidFill>
              <a:srgbClr val="1A7A4A"/>
            </a:solidFill>
            <a:prstDash val="solid"/>
          </a:ln>
        </p:spPr>
        <p:txBody>
          <a:bodyPr/>
          <a:lstStyle/>
          <a:p>
            <a:endParaRPr lang="en-US"/>
          </a:p>
        </p:txBody>
      </p:sp>
      <p:pic>
        <p:nvPicPr>
          <p:cNvPr id="52" name="Image 3" descr="preencoded.png"/>
          <p:cNvPicPr>
            <a:picLocks noChangeAspect="1"/>
          </p:cNvPicPr>
          <p:nvPr/>
        </p:nvPicPr>
        <p:blipFill>
          <a:blip r:embed="rId6"/>
          <a:stretch>
            <a:fillRect/>
          </a:stretch>
        </p:blipFill>
        <p:spPr>
          <a:xfrm>
            <a:off x="7699248" y="1344168"/>
            <a:ext cx="347472" cy="347472"/>
          </a:xfrm>
          <a:prstGeom prst="rect">
            <a:avLst/>
          </a:prstGeom>
        </p:spPr>
      </p:pic>
      <p:sp>
        <p:nvSpPr>
          <p:cNvPr id="53" name="Text 47"/>
          <p:cNvSpPr/>
          <p:nvPr/>
        </p:nvSpPr>
        <p:spPr>
          <a:xfrm>
            <a:off x="6903720" y="1901952"/>
            <a:ext cx="1920240" cy="256032"/>
          </a:xfrm>
          <a:prstGeom prst="rect">
            <a:avLst/>
          </a:prstGeom>
          <a:noFill/>
          <a:ln/>
        </p:spPr>
        <p:txBody>
          <a:bodyPr wrap="square" rtlCol="0" anchor="ctr"/>
          <a:lstStyle/>
          <a:p>
            <a:pPr marL="0" indent="0" algn="ctr">
              <a:buNone/>
            </a:pPr>
            <a:r>
              <a:rPr lang="en-US" sz="850" b="1" kern="0" spc="50" dirty="0">
                <a:solidFill>
                  <a:srgbClr val="1A7A4A"/>
                </a:solidFill>
                <a:latin typeface="Calibri" pitchFamily="34" charset="0"/>
                <a:ea typeface="Calibri" pitchFamily="34" charset="-122"/>
                <a:cs typeface="Calibri" pitchFamily="34" charset="-120"/>
              </a:rPr>
              <a:t>Stage 4</a:t>
            </a:r>
            <a:endParaRPr lang="en-US" sz="850" dirty="0"/>
          </a:p>
        </p:txBody>
      </p:sp>
      <p:sp>
        <p:nvSpPr>
          <p:cNvPr id="54" name="Text 48"/>
          <p:cNvSpPr/>
          <p:nvPr/>
        </p:nvSpPr>
        <p:spPr>
          <a:xfrm>
            <a:off x="6903720" y="2130552"/>
            <a:ext cx="1920240" cy="347472"/>
          </a:xfrm>
          <a:prstGeom prst="rect">
            <a:avLst/>
          </a:prstGeom>
          <a:noFill/>
          <a:ln/>
        </p:spPr>
        <p:txBody>
          <a:bodyPr wrap="square" rtlCol="0" anchor="ctr"/>
          <a:lstStyle/>
          <a:p>
            <a:pPr marL="0" indent="0" algn="ctr">
              <a:buNone/>
            </a:pPr>
            <a:r>
              <a:rPr lang="en-US" sz="1300" b="1" dirty="0">
                <a:solidFill>
                  <a:srgbClr val="0F2B5B"/>
                </a:solidFill>
                <a:latin typeface="Calibri" pitchFamily="34" charset="0"/>
                <a:ea typeface="Calibri" pitchFamily="34" charset="-122"/>
                <a:cs typeface="Calibri" pitchFamily="34" charset="-120"/>
              </a:rPr>
              <a:t>LIVING SYSTEM</a:t>
            </a:r>
            <a:endParaRPr lang="en-US" sz="1300" dirty="0"/>
          </a:p>
        </p:txBody>
      </p:sp>
      <p:sp>
        <p:nvSpPr>
          <p:cNvPr id="55" name="Text 49"/>
          <p:cNvSpPr/>
          <p:nvPr/>
        </p:nvSpPr>
        <p:spPr>
          <a:xfrm>
            <a:off x="6903720" y="2450592"/>
            <a:ext cx="1920240" cy="228600"/>
          </a:xfrm>
          <a:prstGeom prst="rect">
            <a:avLst/>
          </a:prstGeom>
          <a:noFill/>
          <a:ln/>
        </p:spPr>
        <p:txBody>
          <a:bodyPr wrap="square" rtlCol="0" anchor="ctr"/>
          <a:lstStyle/>
          <a:p>
            <a:pPr marL="0" indent="0" algn="ctr">
              <a:buNone/>
            </a:pPr>
            <a:r>
              <a:rPr lang="en-US" sz="900" i="1" dirty="0">
                <a:solidFill>
                  <a:srgbClr val="6B7B8D"/>
                </a:solidFill>
                <a:latin typeface="Georgia" pitchFamily="34" charset="0"/>
                <a:ea typeface="Georgia" pitchFamily="34" charset="-122"/>
                <a:cs typeface="Georgia" pitchFamily="34" charset="-120"/>
              </a:rPr>
              <a:t>Always-on agents</a:t>
            </a:r>
            <a:endParaRPr lang="en-US" sz="900" dirty="0"/>
          </a:p>
        </p:txBody>
      </p:sp>
      <p:sp>
        <p:nvSpPr>
          <p:cNvPr id="56" name="Shape 50"/>
          <p:cNvSpPr/>
          <p:nvPr/>
        </p:nvSpPr>
        <p:spPr>
          <a:xfrm>
            <a:off x="6949440" y="2743200"/>
            <a:ext cx="1828800" cy="18288"/>
          </a:xfrm>
          <a:prstGeom prst="rect">
            <a:avLst/>
          </a:prstGeom>
          <a:solidFill>
            <a:srgbClr val="E0E8F0"/>
          </a:solidFill>
          <a:ln/>
        </p:spPr>
        <p:txBody>
          <a:bodyPr/>
          <a:lstStyle/>
          <a:p>
            <a:endParaRPr lang="en-US"/>
          </a:p>
        </p:txBody>
      </p:sp>
      <p:sp>
        <p:nvSpPr>
          <p:cNvPr id="57" name="Text 51"/>
          <p:cNvSpPr/>
          <p:nvPr/>
        </p:nvSpPr>
        <p:spPr>
          <a:xfrm>
            <a:off x="6922008" y="2834640"/>
            <a:ext cx="1883664" cy="1234440"/>
          </a:xfrm>
          <a:prstGeom prst="rect">
            <a:avLst/>
          </a:prstGeom>
          <a:noFill/>
          <a:ln/>
        </p:spPr>
        <p:txBody>
          <a:bodyPr wrap="square" rtlCol="0" anchor="t"/>
          <a:lstStyle/>
          <a:p>
            <a:pPr marL="0" indent="0">
              <a:buNone/>
            </a:pPr>
            <a:r>
              <a:rPr lang="en-US" sz="950" dirty="0">
                <a:solidFill>
                  <a:srgbClr val="1A2B3C"/>
                </a:solidFill>
                <a:latin typeface="Calibri" pitchFamily="34" charset="0"/>
                <a:ea typeface="Calibri" pitchFamily="34" charset="-122"/>
                <a:cs typeface="Calibri" pitchFamily="34" charset="-120"/>
              </a:rPr>
              <a:t>Agents continuously monitor signals, draft updates, and push changes to reps in context — in Slack, in the CRM, in the deal.</a:t>
            </a:r>
            <a:endParaRPr lang="en-US" sz="950" dirty="0"/>
          </a:p>
        </p:txBody>
      </p:sp>
      <p:sp>
        <p:nvSpPr>
          <p:cNvPr id="58" name="Shape 52"/>
          <p:cNvSpPr/>
          <p:nvPr/>
        </p:nvSpPr>
        <p:spPr>
          <a:xfrm>
            <a:off x="6903720" y="4069080"/>
            <a:ext cx="1920240" cy="320040"/>
          </a:xfrm>
          <a:prstGeom prst="rect">
            <a:avLst/>
          </a:prstGeom>
          <a:solidFill>
            <a:srgbClr val="F4F7FB"/>
          </a:solidFill>
          <a:ln w="12700">
            <a:solidFill>
              <a:srgbClr val="E0E8F0"/>
            </a:solidFill>
            <a:prstDash val="solid"/>
          </a:ln>
        </p:spPr>
        <p:txBody>
          <a:bodyPr/>
          <a:lstStyle/>
          <a:p>
            <a:endParaRPr lang="en-US"/>
          </a:p>
        </p:txBody>
      </p:sp>
      <p:sp>
        <p:nvSpPr>
          <p:cNvPr id="59" name="Text 53"/>
          <p:cNvSpPr/>
          <p:nvPr/>
        </p:nvSpPr>
        <p:spPr>
          <a:xfrm>
            <a:off x="6940296" y="4087368"/>
            <a:ext cx="1847088" cy="283464"/>
          </a:xfrm>
          <a:prstGeom prst="rect">
            <a:avLst/>
          </a:prstGeom>
          <a:noFill/>
          <a:ln/>
        </p:spPr>
        <p:txBody>
          <a:bodyPr wrap="square" rtlCol="0" anchor="ctr"/>
          <a:lstStyle/>
          <a:p>
            <a:pPr marL="0" indent="0">
              <a:buNone/>
            </a:pPr>
            <a:r>
              <a:rPr lang="en-US" sz="850" dirty="0">
                <a:solidFill>
                  <a:srgbClr val="6B7B8D"/>
                </a:solidFill>
                <a:latin typeface="Calibri" pitchFamily="34" charset="0"/>
                <a:ea typeface="Calibri" pitchFamily="34" charset="-122"/>
                <a:cs typeface="Calibri" pitchFamily="34" charset="-120"/>
              </a:rPr>
              <a:t>Freshness: Hours to a day</a:t>
            </a:r>
            <a:endParaRPr lang="en-US" sz="850" dirty="0"/>
          </a:p>
        </p:txBody>
      </p:sp>
      <p:sp>
        <p:nvSpPr>
          <p:cNvPr id="60" name="Shape 54"/>
          <p:cNvSpPr/>
          <p:nvPr/>
        </p:nvSpPr>
        <p:spPr>
          <a:xfrm>
            <a:off x="6903720" y="4443984"/>
            <a:ext cx="1920240" cy="320040"/>
          </a:xfrm>
          <a:prstGeom prst="rect">
            <a:avLst/>
          </a:prstGeom>
          <a:solidFill>
            <a:srgbClr val="F4F7FB"/>
          </a:solidFill>
          <a:ln w="12700">
            <a:solidFill>
              <a:srgbClr val="E0E8F0"/>
            </a:solidFill>
            <a:prstDash val="solid"/>
          </a:ln>
        </p:spPr>
        <p:txBody>
          <a:bodyPr/>
          <a:lstStyle/>
          <a:p>
            <a:endParaRPr lang="en-US"/>
          </a:p>
        </p:txBody>
      </p:sp>
      <p:sp>
        <p:nvSpPr>
          <p:cNvPr id="61" name="Text 55"/>
          <p:cNvSpPr/>
          <p:nvPr/>
        </p:nvSpPr>
        <p:spPr>
          <a:xfrm>
            <a:off x="6940296" y="4462272"/>
            <a:ext cx="1847088" cy="283464"/>
          </a:xfrm>
          <a:prstGeom prst="rect">
            <a:avLst/>
          </a:prstGeom>
          <a:noFill/>
          <a:ln/>
        </p:spPr>
        <p:txBody>
          <a:bodyPr wrap="square" rtlCol="0" anchor="ctr"/>
          <a:lstStyle/>
          <a:p>
            <a:pPr marL="0" indent="0">
              <a:buNone/>
            </a:pPr>
            <a:r>
              <a:rPr lang="en-US" sz="850" dirty="0">
                <a:solidFill>
                  <a:srgbClr val="6B7B8D"/>
                </a:solidFill>
                <a:latin typeface="Calibri" pitchFamily="34" charset="0"/>
                <a:ea typeface="Calibri" pitchFamily="34" charset="-122"/>
                <a:cs typeface="Calibri" pitchFamily="34" charset="-120"/>
              </a:rPr>
              <a:t>Effort: Minimal (humans QA outputs)</a:t>
            </a:r>
            <a:endParaRPr lang="en-US" sz="850" dirty="0"/>
          </a:p>
        </p:txBody>
      </p:sp>
      <p:sp>
        <p:nvSpPr>
          <p:cNvPr id="62" name="Shape 56"/>
          <p:cNvSpPr/>
          <p:nvPr/>
        </p:nvSpPr>
        <p:spPr>
          <a:xfrm>
            <a:off x="7223760" y="4846320"/>
            <a:ext cx="1280160" cy="237744"/>
          </a:xfrm>
          <a:prstGeom prst="rect">
            <a:avLst/>
          </a:prstGeom>
          <a:solidFill>
            <a:srgbClr val="1A7A4A"/>
          </a:solidFill>
          <a:ln w="12700">
            <a:solidFill>
              <a:srgbClr val="1A7A4A"/>
            </a:solidFill>
            <a:prstDash val="solid"/>
          </a:ln>
        </p:spPr>
        <p:txBody>
          <a:bodyPr/>
          <a:lstStyle/>
          <a:p>
            <a:endParaRPr lang="en-US"/>
          </a:p>
        </p:txBody>
      </p:sp>
      <p:sp>
        <p:nvSpPr>
          <p:cNvPr id="63" name="Text 57"/>
          <p:cNvSpPr/>
          <p:nvPr/>
        </p:nvSpPr>
        <p:spPr>
          <a:xfrm>
            <a:off x="7223760" y="4846320"/>
            <a:ext cx="1280160" cy="237744"/>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 TARGET STATE</a:t>
            </a:r>
            <a:endParaRPr lang="en-US" sz="800" dirty="0"/>
          </a:p>
        </p:txBody>
      </p:sp>
      <p:sp>
        <p:nvSpPr>
          <p:cNvPr id="64" name="Text 58"/>
          <p:cNvSpPr/>
          <p:nvPr/>
        </p:nvSpPr>
        <p:spPr>
          <a:xfrm>
            <a:off x="228600" y="6291072"/>
            <a:ext cx="8686800" cy="274320"/>
          </a:xfrm>
          <a:prstGeom prst="rect">
            <a:avLst/>
          </a:prstGeom>
          <a:noFill/>
          <a:ln/>
        </p:spPr>
        <p:txBody>
          <a:bodyPr wrap="square" rtlCol="0" anchor="ctr"/>
          <a:lstStyle/>
          <a:p>
            <a:pPr marL="0" indent="0">
              <a:buNone/>
            </a:pPr>
            <a:r>
              <a:rPr lang="en-US" sz="850" i="1" dirty="0">
                <a:solidFill>
                  <a:srgbClr val="6B7B8D"/>
                </a:solidFill>
                <a:latin typeface="Calibri" pitchFamily="34" charset="0"/>
                <a:ea typeface="Calibri" pitchFamily="34" charset="-122"/>
                <a:cs typeface="Calibri" pitchFamily="34" charset="-120"/>
              </a:rPr>
              <a:t>Figure 1. The CI Maturity Model. Most PMM organizations sit at Stage 2. The move to Stage 4 is not a headcount decision — it is an architecture decision.</a:t>
            </a:r>
            <a:endParaRPr lang="en-US" sz="850" dirty="0"/>
          </a:p>
        </p:txBody>
      </p:sp>
      <p:sp>
        <p:nvSpPr>
          <p:cNvPr id="65" name="Text 59"/>
          <p:cNvSpPr/>
          <p:nvPr/>
        </p:nvSpPr>
        <p:spPr>
          <a:xfrm>
            <a:off x="320040" y="6492240"/>
            <a:ext cx="8229600" cy="228600"/>
          </a:xfrm>
          <a:prstGeom prst="rect">
            <a:avLst/>
          </a:prstGeom>
          <a:noFill/>
          <a:ln/>
        </p:spPr>
        <p:txBody>
          <a:bodyPr wrap="square" rtlCol="0" anchor="ctr"/>
          <a:lstStyle/>
          <a:p>
            <a:pPr marL="0" indent="0">
              <a:buNone/>
            </a:pPr>
            <a:r>
              <a:rPr lang="en-US" sz="900" i="1" dirty="0">
                <a:solidFill>
                  <a:srgbClr val="6B7B8D"/>
                </a:solidFill>
                <a:latin typeface="Calibri" pitchFamily="34" charset="0"/>
                <a:ea typeface="Calibri" pitchFamily="34" charset="-122"/>
                <a:cs typeface="Calibri" pitchFamily="34" charset="-120"/>
              </a:rPr>
              <a:t>Chapter 6  ·  The Future of Product Marketing  ·  Chris O'Hara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7FB"/>
          </a:solidFill>
          <a:ln/>
        </p:spPr>
        <p:txBody>
          <a:bodyPr/>
          <a:lstStyle/>
          <a:p>
            <a:endParaRPr lang="en-US"/>
          </a:p>
        </p:txBody>
      </p:sp>
      <p:sp>
        <p:nvSpPr>
          <p:cNvPr id="3" name="Shape 1"/>
          <p:cNvSpPr/>
          <p:nvPr/>
        </p:nvSpPr>
        <p:spPr>
          <a:xfrm>
            <a:off x="0" y="0"/>
            <a:ext cx="9144000" cy="960120"/>
          </a:xfrm>
          <a:prstGeom prst="rect">
            <a:avLst/>
          </a:prstGeom>
          <a:solidFill>
            <a:srgbClr val="0F2B5B"/>
          </a:solidFill>
          <a:ln/>
        </p:spPr>
        <p:txBody>
          <a:bodyPr/>
          <a:lstStyle/>
          <a:p>
            <a:endParaRPr lang="en-US"/>
          </a:p>
        </p:txBody>
      </p:sp>
      <p:sp>
        <p:nvSpPr>
          <p:cNvPr id="4" name="Shape 2"/>
          <p:cNvSpPr/>
          <p:nvPr/>
        </p:nvSpPr>
        <p:spPr>
          <a:xfrm>
            <a:off x="0" y="960120"/>
            <a:ext cx="9144000" cy="45720"/>
          </a:xfrm>
          <a:prstGeom prst="rect">
            <a:avLst/>
          </a:prstGeom>
          <a:solidFill>
            <a:srgbClr val="1A7A4A"/>
          </a:solidFill>
          <a:ln/>
        </p:spPr>
        <p:txBody>
          <a:bodyPr/>
          <a:lstStyle/>
          <a:p>
            <a:endParaRPr lang="en-US"/>
          </a:p>
        </p:txBody>
      </p:sp>
      <p:sp>
        <p:nvSpPr>
          <p:cNvPr id="5" name="Text 3"/>
          <p:cNvSpPr/>
          <p:nvPr/>
        </p:nvSpPr>
        <p:spPr>
          <a:xfrm>
            <a:off x="320040" y="73152"/>
            <a:ext cx="7772400" cy="502920"/>
          </a:xfrm>
          <a:prstGeom prst="rect">
            <a:avLst/>
          </a:prstGeom>
          <a:noFill/>
          <a:ln/>
        </p:spPr>
        <p:txBody>
          <a:bodyPr wrap="square" rtlCol="0" anchor="ctr"/>
          <a:lstStyle/>
          <a:p>
            <a:pPr marL="0" indent="0">
              <a:buNone/>
            </a:pPr>
            <a:r>
              <a:rPr lang="en-US" sz="2000" b="1" kern="0" spc="200" dirty="0">
                <a:solidFill>
                  <a:srgbClr val="FFFFFF"/>
                </a:solidFill>
                <a:latin typeface="Calibri" pitchFamily="34" charset="0"/>
                <a:ea typeface="Calibri" pitchFamily="34" charset="-122"/>
                <a:cs typeface="Calibri" pitchFamily="34" charset="-120"/>
              </a:rPr>
              <a:t>FIGURE 2</a:t>
            </a:r>
            <a:endParaRPr lang="en-US" sz="2000" dirty="0"/>
          </a:p>
        </p:txBody>
      </p:sp>
      <p:sp>
        <p:nvSpPr>
          <p:cNvPr id="6" name="Text 4"/>
          <p:cNvSpPr/>
          <p:nvPr/>
        </p:nvSpPr>
        <p:spPr>
          <a:xfrm>
            <a:off x="320040" y="548640"/>
            <a:ext cx="8412480" cy="347472"/>
          </a:xfrm>
          <a:prstGeom prst="rect">
            <a:avLst/>
          </a:prstGeom>
          <a:noFill/>
          <a:ln/>
        </p:spPr>
        <p:txBody>
          <a:bodyPr wrap="square" rtlCol="0" anchor="ctr"/>
          <a:lstStyle/>
          <a:p>
            <a:pPr marL="0" indent="0">
              <a:buNone/>
            </a:pPr>
            <a:r>
              <a:rPr lang="en-US" sz="1300" i="1" dirty="0">
                <a:solidFill>
                  <a:srgbClr val="D4A843"/>
                </a:solidFill>
                <a:latin typeface="Georgia" pitchFamily="34" charset="0"/>
                <a:ea typeface="Georgia" pitchFamily="34" charset="-122"/>
                <a:cs typeface="Georgia" pitchFamily="34" charset="-120"/>
              </a:rPr>
              <a:t>The Living CI Architecture: three layers, continuous flow.</a:t>
            </a:r>
            <a:endParaRPr lang="en-US" sz="1300" dirty="0"/>
          </a:p>
        </p:txBody>
      </p:sp>
      <p:sp>
        <p:nvSpPr>
          <p:cNvPr id="7" name="Shape 5"/>
          <p:cNvSpPr/>
          <p:nvPr/>
        </p:nvSpPr>
        <p:spPr>
          <a:xfrm>
            <a:off x="228600" y="1097280"/>
            <a:ext cx="8686800" cy="438912"/>
          </a:xfrm>
          <a:prstGeom prst="rect">
            <a:avLst/>
          </a:prstGeom>
          <a:solidFill>
            <a:srgbClr val="1A4A8A"/>
          </a:solidFill>
          <a:ln w="12700">
            <a:solidFill>
              <a:srgbClr val="1A4A8A"/>
            </a:solidFill>
            <a:prstDash val="solid"/>
          </a:ln>
        </p:spPr>
        <p:txBody>
          <a:bodyPr/>
          <a:lstStyle/>
          <a:p>
            <a:endParaRPr lang="en-US"/>
          </a:p>
        </p:txBody>
      </p:sp>
      <p:sp>
        <p:nvSpPr>
          <p:cNvPr id="8" name="Shape 6"/>
          <p:cNvSpPr/>
          <p:nvPr/>
        </p:nvSpPr>
        <p:spPr>
          <a:xfrm>
            <a:off x="292608" y="1143000"/>
            <a:ext cx="347472" cy="347472"/>
          </a:xfrm>
          <a:prstGeom prst="ellipse">
            <a:avLst/>
          </a:prstGeom>
          <a:solidFill>
            <a:srgbClr val="000000"/>
          </a:solidFill>
          <a:ln w="12700">
            <a:solidFill>
              <a:srgbClr val="000000"/>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338328" y="1188720"/>
            <a:ext cx="256032" cy="256032"/>
          </a:xfrm>
          <a:prstGeom prst="rect">
            <a:avLst/>
          </a:prstGeom>
        </p:spPr>
      </p:pic>
      <p:sp>
        <p:nvSpPr>
          <p:cNvPr id="10" name="Text 7"/>
          <p:cNvSpPr/>
          <p:nvPr/>
        </p:nvSpPr>
        <p:spPr>
          <a:xfrm>
            <a:off x="749808" y="1133856"/>
            <a:ext cx="3200400" cy="256032"/>
          </a:xfrm>
          <a:prstGeom prst="rect">
            <a:avLst/>
          </a:prstGeom>
          <a:noFill/>
          <a:ln/>
        </p:spPr>
        <p:txBody>
          <a:bodyPr wrap="square" rtlCol="0" anchor="ctr"/>
          <a:lstStyle/>
          <a:p>
            <a:pPr marL="0" indent="0">
              <a:buNone/>
            </a:pPr>
            <a:r>
              <a:rPr lang="en-US" sz="1100" b="1" kern="0" spc="100" dirty="0">
                <a:solidFill>
                  <a:srgbClr val="FFFFFF"/>
                </a:solidFill>
                <a:latin typeface="Calibri" pitchFamily="34" charset="0"/>
                <a:ea typeface="Calibri" pitchFamily="34" charset="-122"/>
                <a:cs typeface="Calibri" pitchFamily="34" charset="-120"/>
              </a:rPr>
              <a:t>SIGNAL LAYER</a:t>
            </a:r>
            <a:endParaRPr lang="en-US" sz="1100" dirty="0"/>
          </a:p>
        </p:txBody>
      </p:sp>
      <p:sp>
        <p:nvSpPr>
          <p:cNvPr id="11" name="Text 8"/>
          <p:cNvSpPr/>
          <p:nvPr/>
        </p:nvSpPr>
        <p:spPr>
          <a:xfrm>
            <a:off x="749808" y="1353312"/>
            <a:ext cx="3200400" cy="164592"/>
          </a:xfrm>
          <a:prstGeom prst="rect">
            <a:avLst/>
          </a:prstGeom>
          <a:noFill/>
          <a:ln/>
        </p:spPr>
        <p:txBody>
          <a:bodyPr wrap="square" rtlCol="0" anchor="ctr"/>
          <a:lstStyle/>
          <a:p>
            <a:pPr marL="0" indent="0">
              <a:buNone/>
            </a:pPr>
            <a:r>
              <a:rPr lang="en-US" sz="900" i="1" dirty="0">
                <a:solidFill>
                  <a:srgbClr val="B8C8D8"/>
                </a:solidFill>
                <a:latin typeface="Georgia" pitchFamily="34" charset="0"/>
                <a:ea typeface="Georgia" pitchFamily="34" charset="-122"/>
                <a:cs typeface="Georgia" pitchFamily="34" charset="-120"/>
              </a:rPr>
              <a:t>What gets monitored</a:t>
            </a:r>
            <a:endParaRPr lang="en-US" sz="900" dirty="0"/>
          </a:p>
        </p:txBody>
      </p:sp>
      <p:sp>
        <p:nvSpPr>
          <p:cNvPr id="12" name="Shape 9"/>
          <p:cNvSpPr/>
          <p:nvPr/>
        </p:nvSpPr>
        <p:spPr>
          <a:xfrm>
            <a:off x="228600" y="1591056"/>
            <a:ext cx="2834640" cy="365760"/>
          </a:xfrm>
          <a:prstGeom prst="rect">
            <a:avLst/>
          </a:prstGeom>
          <a:solidFill>
            <a:srgbClr val="FFFFFF"/>
          </a:solidFill>
          <a:ln w="12700">
            <a:solidFill>
              <a:srgbClr val="E0E8F0"/>
            </a:solidFill>
            <a:prstDash val="solid"/>
          </a:ln>
        </p:spPr>
        <p:txBody>
          <a:bodyPr/>
          <a:lstStyle/>
          <a:p>
            <a:endParaRPr lang="en-US"/>
          </a:p>
        </p:txBody>
      </p:sp>
      <p:sp>
        <p:nvSpPr>
          <p:cNvPr id="13" name="Shape 10"/>
          <p:cNvSpPr/>
          <p:nvPr/>
        </p:nvSpPr>
        <p:spPr>
          <a:xfrm>
            <a:off x="228600" y="1591056"/>
            <a:ext cx="45720" cy="365760"/>
          </a:xfrm>
          <a:prstGeom prst="rect">
            <a:avLst/>
          </a:prstGeom>
          <a:solidFill>
            <a:srgbClr val="1A4A8A"/>
          </a:solidFill>
          <a:ln w="12700">
            <a:solidFill>
              <a:srgbClr val="1A4A8A"/>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320040" y="1682496"/>
            <a:ext cx="182880" cy="182880"/>
          </a:xfrm>
          <a:prstGeom prst="rect">
            <a:avLst/>
          </a:prstGeom>
        </p:spPr>
      </p:pic>
      <p:sp>
        <p:nvSpPr>
          <p:cNvPr id="15" name="Text 11"/>
          <p:cNvSpPr/>
          <p:nvPr/>
        </p:nvSpPr>
        <p:spPr>
          <a:xfrm>
            <a:off x="557784" y="1627632"/>
            <a:ext cx="2377440" cy="292608"/>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Press releases &amp; blogs</a:t>
            </a:r>
            <a:endParaRPr lang="en-US" sz="950" dirty="0"/>
          </a:p>
        </p:txBody>
      </p:sp>
      <p:sp>
        <p:nvSpPr>
          <p:cNvPr id="16" name="Shape 12"/>
          <p:cNvSpPr/>
          <p:nvPr/>
        </p:nvSpPr>
        <p:spPr>
          <a:xfrm>
            <a:off x="3136392" y="1591056"/>
            <a:ext cx="2834640" cy="365760"/>
          </a:xfrm>
          <a:prstGeom prst="rect">
            <a:avLst/>
          </a:prstGeom>
          <a:solidFill>
            <a:srgbClr val="FFFFFF"/>
          </a:solidFill>
          <a:ln w="12700">
            <a:solidFill>
              <a:srgbClr val="E0E8F0"/>
            </a:solidFill>
            <a:prstDash val="solid"/>
          </a:ln>
        </p:spPr>
        <p:txBody>
          <a:bodyPr/>
          <a:lstStyle/>
          <a:p>
            <a:endParaRPr lang="en-US"/>
          </a:p>
        </p:txBody>
      </p:sp>
      <p:sp>
        <p:nvSpPr>
          <p:cNvPr id="17" name="Shape 13"/>
          <p:cNvSpPr/>
          <p:nvPr/>
        </p:nvSpPr>
        <p:spPr>
          <a:xfrm>
            <a:off x="3136392" y="1591056"/>
            <a:ext cx="45720" cy="365760"/>
          </a:xfrm>
          <a:prstGeom prst="rect">
            <a:avLst/>
          </a:prstGeom>
          <a:solidFill>
            <a:srgbClr val="1A4A8A"/>
          </a:solidFill>
          <a:ln w="12700">
            <a:solidFill>
              <a:srgbClr val="1A4A8A"/>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3227832" y="1682496"/>
            <a:ext cx="182880" cy="182880"/>
          </a:xfrm>
          <a:prstGeom prst="rect">
            <a:avLst/>
          </a:prstGeom>
        </p:spPr>
      </p:pic>
      <p:sp>
        <p:nvSpPr>
          <p:cNvPr id="19" name="Text 14"/>
          <p:cNvSpPr/>
          <p:nvPr/>
        </p:nvSpPr>
        <p:spPr>
          <a:xfrm>
            <a:off x="3465576" y="1627632"/>
            <a:ext cx="2377440" cy="292608"/>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G2 / TrustRadius reviews</a:t>
            </a:r>
            <a:endParaRPr lang="en-US" sz="950" dirty="0"/>
          </a:p>
        </p:txBody>
      </p:sp>
      <p:sp>
        <p:nvSpPr>
          <p:cNvPr id="20" name="Shape 15"/>
          <p:cNvSpPr/>
          <p:nvPr/>
        </p:nvSpPr>
        <p:spPr>
          <a:xfrm>
            <a:off x="6044184" y="1591056"/>
            <a:ext cx="2834640" cy="365760"/>
          </a:xfrm>
          <a:prstGeom prst="rect">
            <a:avLst/>
          </a:prstGeom>
          <a:solidFill>
            <a:srgbClr val="FFFFFF"/>
          </a:solidFill>
          <a:ln w="12700">
            <a:solidFill>
              <a:srgbClr val="E0E8F0"/>
            </a:solidFill>
            <a:prstDash val="solid"/>
          </a:ln>
        </p:spPr>
        <p:txBody>
          <a:bodyPr/>
          <a:lstStyle/>
          <a:p>
            <a:endParaRPr lang="en-US"/>
          </a:p>
        </p:txBody>
      </p:sp>
      <p:sp>
        <p:nvSpPr>
          <p:cNvPr id="21" name="Shape 16"/>
          <p:cNvSpPr/>
          <p:nvPr/>
        </p:nvSpPr>
        <p:spPr>
          <a:xfrm>
            <a:off x="6044184" y="1591056"/>
            <a:ext cx="45720" cy="365760"/>
          </a:xfrm>
          <a:prstGeom prst="rect">
            <a:avLst/>
          </a:prstGeom>
          <a:solidFill>
            <a:srgbClr val="1A4A8A"/>
          </a:solidFill>
          <a:ln w="12700">
            <a:solidFill>
              <a:srgbClr val="1A4A8A"/>
            </a:solidFill>
            <a:prstDash val="solid"/>
          </a:ln>
        </p:spPr>
        <p:txBody>
          <a:bodyPr/>
          <a:lstStyle/>
          <a:p>
            <a:endParaRPr lang="en-US"/>
          </a:p>
        </p:txBody>
      </p:sp>
      <p:pic>
        <p:nvPicPr>
          <p:cNvPr id="22" name="Image 3" descr="preencoded.png"/>
          <p:cNvPicPr>
            <a:picLocks noChangeAspect="1"/>
          </p:cNvPicPr>
          <p:nvPr/>
        </p:nvPicPr>
        <p:blipFill>
          <a:blip r:embed="rId6"/>
          <a:stretch>
            <a:fillRect/>
          </a:stretch>
        </p:blipFill>
        <p:spPr>
          <a:xfrm>
            <a:off x="6135624" y="1682496"/>
            <a:ext cx="182880" cy="182880"/>
          </a:xfrm>
          <a:prstGeom prst="rect">
            <a:avLst/>
          </a:prstGeom>
        </p:spPr>
      </p:pic>
      <p:sp>
        <p:nvSpPr>
          <p:cNvPr id="23" name="Text 17"/>
          <p:cNvSpPr/>
          <p:nvPr/>
        </p:nvSpPr>
        <p:spPr>
          <a:xfrm>
            <a:off x="6373368" y="1627632"/>
            <a:ext cx="2377440" cy="292608"/>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Job postings &amp; hiring</a:t>
            </a:r>
            <a:endParaRPr lang="en-US" sz="950" dirty="0"/>
          </a:p>
        </p:txBody>
      </p:sp>
      <p:sp>
        <p:nvSpPr>
          <p:cNvPr id="24" name="Shape 18"/>
          <p:cNvSpPr/>
          <p:nvPr/>
        </p:nvSpPr>
        <p:spPr>
          <a:xfrm>
            <a:off x="228600" y="2011680"/>
            <a:ext cx="2834640" cy="365760"/>
          </a:xfrm>
          <a:prstGeom prst="rect">
            <a:avLst/>
          </a:prstGeom>
          <a:solidFill>
            <a:srgbClr val="FFFFFF"/>
          </a:solidFill>
          <a:ln w="12700">
            <a:solidFill>
              <a:srgbClr val="E0E8F0"/>
            </a:solidFill>
            <a:prstDash val="solid"/>
          </a:ln>
        </p:spPr>
        <p:txBody>
          <a:bodyPr/>
          <a:lstStyle/>
          <a:p>
            <a:endParaRPr lang="en-US"/>
          </a:p>
        </p:txBody>
      </p:sp>
      <p:sp>
        <p:nvSpPr>
          <p:cNvPr id="25" name="Shape 19"/>
          <p:cNvSpPr/>
          <p:nvPr/>
        </p:nvSpPr>
        <p:spPr>
          <a:xfrm>
            <a:off x="228600" y="2011680"/>
            <a:ext cx="45720" cy="365760"/>
          </a:xfrm>
          <a:prstGeom prst="rect">
            <a:avLst/>
          </a:prstGeom>
          <a:solidFill>
            <a:srgbClr val="1A4A8A"/>
          </a:solidFill>
          <a:ln w="12700">
            <a:solidFill>
              <a:srgbClr val="1A4A8A"/>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320040" y="2103120"/>
            <a:ext cx="182880" cy="182880"/>
          </a:xfrm>
          <a:prstGeom prst="rect">
            <a:avLst/>
          </a:prstGeom>
        </p:spPr>
      </p:pic>
      <p:sp>
        <p:nvSpPr>
          <p:cNvPr id="27" name="Text 20"/>
          <p:cNvSpPr/>
          <p:nvPr/>
        </p:nvSpPr>
        <p:spPr>
          <a:xfrm>
            <a:off x="557784" y="2048256"/>
            <a:ext cx="2377440" cy="292608"/>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Earnings calls &amp; filings</a:t>
            </a:r>
            <a:endParaRPr lang="en-US" sz="950" dirty="0"/>
          </a:p>
        </p:txBody>
      </p:sp>
      <p:sp>
        <p:nvSpPr>
          <p:cNvPr id="28" name="Shape 21"/>
          <p:cNvSpPr/>
          <p:nvPr/>
        </p:nvSpPr>
        <p:spPr>
          <a:xfrm>
            <a:off x="3136392" y="2011680"/>
            <a:ext cx="2834640" cy="365760"/>
          </a:xfrm>
          <a:prstGeom prst="rect">
            <a:avLst/>
          </a:prstGeom>
          <a:solidFill>
            <a:srgbClr val="FFFFFF"/>
          </a:solidFill>
          <a:ln w="12700">
            <a:solidFill>
              <a:srgbClr val="E0E8F0"/>
            </a:solidFill>
            <a:prstDash val="solid"/>
          </a:ln>
        </p:spPr>
        <p:txBody>
          <a:bodyPr/>
          <a:lstStyle/>
          <a:p>
            <a:endParaRPr lang="en-US"/>
          </a:p>
        </p:txBody>
      </p:sp>
      <p:sp>
        <p:nvSpPr>
          <p:cNvPr id="29" name="Shape 22"/>
          <p:cNvSpPr/>
          <p:nvPr/>
        </p:nvSpPr>
        <p:spPr>
          <a:xfrm>
            <a:off x="3136392" y="2011680"/>
            <a:ext cx="45720" cy="365760"/>
          </a:xfrm>
          <a:prstGeom prst="rect">
            <a:avLst/>
          </a:prstGeom>
          <a:solidFill>
            <a:srgbClr val="1A4A8A"/>
          </a:solidFill>
          <a:ln w="12700">
            <a:solidFill>
              <a:srgbClr val="1A4A8A"/>
            </a:solidFill>
            <a:prstDash val="solid"/>
          </a:ln>
        </p:spPr>
        <p:txBody>
          <a:bodyPr/>
          <a:lstStyle/>
          <a:p>
            <a:endParaRPr lang="en-US"/>
          </a:p>
        </p:txBody>
      </p:sp>
      <p:pic>
        <p:nvPicPr>
          <p:cNvPr id="30" name="Image 5" descr="preencoded.png"/>
          <p:cNvPicPr>
            <a:picLocks noChangeAspect="1"/>
          </p:cNvPicPr>
          <p:nvPr/>
        </p:nvPicPr>
        <p:blipFill>
          <a:blip r:embed="rId8"/>
          <a:stretch>
            <a:fillRect/>
          </a:stretch>
        </p:blipFill>
        <p:spPr>
          <a:xfrm>
            <a:off x="3227832" y="2103120"/>
            <a:ext cx="182880" cy="182880"/>
          </a:xfrm>
          <a:prstGeom prst="rect">
            <a:avLst/>
          </a:prstGeom>
        </p:spPr>
      </p:pic>
      <p:sp>
        <p:nvSpPr>
          <p:cNvPr id="31" name="Text 23"/>
          <p:cNvSpPr/>
          <p:nvPr/>
        </p:nvSpPr>
        <p:spPr>
          <a:xfrm>
            <a:off x="3465576" y="2048256"/>
            <a:ext cx="2377440" cy="292608"/>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Social &amp; community</a:t>
            </a:r>
            <a:endParaRPr lang="en-US" sz="950" dirty="0"/>
          </a:p>
        </p:txBody>
      </p:sp>
      <p:sp>
        <p:nvSpPr>
          <p:cNvPr id="32" name="Shape 24"/>
          <p:cNvSpPr/>
          <p:nvPr/>
        </p:nvSpPr>
        <p:spPr>
          <a:xfrm>
            <a:off x="6044184" y="2011680"/>
            <a:ext cx="2834640" cy="365760"/>
          </a:xfrm>
          <a:prstGeom prst="rect">
            <a:avLst/>
          </a:prstGeom>
          <a:solidFill>
            <a:srgbClr val="FFFFFF"/>
          </a:solidFill>
          <a:ln w="12700">
            <a:solidFill>
              <a:srgbClr val="E0E8F0"/>
            </a:solidFill>
            <a:prstDash val="solid"/>
          </a:ln>
        </p:spPr>
        <p:txBody>
          <a:bodyPr/>
          <a:lstStyle/>
          <a:p>
            <a:endParaRPr lang="en-US"/>
          </a:p>
        </p:txBody>
      </p:sp>
      <p:sp>
        <p:nvSpPr>
          <p:cNvPr id="33" name="Shape 25"/>
          <p:cNvSpPr/>
          <p:nvPr/>
        </p:nvSpPr>
        <p:spPr>
          <a:xfrm>
            <a:off x="6044184" y="2011680"/>
            <a:ext cx="45720" cy="365760"/>
          </a:xfrm>
          <a:prstGeom prst="rect">
            <a:avLst/>
          </a:prstGeom>
          <a:solidFill>
            <a:srgbClr val="1A4A8A"/>
          </a:solidFill>
          <a:ln w="12700">
            <a:solidFill>
              <a:srgbClr val="1A4A8A"/>
            </a:solidFill>
            <a:prstDash val="solid"/>
          </a:ln>
        </p:spPr>
        <p:txBody>
          <a:bodyPr/>
          <a:lstStyle/>
          <a:p>
            <a:endParaRPr lang="en-US"/>
          </a:p>
        </p:txBody>
      </p:sp>
      <p:pic>
        <p:nvPicPr>
          <p:cNvPr id="34" name="Image 6" descr="preencoded.png"/>
          <p:cNvPicPr>
            <a:picLocks noChangeAspect="1"/>
          </p:cNvPicPr>
          <p:nvPr/>
        </p:nvPicPr>
        <p:blipFill>
          <a:blip r:embed="rId9"/>
          <a:stretch>
            <a:fillRect/>
          </a:stretch>
        </p:blipFill>
        <p:spPr>
          <a:xfrm>
            <a:off x="6135624" y="2103120"/>
            <a:ext cx="182880" cy="182880"/>
          </a:xfrm>
          <a:prstGeom prst="rect">
            <a:avLst/>
          </a:prstGeom>
        </p:spPr>
      </p:pic>
      <p:sp>
        <p:nvSpPr>
          <p:cNvPr id="35" name="Text 26"/>
          <p:cNvSpPr/>
          <p:nvPr/>
        </p:nvSpPr>
        <p:spPr>
          <a:xfrm>
            <a:off x="6373368" y="2048256"/>
            <a:ext cx="2377440" cy="292608"/>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Win/loss call transcripts</a:t>
            </a:r>
            <a:endParaRPr lang="en-US" sz="950" dirty="0"/>
          </a:p>
        </p:txBody>
      </p:sp>
      <p:sp>
        <p:nvSpPr>
          <p:cNvPr id="36" name="Text 27"/>
          <p:cNvSpPr/>
          <p:nvPr/>
        </p:nvSpPr>
        <p:spPr>
          <a:xfrm>
            <a:off x="4206240" y="2414016"/>
            <a:ext cx="274320" cy="292608"/>
          </a:xfrm>
          <a:prstGeom prst="rect">
            <a:avLst/>
          </a:prstGeom>
          <a:noFill/>
          <a:ln/>
        </p:spPr>
        <p:txBody>
          <a:bodyPr wrap="square" rtlCol="0" anchor="ctr"/>
          <a:lstStyle/>
          <a:p>
            <a:pPr marL="0" indent="0" algn="ctr">
              <a:buNone/>
            </a:pPr>
            <a:r>
              <a:rPr lang="en-US" sz="1800" b="1" dirty="0">
                <a:solidFill>
                  <a:srgbClr val="1A7A4A"/>
                </a:solidFill>
                <a:latin typeface="Calibri" pitchFamily="34" charset="0"/>
                <a:ea typeface="Calibri" pitchFamily="34" charset="-122"/>
                <a:cs typeface="Calibri" pitchFamily="34" charset="-120"/>
              </a:rPr>
              <a:t>↓</a:t>
            </a:r>
            <a:endParaRPr lang="en-US" sz="1800" dirty="0"/>
          </a:p>
        </p:txBody>
      </p:sp>
      <p:sp>
        <p:nvSpPr>
          <p:cNvPr id="37" name="Shape 28"/>
          <p:cNvSpPr/>
          <p:nvPr/>
        </p:nvSpPr>
        <p:spPr>
          <a:xfrm>
            <a:off x="228600" y="2633472"/>
            <a:ext cx="8686800" cy="438912"/>
          </a:xfrm>
          <a:prstGeom prst="rect">
            <a:avLst/>
          </a:prstGeom>
          <a:solidFill>
            <a:srgbClr val="0F2B5B"/>
          </a:solidFill>
          <a:ln w="12700">
            <a:solidFill>
              <a:srgbClr val="0F2B5B"/>
            </a:solidFill>
            <a:prstDash val="solid"/>
          </a:ln>
        </p:spPr>
        <p:txBody>
          <a:bodyPr/>
          <a:lstStyle/>
          <a:p>
            <a:endParaRPr lang="en-US"/>
          </a:p>
        </p:txBody>
      </p:sp>
      <p:sp>
        <p:nvSpPr>
          <p:cNvPr id="38" name="Shape 29"/>
          <p:cNvSpPr/>
          <p:nvPr/>
        </p:nvSpPr>
        <p:spPr>
          <a:xfrm>
            <a:off x="292608" y="2679192"/>
            <a:ext cx="347472" cy="347472"/>
          </a:xfrm>
          <a:prstGeom prst="ellipse">
            <a:avLst/>
          </a:prstGeom>
          <a:solidFill>
            <a:srgbClr val="000000"/>
          </a:solidFill>
          <a:ln w="12700">
            <a:solidFill>
              <a:srgbClr val="000000"/>
            </a:solidFill>
            <a:prstDash val="solid"/>
          </a:ln>
        </p:spPr>
        <p:txBody>
          <a:bodyPr/>
          <a:lstStyle/>
          <a:p>
            <a:endParaRPr lang="en-US"/>
          </a:p>
        </p:txBody>
      </p:sp>
      <p:pic>
        <p:nvPicPr>
          <p:cNvPr id="39" name="Image 7" descr="preencoded.png"/>
          <p:cNvPicPr>
            <a:picLocks noChangeAspect="1"/>
          </p:cNvPicPr>
          <p:nvPr/>
        </p:nvPicPr>
        <p:blipFill>
          <a:blip r:embed="rId10"/>
          <a:stretch>
            <a:fillRect/>
          </a:stretch>
        </p:blipFill>
        <p:spPr>
          <a:xfrm>
            <a:off x="338328" y="2724912"/>
            <a:ext cx="256032" cy="256032"/>
          </a:xfrm>
          <a:prstGeom prst="rect">
            <a:avLst/>
          </a:prstGeom>
        </p:spPr>
      </p:pic>
      <p:sp>
        <p:nvSpPr>
          <p:cNvPr id="40" name="Text 30"/>
          <p:cNvSpPr/>
          <p:nvPr/>
        </p:nvSpPr>
        <p:spPr>
          <a:xfrm>
            <a:off x="749808" y="2670048"/>
            <a:ext cx="3200400" cy="256032"/>
          </a:xfrm>
          <a:prstGeom prst="rect">
            <a:avLst/>
          </a:prstGeom>
          <a:noFill/>
          <a:ln/>
        </p:spPr>
        <p:txBody>
          <a:bodyPr wrap="square" rtlCol="0" anchor="ctr"/>
          <a:lstStyle/>
          <a:p>
            <a:pPr marL="0" indent="0">
              <a:buNone/>
            </a:pPr>
            <a:r>
              <a:rPr lang="en-US" sz="1100" b="1" kern="0" spc="100" dirty="0">
                <a:solidFill>
                  <a:srgbClr val="FFFFFF"/>
                </a:solidFill>
                <a:latin typeface="Calibri" pitchFamily="34" charset="0"/>
                <a:ea typeface="Calibri" pitchFamily="34" charset="-122"/>
                <a:cs typeface="Calibri" pitchFamily="34" charset="-120"/>
              </a:rPr>
              <a:t>ANALYSIS LAYER</a:t>
            </a:r>
            <a:endParaRPr lang="en-US" sz="1100" dirty="0"/>
          </a:p>
        </p:txBody>
      </p:sp>
      <p:sp>
        <p:nvSpPr>
          <p:cNvPr id="41" name="Text 31"/>
          <p:cNvSpPr/>
          <p:nvPr/>
        </p:nvSpPr>
        <p:spPr>
          <a:xfrm>
            <a:off x="749808" y="2889504"/>
            <a:ext cx="3200400" cy="164592"/>
          </a:xfrm>
          <a:prstGeom prst="rect">
            <a:avLst/>
          </a:prstGeom>
          <a:noFill/>
          <a:ln/>
        </p:spPr>
        <p:txBody>
          <a:bodyPr wrap="square" rtlCol="0" anchor="ctr"/>
          <a:lstStyle/>
          <a:p>
            <a:pPr marL="0" indent="0">
              <a:buNone/>
            </a:pPr>
            <a:r>
              <a:rPr lang="en-US" sz="900" i="1" dirty="0">
                <a:solidFill>
                  <a:srgbClr val="B8C8D8"/>
                </a:solidFill>
                <a:latin typeface="Georgia" pitchFamily="34" charset="0"/>
                <a:ea typeface="Georgia" pitchFamily="34" charset="-122"/>
                <a:cs typeface="Georgia" pitchFamily="34" charset="-120"/>
              </a:rPr>
              <a:t>What agents do with signals</a:t>
            </a:r>
            <a:endParaRPr lang="en-US" sz="900" dirty="0"/>
          </a:p>
        </p:txBody>
      </p:sp>
      <p:sp>
        <p:nvSpPr>
          <p:cNvPr id="42" name="Shape 32"/>
          <p:cNvSpPr/>
          <p:nvPr/>
        </p:nvSpPr>
        <p:spPr>
          <a:xfrm>
            <a:off x="228600" y="3127248"/>
            <a:ext cx="2834640" cy="365760"/>
          </a:xfrm>
          <a:prstGeom prst="rect">
            <a:avLst/>
          </a:prstGeom>
          <a:solidFill>
            <a:srgbClr val="FFFFFF"/>
          </a:solidFill>
          <a:ln w="12700">
            <a:solidFill>
              <a:srgbClr val="E0E8F0"/>
            </a:solidFill>
            <a:prstDash val="solid"/>
          </a:ln>
        </p:spPr>
        <p:txBody>
          <a:bodyPr/>
          <a:lstStyle/>
          <a:p>
            <a:endParaRPr lang="en-US"/>
          </a:p>
        </p:txBody>
      </p:sp>
      <p:sp>
        <p:nvSpPr>
          <p:cNvPr id="43" name="Shape 33"/>
          <p:cNvSpPr/>
          <p:nvPr/>
        </p:nvSpPr>
        <p:spPr>
          <a:xfrm>
            <a:off x="228600" y="3127248"/>
            <a:ext cx="45720" cy="365760"/>
          </a:xfrm>
          <a:prstGeom prst="rect">
            <a:avLst/>
          </a:prstGeom>
          <a:solidFill>
            <a:srgbClr val="0F2B5B"/>
          </a:solidFill>
          <a:ln w="12700">
            <a:solidFill>
              <a:srgbClr val="0F2B5B"/>
            </a:solidFill>
            <a:prstDash val="solid"/>
          </a:ln>
        </p:spPr>
        <p:txBody>
          <a:bodyPr/>
          <a:lstStyle/>
          <a:p>
            <a:endParaRPr lang="en-US"/>
          </a:p>
        </p:txBody>
      </p:sp>
      <p:pic>
        <p:nvPicPr>
          <p:cNvPr id="44" name="Image 8" descr="preencoded.png"/>
          <p:cNvPicPr>
            <a:picLocks noChangeAspect="1"/>
          </p:cNvPicPr>
          <p:nvPr/>
        </p:nvPicPr>
        <p:blipFill>
          <a:blip r:embed="rId10"/>
          <a:stretch>
            <a:fillRect/>
          </a:stretch>
        </p:blipFill>
        <p:spPr>
          <a:xfrm>
            <a:off x="320040" y="3218688"/>
            <a:ext cx="182880" cy="182880"/>
          </a:xfrm>
          <a:prstGeom prst="rect">
            <a:avLst/>
          </a:prstGeom>
        </p:spPr>
      </p:pic>
      <p:sp>
        <p:nvSpPr>
          <p:cNvPr id="45" name="Text 34"/>
          <p:cNvSpPr/>
          <p:nvPr/>
        </p:nvSpPr>
        <p:spPr>
          <a:xfrm>
            <a:off x="557784" y="3163824"/>
            <a:ext cx="2377440" cy="292608"/>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Pattern detection across sources</a:t>
            </a:r>
            <a:endParaRPr lang="en-US" sz="950" dirty="0"/>
          </a:p>
        </p:txBody>
      </p:sp>
      <p:sp>
        <p:nvSpPr>
          <p:cNvPr id="46" name="Shape 35"/>
          <p:cNvSpPr/>
          <p:nvPr/>
        </p:nvSpPr>
        <p:spPr>
          <a:xfrm>
            <a:off x="3136392" y="3127248"/>
            <a:ext cx="2834640" cy="365760"/>
          </a:xfrm>
          <a:prstGeom prst="rect">
            <a:avLst/>
          </a:prstGeom>
          <a:solidFill>
            <a:srgbClr val="FFFFFF"/>
          </a:solidFill>
          <a:ln w="12700">
            <a:solidFill>
              <a:srgbClr val="E0E8F0"/>
            </a:solidFill>
            <a:prstDash val="solid"/>
          </a:ln>
        </p:spPr>
        <p:txBody>
          <a:bodyPr/>
          <a:lstStyle/>
          <a:p>
            <a:endParaRPr lang="en-US"/>
          </a:p>
        </p:txBody>
      </p:sp>
      <p:sp>
        <p:nvSpPr>
          <p:cNvPr id="47" name="Shape 36"/>
          <p:cNvSpPr/>
          <p:nvPr/>
        </p:nvSpPr>
        <p:spPr>
          <a:xfrm>
            <a:off x="3136392" y="3127248"/>
            <a:ext cx="45720" cy="365760"/>
          </a:xfrm>
          <a:prstGeom prst="rect">
            <a:avLst/>
          </a:prstGeom>
          <a:solidFill>
            <a:srgbClr val="0F2B5B"/>
          </a:solidFill>
          <a:ln w="12700">
            <a:solidFill>
              <a:srgbClr val="0F2B5B"/>
            </a:solidFill>
            <a:prstDash val="solid"/>
          </a:ln>
        </p:spPr>
        <p:txBody>
          <a:bodyPr/>
          <a:lstStyle/>
          <a:p>
            <a:endParaRPr lang="en-US"/>
          </a:p>
        </p:txBody>
      </p:sp>
      <p:pic>
        <p:nvPicPr>
          <p:cNvPr id="48" name="Image 9" descr="preencoded.png"/>
          <p:cNvPicPr>
            <a:picLocks noChangeAspect="1"/>
          </p:cNvPicPr>
          <p:nvPr/>
        </p:nvPicPr>
        <p:blipFill>
          <a:blip r:embed="rId11"/>
          <a:stretch>
            <a:fillRect/>
          </a:stretch>
        </p:blipFill>
        <p:spPr>
          <a:xfrm>
            <a:off x="3227832" y="3218688"/>
            <a:ext cx="182880" cy="182880"/>
          </a:xfrm>
          <a:prstGeom prst="rect">
            <a:avLst/>
          </a:prstGeom>
        </p:spPr>
      </p:pic>
      <p:sp>
        <p:nvSpPr>
          <p:cNvPr id="49" name="Text 37"/>
          <p:cNvSpPr/>
          <p:nvPr/>
        </p:nvSpPr>
        <p:spPr>
          <a:xfrm>
            <a:off x="3465576" y="3163824"/>
            <a:ext cx="2377440" cy="292608"/>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Change-delta vs. last snapshot</a:t>
            </a:r>
            <a:endParaRPr lang="en-US" sz="950" dirty="0"/>
          </a:p>
        </p:txBody>
      </p:sp>
      <p:sp>
        <p:nvSpPr>
          <p:cNvPr id="50" name="Shape 38"/>
          <p:cNvSpPr/>
          <p:nvPr/>
        </p:nvSpPr>
        <p:spPr>
          <a:xfrm>
            <a:off x="6044184" y="3127248"/>
            <a:ext cx="2834640" cy="365760"/>
          </a:xfrm>
          <a:prstGeom prst="rect">
            <a:avLst/>
          </a:prstGeom>
          <a:solidFill>
            <a:srgbClr val="FFFFFF"/>
          </a:solidFill>
          <a:ln w="12700">
            <a:solidFill>
              <a:srgbClr val="E0E8F0"/>
            </a:solidFill>
            <a:prstDash val="solid"/>
          </a:ln>
        </p:spPr>
        <p:txBody>
          <a:bodyPr/>
          <a:lstStyle/>
          <a:p>
            <a:endParaRPr lang="en-US"/>
          </a:p>
        </p:txBody>
      </p:sp>
      <p:sp>
        <p:nvSpPr>
          <p:cNvPr id="51" name="Shape 39"/>
          <p:cNvSpPr/>
          <p:nvPr/>
        </p:nvSpPr>
        <p:spPr>
          <a:xfrm>
            <a:off x="6044184" y="3127248"/>
            <a:ext cx="45720" cy="365760"/>
          </a:xfrm>
          <a:prstGeom prst="rect">
            <a:avLst/>
          </a:prstGeom>
          <a:solidFill>
            <a:srgbClr val="0F2B5B"/>
          </a:solidFill>
          <a:ln w="12700">
            <a:solidFill>
              <a:srgbClr val="0F2B5B"/>
            </a:solidFill>
            <a:prstDash val="solid"/>
          </a:ln>
        </p:spPr>
        <p:txBody>
          <a:bodyPr/>
          <a:lstStyle/>
          <a:p>
            <a:endParaRPr lang="en-US"/>
          </a:p>
        </p:txBody>
      </p:sp>
      <p:pic>
        <p:nvPicPr>
          <p:cNvPr id="52" name="Image 10" descr="preencoded.png"/>
          <p:cNvPicPr>
            <a:picLocks noChangeAspect="1"/>
          </p:cNvPicPr>
          <p:nvPr/>
        </p:nvPicPr>
        <p:blipFill>
          <a:blip r:embed="rId7"/>
          <a:stretch>
            <a:fillRect/>
          </a:stretch>
        </p:blipFill>
        <p:spPr>
          <a:xfrm>
            <a:off x="6135624" y="3218688"/>
            <a:ext cx="182880" cy="182880"/>
          </a:xfrm>
          <a:prstGeom prst="rect">
            <a:avLst/>
          </a:prstGeom>
        </p:spPr>
      </p:pic>
      <p:sp>
        <p:nvSpPr>
          <p:cNvPr id="53" name="Text 40"/>
          <p:cNvSpPr/>
          <p:nvPr/>
        </p:nvSpPr>
        <p:spPr>
          <a:xfrm>
            <a:off x="6373368" y="3163824"/>
            <a:ext cx="2377440" cy="292608"/>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Sentiment shift in reviews</a:t>
            </a:r>
            <a:endParaRPr lang="en-US" sz="950" dirty="0"/>
          </a:p>
        </p:txBody>
      </p:sp>
      <p:sp>
        <p:nvSpPr>
          <p:cNvPr id="54" name="Shape 41"/>
          <p:cNvSpPr/>
          <p:nvPr/>
        </p:nvSpPr>
        <p:spPr>
          <a:xfrm>
            <a:off x="228600" y="3547872"/>
            <a:ext cx="2834640" cy="365760"/>
          </a:xfrm>
          <a:prstGeom prst="rect">
            <a:avLst/>
          </a:prstGeom>
          <a:solidFill>
            <a:srgbClr val="FFFFFF"/>
          </a:solidFill>
          <a:ln w="12700">
            <a:solidFill>
              <a:srgbClr val="E0E8F0"/>
            </a:solidFill>
            <a:prstDash val="solid"/>
          </a:ln>
        </p:spPr>
        <p:txBody>
          <a:bodyPr/>
          <a:lstStyle/>
          <a:p>
            <a:endParaRPr lang="en-US"/>
          </a:p>
        </p:txBody>
      </p:sp>
      <p:sp>
        <p:nvSpPr>
          <p:cNvPr id="55" name="Shape 42"/>
          <p:cNvSpPr/>
          <p:nvPr/>
        </p:nvSpPr>
        <p:spPr>
          <a:xfrm>
            <a:off x="228600" y="3547872"/>
            <a:ext cx="45720" cy="365760"/>
          </a:xfrm>
          <a:prstGeom prst="rect">
            <a:avLst/>
          </a:prstGeom>
          <a:solidFill>
            <a:srgbClr val="0F2B5B"/>
          </a:solidFill>
          <a:ln w="12700">
            <a:solidFill>
              <a:srgbClr val="0F2B5B"/>
            </a:solidFill>
            <a:prstDash val="solid"/>
          </a:ln>
        </p:spPr>
        <p:txBody>
          <a:bodyPr/>
          <a:lstStyle/>
          <a:p>
            <a:endParaRPr lang="en-US"/>
          </a:p>
        </p:txBody>
      </p:sp>
      <p:pic>
        <p:nvPicPr>
          <p:cNvPr id="56" name="Image 11" descr="preencoded.png"/>
          <p:cNvPicPr>
            <a:picLocks noChangeAspect="1"/>
          </p:cNvPicPr>
          <p:nvPr/>
        </p:nvPicPr>
        <p:blipFill>
          <a:blip r:embed="rId12"/>
          <a:stretch>
            <a:fillRect/>
          </a:stretch>
        </p:blipFill>
        <p:spPr>
          <a:xfrm>
            <a:off x="320040" y="3639312"/>
            <a:ext cx="182880" cy="182880"/>
          </a:xfrm>
          <a:prstGeom prst="rect">
            <a:avLst/>
          </a:prstGeom>
        </p:spPr>
      </p:pic>
      <p:sp>
        <p:nvSpPr>
          <p:cNvPr id="57" name="Text 43"/>
          <p:cNvSpPr/>
          <p:nvPr/>
        </p:nvSpPr>
        <p:spPr>
          <a:xfrm>
            <a:off x="557784" y="3584448"/>
            <a:ext cx="2377440" cy="292608"/>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Draft battlecard update sections</a:t>
            </a:r>
            <a:endParaRPr lang="en-US" sz="950" dirty="0"/>
          </a:p>
        </p:txBody>
      </p:sp>
      <p:sp>
        <p:nvSpPr>
          <p:cNvPr id="58" name="Shape 44"/>
          <p:cNvSpPr/>
          <p:nvPr/>
        </p:nvSpPr>
        <p:spPr>
          <a:xfrm>
            <a:off x="3136392" y="3547872"/>
            <a:ext cx="2834640" cy="365760"/>
          </a:xfrm>
          <a:prstGeom prst="rect">
            <a:avLst/>
          </a:prstGeom>
          <a:solidFill>
            <a:srgbClr val="FFFFFF"/>
          </a:solidFill>
          <a:ln w="12700">
            <a:solidFill>
              <a:srgbClr val="E0E8F0"/>
            </a:solidFill>
            <a:prstDash val="solid"/>
          </a:ln>
        </p:spPr>
        <p:txBody>
          <a:bodyPr/>
          <a:lstStyle/>
          <a:p>
            <a:endParaRPr lang="en-US"/>
          </a:p>
        </p:txBody>
      </p:sp>
      <p:sp>
        <p:nvSpPr>
          <p:cNvPr id="59" name="Shape 45"/>
          <p:cNvSpPr/>
          <p:nvPr/>
        </p:nvSpPr>
        <p:spPr>
          <a:xfrm>
            <a:off x="3136392" y="3547872"/>
            <a:ext cx="45720" cy="365760"/>
          </a:xfrm>
          <a:prstGeom prst="rect">
            <a:avLst/>
          </a:prstGeom>
          <a:solidFill>
            <a:srgbClr val="0F2B5B"/>
          </a:solidFill>
          <a:ln w="12700">
            <a:solidFill>
              <a:srgbClr val="0F2B5B"/>
            </a:solidFill>
            <a:prstDash val="solid"/>
          </a:ln>
        </p:spPr>
        <p:txBody>
          <a:bodyPr/>
          <a:lstStyle/>
          <a:p>
            <a:endParaRPr lang="en-US"/>
          </a:p>
        </p:txBody>
      </p:sp>
      <p:pic>
        <p:nvPicPr>
          <p:cNvPr id="60" name="Image 12" descr="preencoded.png"/>
          <p:cNvPicPr>
            <a:picLocks noChangeAspect="1"/>
          </p:cNvPicPr>
          <p:nvPr/>
        </p:nvPicPr>
        <p:blipFill>
          <a:blip r:embed="rId13"/>
          <a:stretch>
            <a:fillRect/>
          </a:stretch>
        </p:blipFill>
        <p:spPr>
          <a:xfrm>
            <a:off x="3227832" y="3639312"/>
            <a:ext cx="182880" cy="182880"/>
          </a:xfrm>
          <a:prstGeom prst="rect">
            <a:avLst/>
          </a:prstGeom>
        </p:spPr>
      </p:pic>
      <p:sp>
        <p:nvSpPr>
          <p:cNvPr id="61" name="Text 46"/>
          <p:cNvSpPr/>
          <p:nvPr/>
        </p:nvSpPr>
        <p:spPr>
          <a:xfrm>
            <a:off x="3465576" y="3584448"/>
            <a:ext cx="2377440" cy="292608"/>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Flag high-priority alerts</a:t>
            </a:r>
            <a:endParaRPr lang="en-US" sz="950" dirty="0"/>
          </a:p>
        </p:txBody>
      </p:sp>
      <p:sp>
        <p:nvSpPr>
          <p:cNvPr id="62" name="Shape 47"/>
          <p:cNvSpPr/>
          <p:nvPr/>
        </p:nvSpPr>
        <p:spPr>
          <a:xfrm>
            <a:off x="6044184" y="3547872"/>
            <a:ext cx="2834640" cy="365760"/>
          </a:xfrm>
          <a:prstGeom prst="rect">
            <a:avLst/>
          </a:prstGeom>
          <a:solidFill>
            <a:srgbClr val="FFFFFF"/>
          </a:solidFill>
          <a:ln w="12700">
            <a:solidFill>
              <a:srgbClr val="E0E8F0"/>
            </a:solidFill>
            <a:prstDash val="solid"/>
          </a:ln>
        </p:spPr>
        <p:txBody>
          <a:bodyPr/>
          <a:lstStyle/>
          <a:p>
            <a:endParaRPr lang="en-US"/>
          </a:p>
        </p:txBody>
      </p:sp>
      <p:sp>
        <p:nvSpPr>
          <p:cNvPr id="63" name="Shape 48"/>
          <p:cNvSpPr/>
          <p:nvPr/>
        </p:nvSpPr>
        <p:spPr>
          <a:xfrm>
            <a:off x="6044184" y="3547872"/>
            <a:ext cx="45720" cy="365760"/>
          </a:xfrm>
          <a:prstGeom prst="rect">
            <a:avLst/>
          </a:prstGeom>
          <a:solidFill>
            <a:srgbClr val="0F2B5B"/>
          </a:solidFill>
          <a:ln w="12700">
            <a:solidFill>
              <a:srgbClr val="0F2B5B"/>
            </a:solidFill>
            <a:prstDash val="solid"/>
          </a:ln>
        </p:spPr>
        <p:txBody>
          <a:bodyPr/>
          <a:lstStyle/>
          <a:p>
            <a:endParaRPr lang="en-US"/>
          </a:p>
        </p:txBody>
      </p:sp>
      <p:pic>
        <p:nvPicPr>
          <p:cNvPr id="64" name="Image 13" descr="preencoded.png"/>
          <p:cNvPicPr>
            <a:picLocks noChangeAspect="1"/>
          </p:cNvPicPr>
          <p:nvPr/>
        </p:nvPicPr>
        <p:blipFill>
          <a:blip r:embed="rId14"/>
          <a:stretch>
            <a:fillRect/>
          </a:stretch>
        </p:blipFill>
        <p:spPr>
          <a:xfrm>
            <a:off x="6135624" y="3639312"/>
            <a:ext cx="182880" cy="182880"/>
          </a:xfrm>
          <a:prstGeom prst="rect">
            <a:avLst/>
          </a:prstGeom>
        </p:spPr>
      </p:pic>
      <p:sp>
        <p:nvSpPr>
          <p:cNvPr id="65" name="Text 49"/>
          <p:cNvSpPr/>
          <p:nvPr/>
        </p:nvSpPr>
        <p:spPr>
          <a:xfrm>
            <a:off x="6373368" y="3584448"/>
            <a:ext cx="2377440" cy="292608"/>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Link signal to open deals in CRM</a:t>
            </a:r>
            <a:endParaRPr lang="en-US" sz="950" dirty="0"/>
          </a:p>
        </p:txBody>
      </p:sp>
      <p:sp>
        <p:nvSpPr>
          <p:cNvPr id="66" name="Text 50"/>
          <p:cNvSpPr/>
          <p:nvPr/>
        </p:nvSpPr>
        <p:spPr>
          <a:xfrm>
            <a:off x="4206240" y="3950208"/>
            <a:ext cx="274320" cy="292608"/>
          </a:xfrm>
          <a:prstGeom prst="rect">
            <a:avLst/>
          </a:prstGeom>
          <a:noFill/>
          <a:ln/>
        </p:spPr>
        <p:txBody>
          <a:bodyPr wrap="square" rtlCol="0" anchor="ctr"/>
          <a:lstStyle/>
          <a:p>
            <a:pPr marL="0" indent="0" algn="ctr">
              <a:buNone/>
            </a:pPr>
            <a:r>
              <a:rPr lang="en-US" sz="1800" b="1" dirty="0">
                <a:solidFill>
                  <a:srgbClr val="1A7A4A"/>
                </a:solidFill>
                <a:latin typeface="Calibri" pitchFamily="34" charset="0"/>
                <a:ea typeface="Calibri" pitchFamily="34" charset="-122"/>
                <a:cs typeface="Calibri" pitchFamily="34" charset="-120"/>
              </a:rPr>
              <a:t>↓</a:t>
            </a:r>
            <a:endParaRPr lang="en-US" sz="1800" dirty="0"/>
          </a:p>
        </p:txBody>
      </p:sp>
      <p:sp>
        <p:nvSpPr>
          <p:cNvPr id="67" name="Shape 51"/>
          <p:cNvSpPr/>
          <p:nvPr/>
        </p:nvSpPr>
        <p:spPr>
          <a:xfrm>
            <a:off x="228600" y="4169664"/>
            <a:ext cx="8686800" cy="438912"/>
          </a:xfrm>
          <a:prstGeom prst="rect">
            <a:avLst/>
          </a:prstGeom>
          <a:solidFill>
            <a:srgbClr val="1A7A4A"/>
          </a:solidFill>
          <a:ln w="12700">
            <a:solidFill>
              <a:srgbClr val="1A7A4A"/>
            </a:solidFill>
            <a:prstDash val="solid"/>
          </a:ln>
        </p:spPr>
        <p:txBody>
          <a:bodyPr/>
          <a:lstStyle/>
          <a:p>
            <a:endParaRPr lang="en-US"/>
          </a:p>
        </p:txBody>
      </p:sp>
      <p:sp>
        <p:nvSpPr>
          <p:cNvPr id="68" name="Shape 52"/>
          <p:cNvSpPr/>
          <p:nvPr/>
        </p:nvSpPr>
        <p:spPr>
          <a:xfrm>
            <a:off x="292608" y="4215384"/>
            <a:ext cx="347472" cy="347472"/>
          </a:xfrm>
          <a:prstGeom prst="ellipse">
            <a:avLst/>
          </a:prstGeom>
          <a:solidFill>
            <a:srgbClr val="000000"/>
          </a:solidFill>
          <a:ln w="12700">
            <a:solidFill>
              <a:srgbClr val="000000"/>
            </a:solidFill>
            <a:prstDash val="solid"/>
          </a:ln>
        </p:spPr>
        <p:txBody>
          <a:bodyPr/>
          <a:lstStyle/>
          <a:p>
            <a:endParaRPr lang="en-US"/>
          </a:p>
        </p:txBody>
      </p:sp>
      <p:pic>
        <p:nvPicPr>
          <p:cNvPr id="69" name="Image 14" descr="preencoded.png"/>
          <p:cNvPicPr>
            <a:picLocks noChangeAspect="1"/>
          </p:cNvPicPr>
          <p:nvPr/>
        </p:nvPicPr>
        <p:blipFill>
          <a:blip r:embed="rId13"/>
          <a:stretch>
            <a:fillRect/>
          </a:stretch>
        </p:blipFill>
        <p:spPr>
          <a:xfrm>
            <a:off x="338328" y="4261104"/>
            <a:ext cx="256032" cy="256032"/>
          </a:xfrm>
          <a:prstGeom prst="rect">
            <a:avLst/>
          </a:prstGeom>
        </p:spPr>
      </p:pic>
      <p:sp>
        <p:nvSpPr>
          <p:cNvPr id="70" name="Text 53"/>
          <p:cNvSpPr/>
          <p:nvPr/>
        </p:nvSpPr>
        <p:spPr>
          <a:xfrm>
            <a:off x="749808" y="4206240"/>
            <a:ext cx="3200400" cy="256032"/>
          </a:xfrm>
          <a:prstGeom prst="rect">
            <a:avLst/>
          </a:prstGeom>
          <a:noFill/>
          <a:ln/>
        </p:spPr>
        <p:txBody>
          <a:bodyPr wrap="square" rtlCol="0" anchor="ctr"/>
          <a:lstStyle/>
          <a:p>
            <a:pPr marL="0" indent="0">
              <a:buNone/>
            </a:pPr>
            <a:r>
              <a:rPr lang="en-US" sz="1100" b="1" kern="0" spc="100" dirty="0">
                <a:solidFill>
                  <a:srgbClr val="FFFFFF"/>
                </a:solidFill>
                <a:latin typeface="Calibri" pitchFamily="34" charset="0"/>
                <a:ea typeface="Calibri" pitchFamily="34" charset="-122"/>
                <a:cs typeface="Calibri" pitchFamily="34" charset="-120"/>
              </a:rPr>
              <a:t>DISTRIBUTION LAYER</a:t>
            </a:r>
            <a:endParaRPr lang="en-US" sz="1100" dirty="0"/>
          </a:p>
        </p:txBody>
      </p:sp>
      <p:sp>
        <p:nvSpPr>
          <p:cNvPr id="71" name="Text 54"/>
          <p:cNvSpPr/>
          <p:nvPr/>
        </p:nvSpPr>
        <p:spPr>
          <a:xfrm>
            <a:off x="749808" y="4425696"/>
            <a:ext cx="3200400" cy="164592"/>
          </a:xfrm>
          <a:prstGeom prst="rect">
            <a:avLst/>
          </a:prstGeom>
          <a:noFill/>
          <a:ln/>
        </p:spPr>
        <p:txBody>
          <a:bodyPr wrap="square" rtlCol="0" anchor="ctr"/>
          <a:lstStyle/>
          <a:p>
            <a:pPr marL="0" indent="0">
              <a:buNone/>
            </a:pPr>
            <a:r>
              <a:rPr lang="en-US" sz="900" i="1" dirty="0">
                <a:solidFill>
                  <a:srgbClr val="B8C8D8"/>
                </a:solidFill>
                <a:latin typeface="Georgia" pitchFamily="34" charset="0"/>
                <a:ea typeface="Georgia" pitchFamily="34" charset="-122"/>
                <a:cs typeface="Georgia" pitchFamily="34" charset="-120"/>
              </a:rPr>
              <a:t>How intel reaches reps</a:t>
            </a:r>
            <a:endParaRPr lang="en-US" sz="900" dirty="0"/>
          </a:p>
        </p:txBody>
      </p:sp>
      <p:sp>
        <p:nvSpPr>
          <p:cNvPr id="72" name="Shape 55"/>
          <p:cNvSpPr/>
          <p:nvPr/>
        </p:nvSpPr>
        <p:spPr>
          <a:xfrm>
            <a:off x="228600" y="4663440"/>
            <a:ext cx="2834640" cy="365760"/>
          </a:xfrm>
          <a:prstGeom prst="rect">
            <a:avLst/>
          </a:prstGeom>
          <a:solidFill>
            <a:srgbClr val="FFFFFF"/>
          </a:solidFill>
          <a:ln w="12700">
            <a:solidFill>
              <a:srgbClr val="E0E8F0"/>
            </a:solidFill>
            <a:prstDash val="solid"/>
          </a:ln>
        </p:spPr>
        <p:txBody>
          <a:bodyPr/>
          <a:lstStyle/>
          <a:p>
            <a:endParaRPr lang="en-US"/>
          </a:p>
        </p:txBody>
      </p:sp>
      <p:sp>
        <p:nvSpPr>
          <p:cNvPr id="73" name="Shape 56"/>
          <p:cNvSpPr/>
          <p:nvPr/>
        </p:nvSpPr>
        <p:spPr>
          <a:xfrm>
            <a:off x="228600" y="4663440"/>
            <a:ext cx="45720" cy="365760"/>
          </a:xfrm>
          <a:prstGeom prst="rect">
            <a:avLst/>
          </a:prstGeom>
          <a:solidFill>
            <a:srgbClr val="1A7A4A"/>
          </a:solidFill>
          <a:ln w="12700">
            <a:solidFill>
              <a:srgbClr val="1A7A4A"/>
            </a:solidFill>
            <a:prstDash val="solid"/>
          </a:ln>
        </p:spPr>
        <p:txBody>
          <a:bodyPr/>
          <a:lstStyle/>
          <a:p>
            <a:endParaRPr lang="en-US"/>
          </a:p>
        </p:txBody>
      </p:sp>
      <p:pic>
        <p:nvPicPr>
          <p:cNvPr id="74" name="Image 15" descr="preencoded.png"/>
          <p:cNvPicPr>
            <a:picLocks noChangeAspect="1"/>
          </p:cNvPicPr>
          <p:nvPr/>
        </p:nvPicPr>
        <p:blipFill>
          <a:blip r:embed="rId15"/>
          <a:stretch>
            <a:fillRect/>
          </a:stretch>
        </p:blipFill>
        <p:spPr>
          <a:xfrm>
            <a:off x="320040" y="4754880"/>
            <a:ext cx="182880" cy="182880"/>
          </a:xfrm>
          <a:prstGeom prst="rect">
            <a:avLst/>
          </a:prstGeom>
        </p:spPr>
      </p:pic>
      <p:sp>
        <p:nvSpPr>
          <p:cNvPr id="75" name="Text 57"/>
          <p:cNvSpPr/>
          <p:nvPr/>
        </p:nvSpPr>
        <p:spPr>
          <a:xfrm>
            <a:off x="557784" y="4700016"/>
            <a:ext cx="2377440" cy="292608"/>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Battlecard auto-update (flagged for PMM QA)</a:t>
            </a:r>
            <a:endParaRPr lang="en-US" sz="950" dirty="0"/>
          </a:p>
        </p:txBody>
      </p:sp>
      <p:sp>
        <p:nvSpPr>
          <p:cNvPr id="76" name="Shape 58"/>
          <p:cNvSpPr/>
          <p:nvPr/>
        </p:nvSpPr>
        <p:spPr>
          <a:xfrm>
            <a:off x="3136392" y="4663440"/>
            <a:ext cx="2834640" cy="365760"/>
          </a:xfrm>
          <a:prstGeom prst="rect">
            <a:avLst/>
          </a:prstGeom>
          <a:solidFill>
            <a:srgbClr val="FFFFFF"/>
          </a:solidFill>
          <a:ln w="12700">
            <a:solidFill>
              <a:srgbClr val="E0E8F0"/>
            </a:solidFill>
            <a:prstDash val="solid"/>
          </a:ln>
        </p:spPr>
        <p:txBody>
          <a:bodyPr/>
          <a:lstStyle/>
          <a:p>
            <a:endParaRPr lang="en-US"/>
          </a:p>
        </p:txBody>
      </p:sp>
      <p:sp>
        <p:nvSpPr>
          <p:cNvPr id="77" name="Shape 59"/>
          <p:cNvSpPr/>
          <p:nvPr/>
        </p:nvSpPr>
        <p:spPr>
          <a:xfrm>
            <a:off x="3136392" y="4663440"/>
            <a:ext cx="45720" cy="365760"/>
          </a:xfrm>
          <a:prstGeom prst="rect">
            <a:avLst/>
          </a:prstGeom>
          <a:solidFill>
            <a:srgbClr val="1A7A4A"/>
          </a:solidFill>
          <a:ln w="12700">
            <a:solidFill>
              <a:srgbClr val="1A7A4A"/>
            </a:solidFill>
            <a:prstDash val="solid"/>
          </a:ln>
        </p:spPr>
        <p:txBody>
          <a:bodyPr/>
          <a:lstStyle/>
          <a:p>
            <a:endParaRPr lang="en-US"/>
          </a:p>
        </p:txBody>
      </p:sp>
      <p:pic>
        <p:nvPicPr>
          <p:cNvPr id="78" name="Image 16" descr="preencoded.png"/>
          <p:cNvPicPr>
            <a:picLocks noChangeAspect="1"/>
          </p:cNvPicPr>
          <p:nvPr/>
        </p:nvPicPr>
        <p:blipFill>
          <a:blip r:embed="rId5"/>
          <a:stretch>
            <a:fillRect/>
          </a:stretch>
        </p:blipFill>
        <p:spPr>
          <a:xfrm>
            <a:off x="3227832" y="4754880"/>
            <a:ext cx="182880" cy="182880"/>
          </a:xfrm>
          <a:prstGeom prst="rect">
            <a:avLst/>
          </a:prstGeom>
        </p:spPr>
      </p:pic>
      <p:sp>
        <p:nvSpPr>
          <p:cNvPr id="79" name="Text 60"/>
          <p:cNvSpPr/>
          <p:nvPr/>
        </p:nvSpPr>
        <p:spPr>
          <a:xfrm>
            <a:off x="3465576" y="4700016"/>
            <a:ext cx="2377440" cy="292608"/>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Slack alert to AEs with active comp deals</a:t>
            </a:r>
            <a:endParaRPr lang="en-US" sz="950" dirty="0"/>
          </a:p>
        </p:txBody>
      </p:sp>
      <p:sp>
        <p:nvSpPr>
          <p:cNvPr id="80" name="Shape 61"/>
          <p:cNvSpPr/>
          <p:nvPr/>
        </p:nvSpPr>
        <p:spPr>
          <a:xfrm>
            <a:off x="6044184" y="4663440"/>
            <a:ext cx="2834640" cy="365760"/>
          </a:xfrm>
          <a:prstGeom prst="rect">
            <a:avLst/>
          </a:prstGeom>
          <a:solidFill>
            <a:srgbClr val="FFFFFF"/>
          </a:solidFill>
          <a:ln w="12700">
            <a:solidFill>
              <a:srgbClr val="E0E8F0"/>
            </a:solidFill>
            <a:prstDash val="solid"/>
          </a:ln>
        </p:spPr>
        <p:txBody>
          <a:bodyPr/>
          <a:lstStyle/>
          <a:p>
            <a:endParaRPr lang="en-US"/>
          </a:p>
        </p:txBody>
      </p:sp>
      <p:sp>
        <p:nvSpPr>
          <p:cNvPr id="81" name="Shape 62"/>
          <p:cNvSpPr/>
          <p:nvPr/>
        </p:nvSpPr>
        <p:spPr>
          <a:xfrm>
            <a:off x="6044184" y="4663440"/>
            <a:ext cx="45720" cy="365760"/>
          </a:xfrm>
          <a:prstGeom prst="rect">
            <a:avLst/>
          </a:prstGeom>
          <a:solidFill>
            <a:srgbClr val="1A7A4A"/>
          </a:solidFill>
          <a:ln w="12700">
            <a:solidFill>
              <a:srgbClr val="1A7A4A"/>
            </a:solidFill>
            <a:prstDash val="solid"/>
          </a:ln>
        </p:spPr>
        <p:txBody>
          <a:bodyPr/>
          <a:lstStyle/>
          <a:p>
            <a:endParaRPr lang="en-US"/>
          </a:p>
        </p:txBody>
      </p:sp>
      <p:pic>
        <p:nvPicPr>
          <p:cNvPr id="82" name="Image 17" descr="preencoded.png"/>
          <p:cNvPicPr>
            <a:picLocks noChangeAspect="1"/>
          </p:cNvPicPr>
          <p:nvPr/>
        </p:nvPicPr>
        <p:blipFill>
          <a:blip r:embed="rId16"/>
          <a:stretch>
            <a:fillRect/>
          </a:stretch>
        </p:blipFill>
        <p:spPr>
          <a:xfrm>
            <a:off x="6135624" y="4754880"/>
            <a:ext cx="182880" cy="182880"/>
          </a:xfrm>
          <a:prstGeom prst="rect">
            <a:avLst/>
          </a:prstGeom>
        </p:spPr>
      </p:pic>
      <p:sp>
        <p:nvSpPr>
          <p:cNvPr id="83" name="Text 63"/>
          <p:cNvSpPr/>
          <p:nvPr/>
        </p:nvSpPr>
        <p:spPr>
          <a:xfrm>
            <a:off x="6373368" y="4700016"/>
            <a:ext cx="2377440" cy="292608"/>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BattleCoach in-deal coaching prompt</a:t>
            </a:r>
            <a:endParaRPr lang="en-US" sz="950" dirty="0"/>
          </a:p>
        </p:txBody>
      </p:sp>
      <p:sp>
        <p:nvSpPr>
          <p:cNvPr id="84" name="Shape 64"/>
          <p:cNvSpPr/>
          <p:nvPr/>
        </p:nvSpPr>
        <p:spPr>
          <a:xfrm>
            <a:off x="228600" y="5084064"/>
            <a:ext cx="2834640" cy="365760"/>
          </a:xfrm>
          <a:prstGeom prst="rect">
            <a:avLst/>
          </a:prstGeom>
          <a:solidFill>
            <a:srgbClr val="FFFFFF"/>
          </a:solidFill>
          <a:ln w="12700">
            <a:solidFill>
              <a:srgbClr val="E0E8F0"/>
            </a:solidFill>
            <a:prstDash val="solid"/>
          </a:ln>
        </p:spPr>
        <p:txBody>
          <a:bodyPr/>
          <a:lstStyle/>
          <a:p>
            <a:endParaRPr lang="en-US"/>
          </a:p>
        </p:txBody>
      </p:sp>
      <p:sp>
        <p:nvSpPr>
          <p:cNvPr id="85" name="Shape 65"/>
          <p:cNvSpPr/>
          <p:nvPr/>
        </p:nvSpPr>
        <p:spPr>
          <a:xfrm>
            <a:off x="228600" y="5084064"/>
            <a:ext cx="45720" cy="365760"/>
          </a:xfrm>
          <a:prstGeom prst="rect">
            <a:avLst/>
          </a:prstGeom>
          <a:solidFill>
            <a:srgbClr val="1A7A4A"/>
          </a:solidFill>
          <a:ln w="12700">
            <a:solidFill>
              <a:srgbClr val="1A7A4A"/>
            </a:solidFill>
            <a:prstDash val="solid"/>
          </a:ln>
        </p:spPr>
        <p:txBody>
          <a:bodyPr/>
          <a:lstStyle/>
          <a:p>
            <a:endParaRPr lang="en-US"/>
          </a:p>
        </p:txBody>
      </p:sp>
      <p:pic>
        <p:nvPicPr>
          <p:cNvPr id="86" name="Image 18" descr="preencoded.png"/>
          <p:cNvPicPr>
            <a:picLocks noChangeAspect="1"/>
          </p:cNvPicPr>
          <p:nvPr/>
        </p:nvPicPr>
        <p:blipFill>
          <a:blip r:embed="rId6"/>
          <a:stretch>
            <a:fillRect/>
          </a:stretch>
        </p:blipFill>
        <p:spPr>
          <a:xfrm>
            <a:off x="320040" y="5175504"/>
            <a:ext cx="182880" cy="182880"/>
          </a:xfrm>
          <a:prstGeom prst="rect">
            <a:avLst/>
          </a:prstGeom>
        </p:spPr>
      </p:pic>
      <p:sp>
        <p:nvSpPr>
          <p:cNvPr id="87" name="Text 66"/>
          <p:cNvSpPr/>
          <p:nvPr/>
        </p:nvSpPr>
        <p:spPr>
          <a:xfrm>
            <a:off x="557784" y="5120640"/>
            <a:ext cx="2377440" cy="292608"/>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Weekly digest to CS and SE teams</a:t>
            </a:r>
            <a:endParaRPr lang="en-US" sz="950" dirty="0"/>
          </a:p>
        </p:txBody>
      </p:sp>
      <p:sp>
        <p:nvSpPr>
          <p:cNvPr id="88" name="Shape 67"/>
          <p:cNvSpPr/>
          <p:nvPr/>
        </p:nvSpPr>
        <p:spPr>
          <a:xfrm>
            <a:off x="3136392" y="5084064"/>
            <a:ext cx="2834640" cy="365760"/>
          </a:xfrm>
          <a:prstGeom prst="rect">
            <a:avLst/>
          </a:prstGeom>
          <a:solidFill>
            <a:srgbClr val="FFFFFF"/>
          </a:solidFill>
          <a:ln w="12700">
            <a:solidFill>
              <a:srgbClr val="E0E8F0"/>
            </a:solidFill>
            <a:prstDash val="solid"/>
          </a:ln>
        </p:spPr>
        <p:txBody>
          <a:bodyPr/>
          <a:lstStyle/>
          <a:p>
            <a:endParaRPr lang="en-US"/>
          </a:p>
        </p:txBody>
      </p:sp>
      <p:sp>
        <p:nvSpPr>
          <p:cNvPr id="89" name="Shape 68"/>
          <p:cNvSpPr/>
          <p:nvPr/>
        </p:nvSpPr>
        <p:spPr>
          <a:xfrm>
            <a:off x="3136392" y="5084064"/>
            <a:ext cx="45720" cy="365760"/>
          </a:xfrm>
          <a:prstGeom prst="rect">
            <a:avLst/>
          </a:prstGeom>
          <a:solidFill>
            <a:srgbClr val="1A7A4A"/>
          </a:solidFill>
          <a:ln w="12700">
            <a:solidFill>
              <a:srgbClr val="1A7A4A"/>
            </a:solidFill>
            <a:prstDash val="solid"/>
          </a:ln>
        </p:spPr>
        <p:txBody>
          <a:bodyPr/>
          <a:lstStyle/>
          <a:p>
            <a:endParaRPr lang="en-US"/>
          </a:p>
        </p:txBody>
      </p:sp>
      <p:pic>
        <p:nvPicPr>
          <p:cNvPr id="90" name="Image 19" descr="preencoded.png"/>
          <p:cNvPicPr>
            <a:picLocks noChangeAspect="1"/>
          </p:cNvPicPr>
          <p:nvPr/>
        </p:nvPicPr>
        <p:blipFill>
          <a:blip r:embed="rId4"/>
          <a:stretch>
            <a:fillRect/>
          </a:stretch>
        </p:blipFill>
        <p:spPr>
          <a:xfrm>
            <a:off x="3227832" y="5175504"/>
            <a:ext cx="182880" cy="182880"/>
          </a:xfrm>
          <a:prstGeom prst="rect">
            <a:avLst/>
          </a:prstGeom>
        </p:spPr>
      </p:pic>
      <p:sp>
        <p:nvSpPr>
          <p:cNvPr id="91" name="Text 69"/>
          <p:cNvSpPr/>
          <p:nvPr/>
        </p:nvSpPr>
        <p:spPr>
          <a:xfrm>
            <a:off x="3465576" y="5120640"/>
            <a:ext cx="2377440" cy="292608"/>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Analyst briefing prep brief</a:t>
            </a:r>
            <a:endParaRPr lang="en-US" sz="950" dirty="0"/>
          </a:p>
        </p:txBody>
      </p:sp>
      <p:sp>
        <p:nvSpPr>
          <p:cNvPr id="92" name="Shape 70"/>
          <p:cNvSpPr/>
          <p:nvPr/>
        </p:nvSpPr>
        <p:spPr>
          <a:xfrm>
            <a:off x="6044184" y="5084064"/>
            <a:ext cx="2834640" cy="365760"/>
          </a:xfrm>
          <a:prstGeom prst="rect">
            <a:avLst/>
          </a:prstGeom>
          <a:solidFill>
            <a:srgbClr val="FFFFFF"/>
          </a:solidFill>
          <a:ln w="12700">
            <a:solidFill>
              <a:srgbClr val="E0E8F0"/>
            </a:solidFill>
            <a:prstDash val="solid"/>
          </a:ln>
        </p:spPr>
        <p:txBody>
          <a:bodyPr/>
          <a:lstStyle/>
          <a:p>
            <a:endParaRPr lang="en-US"/>
          </a:p>
        </p:txBody>
      </p:sp>
      <p:sp>
        <p:nvSpPr>
          <p:cNvPr id="93" name="Shape 71"/>
          <p:cNvSpPr/>
          <p:nvPr/>
        </p:nvSpPr>
        <p:spPr>
          <a:xfrm>
            <a:off x="6044184" y="5084064"/>
            <a:ext cx="45720" cy="365760"/>
          </a:xfrm>
          <a:prstGeom prst="rect">
            <a:avLst/>
          </a:prstGeom>
          <a:solidFill>
            <a:srgbClr val="1A7A4A"/>
          </a:solidFill>
          <a:ln w="12700">
            <a:solidFill>
              <a:srgbClr val="1A7A4A"/>
            </a:solidFill>
            <a:prstDash val="solid"/>
          </a:ln>
        </p:spPr>
        <p:txBody>
          <a:bodyPr/>
          <a:lstStyle/>
          <a:p>
            <a:endParaRPr lang="en-US"/>
          </a:p>
        </p:txBody>
      </p:sp>
      <p:pic>
        <p:nvPicPr>
          <p:cNvPr id="94" name="Image 20" descr="preencoded.png"/>
          <p:cNvPicPr>
            <a:picLocks noChangeAspect="1"/>
          </p:cNvPicPr>
          <p:nvPr/>
        </p:nvPicPr>
        <p:blipFill>
          <a:blip r:embed="rId11"/>
          <a:stretch>
            <a:fillRect/>
          </a:stretch>
        </p:blipFill>
        <p:spPr>
          <a:xfrm>
            <a:off x="6135624" y="5175504"/>
            <a:ext cx="182880" cy="182880"/>
          </a:xfrm>
          <a:prstGeom prst="rect">
            <a:avLst/>
          </a:prstGeom>
        </p:spPr>
      </p:pic>
      <p:sp>
        <p:nvSpPr>
          <p:cNvPr id="95" name="Text 72"/>
          <p:cNvSpPr/>
          <p:nvPr/>
        </p:nvSpPr>
        <p:spPr>
          <a:xfrm>
            <a:off x="6373368" y="5120640"/>
            <a:ext cx="2377440" cy="292608"/>
          </a:xfrm>
          <a:prstGeom prst="rect">
            <a:avLst/>
          </a:prstGeom>
          <a:noFill/>
          <a:ln/>
        </p:spPr>
        <p:txBody>
          <a:bodyPr wrap="square" rtlCol="0" anchor="ctr"/>
          <a:lstStyle/>
          <a:p>
            <a:pPr marL="0" indent="0">
              <a:buNone/>
            </a:pPr>
            <a:r>
              <a:rPr lang="en-US" sz="950" dirty="0">
                <a:solidFill>
                  <a:srgbClr val="1A2B3C"/>
                </a:solidFill>
                <a:latin typeface="Calibri" pitchFamily="34" charset="0"/>
                <a:ea typeface="Calibri" pitchFamily="34" charset="-122"/>
                <a:cs typeface="Calibri" pitchFamily="34" charset="-120"/>
              </a:rPr>
              <a:t>Win/loss pattern fed back to signal layer</a:t>
            </a:r>
            <a:endParaRPr lang="en-US" sz="950" dirty="0"/>
          </a:p>
        </p:txBody>
      </p:sp>
      <p:sp>
        <p:nvSpPr>
          <p:cNvPr id="96" name="Text 73"/>
          <p:cNvSpPr/>
          <p:nvPr/>
        </p:nvSpPr>
        <p:spPr>
          <a:xfrm>
            <a:off x="4206240" y="5486400"/>
            <a:ext cx="274320" cy="292608"/>
          </a:xfrm>
          <a:prstGeom prst="rect">
            <a:avLst/>
          </a:prstGeom>
          <a:noFill/>
          <a:ln/>
        </p:spPr>
        <p:txBody>
          <a:bodyPr wrap="square" rtlCol="0" anchor="ctr"/>
          <a:lstStyle/>
          <a:p>
            <a:pPr marL="0" indent="0" algn="ctr">
              <a:buNone/>
            </a:pPr>
            <a:r>
              <a:rPr lang="en-US" sz="1800" b="1" dirty="0">
                <a:solidFill>
                  <a:srgbClr val="1A7A4A"/>
                </a:solidFill>
                <a:latin typeface="Calibri" pitchFamily="34" charset="0"/>
                <a:ea typeface="Calibri" pitchFamily="34" charset="-122"/>
                <a:cs typeface="Calibri" pitchFamily="34" charset="-120"/>
              </a:rPr>
              <a:t>↓</a:t>
            </a:r>
            <a:endParaRPr lang="en-US" sz="1800" dirty="0"/>
          </a:p>
        </p:txBody>
      </p:sp>
      <p:sp>
        <p:nvSpPr>
          <p:cNvPr id="97" name="Text 74"/>
          <p:cNvSpPr/>
          <p:nvPr/>
        </p:nvSpPr>
        <p:spPr>
          <a:xfrm>
            <a:off x="228600" y="6291072"/>
            <a:ext cx="8686800" cy="274320"/>
          </a:xfrm>
          <a:prstGeom prst="rect">
            <a:avLst/>
          </a:prstGeom>
          <a:noFill/>
          <a:ln/>
        </p:spPr>
        <p:txBody>
          <a:bodyPr wrap="square" rtlCol="0" anchor="ctr"/>
          <a:lstStyle/>
          <a:p>
            <a:pPr marL="0" indent="0">
              <a:buNone/>
            </a:pPr>
            <a:r>
              <a:rPr lang="en-US" sz="850" i="1" dirty="0">
                <a:solidFill>
                  <a:srgbClr val="6B7B8D"/>
                </a:solidFill>
                <a:latin typeface="Calibri" pitchFamily="34" charset="0"/>
                <a:ea typeface="Calibri" pitchFamily="34" charset="-122"/>
                <a:cs typeface="Calibri" pitchFamily="34" charset="-120"/>
              </a:rPr>
              <a:t>Figure 2. The Living CI Architecture. Agents operate the Signal and Analysis layers continuously. PMMs own QA and Distribution — ensuring every output is accurate before it reaches a rep in a deal.</a:t>
            </a:r>
            <a:endParaRPr lang="en-US" sz="850" dirty="0"/>
          </a:p>
        </p:txBody>
      </p:sp>
      <p:sp>
        <p:nvSpPr>
          <p:cNvPr id="98" name="Text 75"/>
          <p:cNvSpPr/>
          <p:nvPr/>
        </p:nvSpPr>
        <p:spPr>
          <a:xfrm>
            <a:off x="320040" y="6492240"/>
            <a:ext cx="8229600" cy="228600"/>
          </a:xfrm>
          <a:prstGeom prst="rect">
            <a:avLst/>
          </a:prstGeom>
          <a:noFill/>
          <a:ln/>
        </p:spPr>
        <p:txBody>
          <a:bodyPr wrap="square" rtlCol="0" anchor="ctr"/>
          <a:lstStyle/>
          <a:p>
            <a:pPr marL="0" indent="0">
              <a:buNone/>
            </a:pPr>
            <a:r>
              <a:rPr lang="en-US" sz="900" i="1" dirty="0">
                <a:solidFill>
                  <a:srgbClr val="6B7B8D"/>
                </a:solidFill>
                <a:latin typeface="Calibri" pitchFamily="34" charset="0"/>
                <a:ea typeface="Calibri" pitchFamily="34" charset="-122"/>
                <a:cs typeface="Calibri" pitchFamily="34" charset="-120"/>
              </a:rPr>
              <a:t>Chapter 6  ·  The Future of Product Marketing  ·  Chris O'Hara</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7FB"/>
          </a:solidFill>
          <a:ln/>
        </p:spPr>
        <p:txBody>
          <a:bodyPr/>
          <a:lstStyle/>
          <a:p>
            <a:endParaRPr lang="en-US"/>
          </a:p>
        </p:txBody>
      </p:sp>
      <p:sp>
        <p:nvSpPr>
          <p:cNvPr id="3" name="Shape 1"/>
          <p:cNvSpPr/>
          <p:nvPr/>
        </p:nvSpPr>
        <p:spPr>
          <a:xfrm>
            <a:off x="0" y="0"/>
            <a:ext cx="9144000" cy="960120"/>
          </a:xfrm>
          <a:prstGeom prst="rect">
            <a:avLst/>
          </a:prstGeom>
          <a:solidFill>
            <a:srgbClr val="0F2B5B"/>
          </a:solidFill>
          <a:ln/>
        </p:spPr>
        <p:txBody>
          <a:bodyPr/>
          <a:lstStyle/>
          <a:p>
            <a:endParaRPr lang="en-US"/>
          </a:p>
        </p:txBody>
      </p:sp>
      <p:sp>
        <p:nvSpPr>
          <p:cNvPr id="4" name="Shape 2"/>
          <p:cNvSpPr/>
          <p:nvPr/>
        </p:nvSpPr>
        <p:spPr>
          <a:xfrm>
            <a:off x="0" y="960120"/>
            <a:ext cx="9144000" cy="45720"/>
          </a:xfrm>
          <a:prstGeom prst="rect">
            <a:avLst/>
          </a:prstGeom>
          <a:solidFill>
            <a:srgbClr val="1A7A4A"/>
          </a:solidFill>
          <a:ln/>
        </p:spPr>
        <p:txBody>
          <a:bodyPr/>
          <a:lstStyle/>
          <a:p>
            <a:endParaRPr lang="en-US"/>
          </a:p>
        </p:txBody>
      </p:sp>
      <p:sp>
        <p:nvSpPr>
          <p:cNvPr id="5" name="Text 3"/>
          <p:cNvSpPr/>
          <p:nvPr/>
        </p:nvSpPr>
        <p:spPr>
          <a:xfrm>
            <a:off x="320040" y="73152"/>
            <a:ext cx="7772400" cy="502920"/>
          </a:xfrm>
          <a:prstGeom prst="rect">
            <a:avLst/>
          </a:prstGeom>
          <a:noFill/>
          <a:ln/>
        </p:spPr>
        <p:txBody>
          <a:bodyPr wrap="square" rtlCol="0" anchor="ctr"/>
          <a:lstStyle/>
          <a:p>
            <a:pPr marL="0" indent="0">
              <a:buNone/>
            </a:pPr>
            <a:r>
              <a:rPr lang="en-US" sz="2000" b="1" kern="0" spc="200" dirty="0">
                <a:solidFill>
                  <a:srgbClr val="FFFFFF"/>
                </a:solidFill>
                <a:latin typeface="Calibri" pitchFamily="34" charset="0"/>
                <a:ea typeface="Calibri" pitchFamily="34" charset="-122"/>
                <a:cs typeface="Calibri" pitchFamily="34" charset="-120"/>
              </a:rPr>
              <a:t>FIGURE 3</a:t>
            </a:r>
            <a:endParaRPr lang="en-US" sz="2000" dirty="0"/>
          </a:p>
        </p:txBody>
      </p:sp>
      <p:sp>
        <p:nvSpPr>
          <p:cNvPr id="6" name="Text 4"/>
          <p:cNvSpPr/>
          <p:nvPr/>
        </p:nvSpPr>
        <p:spPr>
          <a:xfrm>
            <a:off x="320040" y="548640"/>
            <a:ext cx="8412480" cy="347472"/>
          </a:xfrm>
          <a:prstGeom prst="rect">
            <a:avLst/>
          </a:prstGeom>
          <a:noFill/>
          <a:ln/>
        </p:spPr>
        <p:txBody>
          <a:bodyPr wrap="square" rtlCol="0" anchor="ctr"/>
          <a:lstStyle/>
          <a:p>
            <a:pPr marL="0" indent="0">
              <a:buNone/>
            </a:pPr>
            <a:r>
              <a:rPr lang="en-US" sz="1300" i="1" dirty="0">
                <a:solidFill>
                  <a:srgbClr val="D4A843"/>
                </a:solidFill>
                <a:latin typeface="Georgia" pitchFamily="34" charset="0"/>
                <a:ea typeface="Georgia" pitchFamily="34" charset="-122"/>
                <a:cs typeface="Georgia" pitchFamily="34" charset="-120"/>
              </a:rPr>
              <a:t>The Battlecard Rebuild: from static document to living asset.</a:t>
            </a:r>
            <a:endParaRPr lang="en-US" sz="1300" dirty="0"/>
          </a:p>
        </p:txBody>
      </p:sp>
      <p:sp>
        <p:nvSpPr>
          <p:cNvPr id="7" name="Shape 5"/>
          <p:cNvSpPr/>
          <p:nvPr/>
        </p:nvSpPr>
        <p:spPr>
          <a:xfrm>
            <a:off x="228600" y="1115568"/>
            <a:ext cx="4206240" cy="384048"/>
          </a:xfrm>
          <a:prstGeom prst="rect">
            <a:avLst/>
          </a:prstGeom>
          <a:solidFill>
            <a:srgbClr val="6B7B8D"/>
          </a:solidFill>
          <a:ln w="12700">
            <a:solidFill>
              <a:srgbClr val="6B7B8D"/>
            </a:solidFill>
            <a:prstDash val="solid"/>
          </a:ln>
        </p:spPr>
        <p:txBody>
          <a:bodyPr/>
          <a:lstStyle/>
          <a:p>
            <a:endParaRPr lang="en-US"/>
          </a:p>
        </p:txBody>
      </p:sp>
      <p:sp>
        <p:nvSpPr>
          <p:cNvPr id="8" name="Text 6"/>
          <p:cNvSpPr/>
          <p:nvPr/>
        </p:nvSpPr>
        <p:spPr>
          <a:xfrm>
            <a:off x="320040" y="1133856"/>
            <a:ext cx="4023360" cy="329184"/>
          </a:xfrm>
          <a:prstGeom prst="rect">
            <a:avLst/>
          </a:prstGeom>
          <a:noFill/>
          <a:ln/>
        </p:spPr>
        <p:txBody>
          <a:bodyPr wrap="square" rtlCol="0" anchor="ctr"/>
          <a:lstStyle/>
          <a:p>
            <a:pPr marL="0" indent="0">
              <a:buNone/>
            </a:pPr>
            <a:r>
              <a:rPr lang="en-US" sz="1050" b="1" kern="0" spc="50" dirty="0">
                <a:solidFill>
                  <a:srgbClr val="FFFFFF"/>
                </a:solidFill>
                <a:latin typeface="Calibri" pitchFamily="34" charset="0"/>
                <a:ea typeface="Calibri" pitchFamily="34" charset="-122"/>
                <a:cs typeface="Calibri" pitchFamily="34" charset="-120"/>
              </a:rPr>
              <a:t>BEFORE: The Quarterly Battlecard</a:t>
            </a:r>
            <a:endParaRPr lang="en-US" sz="1050" dirty="0"/>
          </a:p>
        </p:txBody>
      </p:sp>
      <p:sp>
        <p:nvSpPr>
          <p:cNvPr id="9" name="Shape 7"/>
          <p:cNvSpPr/>
          <p:nvPr/>
        </p:nvSpPr>
        <p:spPr>
          <a:xfrm>
            <a:off x="228600" y="1572768"/>
            <a:ext cx="4206240" cy="749808"/>
          </a:xfrm>
          <a:prstGeom prst="rect">
            <a:avLst/>
          </a:prstGeom>
          <a:solidFill>
            <a:srgbClr val="FFFFFF"/>
          </a:solidFill>
          <a:ln w="12700">
            <a:solidFill>
              <a:srgbClr val="E0E8F0"/>
            </a:solidFill>
            <a:prstDash val="solid"/>
          </a:ln>
          <a:effectLst>
            <a:outerShdw blurRad="63500" dist="25400" dir="8100000" algn="bl" rotWithShape="0">
              <a:srgbClr val="000000">
                <a:alpha val="8000"/>
              </a:srgbClr>
            </a:outerShdw>
          </a:effectLst>
        </p:spPr>
        <p:txBody>
          <a:bodyPr/>
          <a:lstStyle/>
          <a:p>
            <a:endParaRPr lang="en-US"/>
          </a:p>
        </p:txBody>
      </p:sp>
      <p:sp>
        <p:nvSpPr>
          <p:cNvPr id="10" name="Shape 8"/>
          <p:cNvSpPr/>
          <p:nvPr/>
        </p:nvSpPr>
        <p:spPr>
          <a:xfrm>
            <a:off x="228600" y="1572768"/>
            <a:ext cx="54864" cy="749808"/>
          </a:xfrm>
          <a:prstGeom prst="rect">
            <a:avLst/>
          </a:prstGeom>
          <a:solidFill>
            <a:srgbClr val="6B7B8D"/>
          </a:solidFill>
          <a:ln w="12700">
            <a:solidFill>
              <a:srgbClr val="6B7B8D"/>
            </a:solidFill>
            <a:prstDash val="solid"/>
          </a:ln>
        </p:spPr>
        <p:txBody>
          <a:bodyPr/>
          <a:lstStyle/>
          <a:p>
            <a:endParaRPr lang="en-US"/>
          </a:p>
        </p:txBody>
      </p:sp>
      <p:sp>
        <p:nvSpPr>
          <p:cNvPr id="11" name="Text 9"/>
          <p:cNvSpPr/>
          <p:nvPr/>
        </p:nvSpPr>
        <p:spPr>
          <a:xfrm>
            <a:off x="356616" y="1618488"/>
            <a:ext cx="3950208" cy="201168"/>
          </a:xfrm>
          <a:prstGeom prst="rect">
            <a:avLst/>
          </a:prstGeom>
          <a:noFill/>
          <a:ln/>
        </p:spPr>
        <p:txBody>
          <a:bodyPr wrap="square" rtlCol="0" anchor="ctr"/>
          <a:lstStyle/>
          <a:p>
            <a:pPr marL="0" indent="0">
              <a:buNone/>
            </a:pPr>
            <a:r>
              <a:rPr lang="en-US" sz="900" b="1" dirty="0">
                <a:solidFill>
                  <a:srgbClr val="6B7B8D"/>
                </a:solidFill>
                <a:latin typeface="Calibri" pitchFamily="34" charset="0"/>
                <a:ea typeface="Calibri" pitchFamily="34" charset="-122"/>
                <a:cs typeface="Calibri" pitchFamily="34" charset="-120"/>
              </a:rPr>
              <a:t>Format</a:t>
            </a:r>
            <a:endParaRPr lang="en-US" sz="900" dirty="0"/>
          </a:p>
        </p:txBody>
      </p:sp>
      <p:sp>
        <p:nvSpPr>
          <p:cNvPr id="12" name="Text 10"/>
          <p:cNvSpPr/>
          <p:nvPr/>
        </p:nvSpPr>
        <p:spPr>
          <a:xfrm>
            <a:off x="356616" y="1801368"/>
            <a:ext cx="3950208" cy="457200"/>
          </a:xfrm>
          <a:prstGeom prst="rect">
            <a:avLst/>
          </a:prstGeom>
          <a:noFill/>
          <a:ln/>
        </p:spPr>
        <p:txBody>
          <a:bodyPr wrap="square" rtlCol="0" anchor="t"/>
          <a:lstStyle/>
          <a:p>
            <a:pPr marL="0" indent="0">
              <a:buNone/>
            </a:pPr>
            <a:r>
              <a:rPr lang="en-US" sz="950" dirty="0">
                <a:solidFill>
                  <a:srgbClr val="1A2B3C"/>
                </a:solidFill>
                <a:latin typeface="Calibri" pitchFamily="34" charset="0"/>
                <a:ea typeface="Calibri" pitchFamily="34" charset="-122"/>
                <a:cs typeface="Calibri" pitchFamily="34" charset="-120"/>
              </a:rPr>
              <a:t>Static Google Doc or PDF. No version control.</a:t>
            </a:r>
            <a:endParaRPr lang="en-US" sz="950" dirty="0"/>
          </a:p>
        </p:txBody>
      </p:sp>
      <p:sp>
        <p:nvSpPr>
          <p:cNvPr id="13" name="Shape 11"/>
          <p:cNvSpPr/>
          <p:nvPr/>
        </p:nvSpPr>
        <p:spPr>
          <a:xfrm>
            <a:off x="228600" y="2377440"/>
            <a:ext cx="4206240" cy="749808"/>
          </a:xfrm>
          <a:prstGeom prst="rect">
            <a:avLst/>
          </a:prstGeom>
          <a:solidFill>
            <a:srgbClr val="FFFFFF"/>
          </a:solidFill>
          <a:ln w="12700">
            <a:solidFill>
              <a:srgbClr val="E0E8F0"/>
            </a:solidFill>
            <a:prstDash val="solid"/>
          </a:ln>
          <a:effectLst>
            <a:outerShdw blurRad="63500" dist="25400" dir="8100000" algn="bl" rotWithShape="0">
              <a:srgbClr val="000000">
                <a:alpha val="8000"/>
              </a:srgbClr>
            </a:outerShdw>
          </a:effectLst>
        </p:spPr>
        <p:txBody>
          <a:bodyPr/>
          <a:lstStyle/>
          <a:p>
            <a:endParaRPr lang="en-US"/>
          </a:p>
        </p:txBody>
      </p:sp>
      <p:sp>
        <p:nvSpPr>
          <p:cNvPr id="14" name="Shape 12"/>
          <p:cNvSpPr/>
          <p:nvPr/>
        </p:nvSpPr>
        <p:spPr>
          <a:xfrm>
            <a:off x="228600" y="2377440"/>
            <a:ext cx="54864" cy="749808"/>
          </a:xfrm>
          <a:prstGeom prst="rect">
            <a:avLst/>
          </a:prstGeom>
          <a:solidFill>
            <a:srgbClr val="6B7B8D"/>
          </a:solidFill>
          <a:ln w="12700">
            <a:solidFill>
              <a:srgbClr val="6B7B8D"/>
            </a:solidFill>
            <a:prstDash val="solid"/>
          </a:ln>
        </p:spPr>
        <p:txBody>
          <a:bodyPr/>
          <a:lstStyle/>
          <a:p>
            <a:endParaRPr lang="en-US"/>
          </a:p>
        </p:txBody>
      </p:sp>
      <p:sp>
        <p:nvSpPr>
          <p:cNvPr id="15" name="Text 13"/>
          <p:cNvSpPr/>
          <p:nvPr/>
        </p:nvSpPr>
        <p:spPr>
          <a:xfrm>
            <a:off x="356616" y="2423160"/>
            <a:ext cx="3950208" cy="201168"/>
          </a:xfrm>
          <a:prstGeom prst="rect">
            <a:avLst/>
          </a:prstGeom>
          <a:noFill/>
          <a:ln/>
        </p:spPr>
        <p:txBody>
          <a:bodyPr wrap="square" rtlCol="0" anchor="ctr"/>
          <a:lstStyle/>
          <a:p>
            <a:pPr marL="0" indent="0">
              <a:buNone/>
            </a:pPr>
            <a:r>
              <a:rPr lang="en-US" sz="900" b="1" dirty="0">
                <a:solidFill>
                  <a:srgbClr val="6B7B8D"/>
                </a:solidFill>
                <a:latin typeface="Calibri" pitchFamily="34" charset="0"/>
                <a:ea typeface="Calibri" pitchFamily="34" charset="-122"/>
                <a:cs typeface="Calibri" pitchFamily="34" charset="-120"/>
              </a:rPr>
              <a:t>Update cycle</a:t>
            </a:r>
            <a:endParaRPr lang="en-US" sz="900" dirty="0"/>
          </a:p>
        </p:txBody>
      </p:sp>
      <p:sp>
        <p:nvSpPr>
          <p:cNvPr id="16" name="Text 14"/>
          <p:cNvSpPr/>
          <p:nvPr/>
        </p:nvSpPr>
        <p:spPr>
          <a:xfrm>
            <a:off x="356616" y="2606040"/>
            <a:ext cx="3950208" cy="457200"/>
          </a:xfrm>
          <a:prstGeom prst="rect">
            <a:avLst/>
          </a:prstGeom>
          <a:noFill/>
          <a:ln/>
        </p:spPr>
        <p:txBody>
          <a:bodyPr wrap="square" rtlCol="0" anchor="t"/>
          <a:lstStyle/>
          <a:p>
            <a:pPr marL="0" indent="0">
              <a:buNone/>
            </a:pPr>
            <a:r>
              <a:rPr lang="en-US" sz="950" dirty="0">
                <a:solidFill>
                  <a:srgbClr val="1A2B3C"/>
                </a:solidFill>
                <a:latin typeface="Calibri" pitchFamily="34" charset="0"/>
                <a:ea typeface="Calibri" pitchFamily="34" charset="-122"/>
                <a:cs typeface="Calibri" pitchFamily="34" charset="-120"/>
              </a:rPr>
              <a:t>Quarterly, when PMM finds the time. Often less.</a:t>
            </a:r>
            <a:endParaRPr lang="en-US" sz="950" dirty="0"/>
          </a:p>
        </p:txBody>
      </p:sp>
      <p:sp>
        <p:nvSpPr>
          <p:cNvPr id="17" name="Shape 15"/>
          <p:cNvSpPr/>
          <p:nvPr/>
        </p:nvSpPr>
        <p:spPr>
          <a:xfrm>
            <a:off x="228600" y="3182112"/>
            <a:ext cx="4206240" cy="749808"/>
          </a:xfrm>
          <a:prstGeom prst="rect">
            <a:avLst/>
          </a:prstGeom>
          <a:solidFill>
            <a:srgbClr val="FFFFFF"/>
          </a:solidFill>
          <a:ln w="12700">
            <a:solidFill>
              <a:srgbClr val="E0E8F0"/>
            </a:solidFill>
            <a:prstDash val="solid"/>
          </a:ln>
          <a:effectLst>
            <a:outerShdw blurRad="63500" dist="25400" dir="8100000" algn="bl" rotWithShape="0">
              <a:srgbClr val="000000">
                <a:alpha val="8000"/>
              </a:srgbClr>
            </a:outerShdw>
          </a:effectLst>
        </p:spPr>
        <p:txBody>
          <a:bodyPr/>
          <a:lstStyle/>
          <a:p>
            <a:endParaRPr lang="en-US"/>
          </a:p>
        </p:txBody>
      </p:sp>
      <p:sp>
        <p:nvSpPr>
          <p:cNvPr id="18" name="Shape 16"/>
          <p:cNvSpPr/>
          <p:nvPr/>
        </p:nvSpPr>
        <p:spPr>
          <a:xfrm>
            <a:off x="228600" y="3182112"/>
            <a:ext cx="54864" cy="749808"/>
          </a:xfrm>
          <a:prstGeom prst="rect">
            <a:avLst/>
          </a:prstGeom>
          <a:solidFill>
            <a:srgbClr val="6B7B8D"/>
          </a:solidFill>
          <a:ln w="12700">
            <a:solidFill>
              <a:srgbClr val="6B7B8D"/>
            </a:solidFill>
            <a:prstDash val="solid"/>
          </a:ln>
        </p:spPr>
        <p:txBody>
          <a:bodyPr/>
          <a:lstStyle/>
          <a:p>
            <a:endParaRPr lang="en-US"/>
          </a:p>
        </p:txBody>
      </p:sp>
      <p:sp>
        <p:nvSpPr>
          <p:cNvPr id="19" name="Text 17"/>
          <p:cNvSpPr/>
          <p:nvPr/>
        </p:nvSpPr>
        <p:spPr>
          <a:xfrm>
            <a:off x="356616" y="3227832"/>
            <a:ext cx="3950208" cy="201168"/>
          </a:xfrm>
          <a:prstGeom prst="rect">
            <a:avLst/>
          </a:prstGeom>
          <a:noFill/>
          <a:ln/>
        </p:spPr>
        <p:txBody>
          <a:bodyPr wrap="square" rtlCol="0" anchor="ctr"/>
          <a:lstStyle/>
          <a:p>
            <a:pPr marL="0" indent="0">
              <a:buNone/>
            </a:pPr>
            <a:r>
              <a:rPr lang="en-US" sz="900" b="1" dirty="0">
                <a:solidFill>
                  <a:srgbClr val="6B7B8D"/>
                </a:solidFill>
                <a:latin typeface="Calibri" pitchFamily="34" charset="0"/>
                <a:ea typeface="Calibri" pitchFamily="34" charset="-122"/>
                <a:cs typeface="Calibri" pitchFamily="34" charset="-120"/>
              </a:rPr>
              <a:t>Content</a:t>
            </a:r>
            <a:endParaRPr lang="en-US" sz="900" dirty="0"/>
          </a:p>
        </p:txBody>
      </p:sp>
      <p:sp>
        <p:nvSpPr>
          <p:cNvPr id="20" name="Text 18"/>
          <p:cNvSpPr/>
          <p:nvPr/>
        </p:nvSpPr>
        <p:spPr>
          <a:xfrm>
            <a:off x="356616" y="3410712"/>
            <a:ext cx="3950208" cy="457200"/>
          </a:xfrm>
          <a:prstGeom prst="rect">
            <a:avLst/>
          </a:prstGeom>
          <a:noFill/>
          <a:ln/>
        </p:spPr>
        <p:txBody>
          <a:bodyPr wrap="square" rtlCol="0" anchor="t"/>
          <a:lstStyle/>
          <a:p>
            <a:pPr marL="0" indent="0">
              <a:buNone/>
            </a:pPr>
            <a:r>
              <a:rPr lang="en-US" sz="950" dirty="0">
                <a:solidFill>
                  <a:srgbClr val="1A2B3C"/>
                </a:solidFill>
                <a:latin typeface="Calibri" pitchFamily="34" charset="0"/>
                <a:ea typeface="Calibri" pitchFamily="34" charset="-122"/>
                <a:cs typeface="Calibri" pitchFamily="34" charset="-120"/>
              </a:rPr>
              <a:t>Feature comparisons, talk tracks, objection handling. Written at one moment in time.</a:t>
            </a:r>
            <a:endParaRPr lang="en-US" sz="950" dirty="0"/>
          </a:p>
        </p:txBody>
      </p:sp>
      <p:sp>
        <p:nvSpPr>
          <p:cNvPr id="21" name="Shape 19"/>
          <p:cNvSpPr/>
          <p:nvPr/>
        </p:nvSpPr>
        <p:spPr>
          <a:xfrm>
            <a:off x="228600" y="3986784"/>
            <a:ext cx="4206240" cy="749808"/>
          </a:xfrm>
          <a:prstGeom prst="rect">
            <a:avLst/>
          </a:prstGeom>
          <a:solidFill>
            <a:srgbClr val="FFFFFF"/>
          </a:solidFill>
          <a:ln w="12700">
            <a:solidFill>
              <a:srgbClr val="E0E8F0"/>
            </a:solidFill>
            <a:prstDash val="solid"/>
          </a:ln>
          <a:effectLst>
            <a:outerShdw blurRad="63500" dist="25400" dir="8100000" algn="bl" rotWithShape="0">
              <a:srgbClr val="000000">
                <a:alpha val="8000"/>
              </a:srgbClr>
            </a:outerShdw>
          </a:effectLst>
        </p:spPr>
        <p:txBody>
          <a:bodyPr/>
          <a:lstStyle/>
          <a:p>
            <a:endParaRPr lang="en-US"/>
          </a:p>
        </p:txBody>
      </p:sp>
      <p:sp>
        <p:nvSpPr>
          <p:cNvPr id="22" name="Shape 20"/>
          <p:cNvSpPr/>
          <p:nvPr/>
        </p:nvSpPr>
        <p:spPr>
          <a:xfrm>
            <a:off x="228600" y="3986784"/>
            <a:ext cx="54864" cy="749808"/>
          </a:xfrm>
          <a:prstGeom prst="rect">
            <a:avLst/>
          </a:prstGeom>
          <a:solidFill>
            <a:srgbClr val="6B7B8D"/>
          </a:solidFill>
          <a:ln w="12700">
            <a:solidFill>
              <a:srgbClr val="6B7B8D"/>
            </a:solidFill>
            <a:prstDash val="solid"/>
          </a:ln>
        </p:spPr>
        <p:txBody>
          <a:bodyPr/>
          <a:lstStyle/>
          <a:p>
            <a:endParaRPr lang="en-US"/>
          </a:p>
        </p:txBody>
      </p:sp>
      <p:sp>
        <p:nvSpPr>
          <p:cNvPr id="23" name="Text 21"/>
          <p:cNvSpPr/>
          <p:nvPr/>
        </p:nvSpPr>
        <p:spPr>
          <a:xfrm>
            <a:off x="356616" y="4032504"/>
            <a:ext cx="3950208" cy="201168"/>
          </a:xfrm>
          <a:prstGeom prst="rect">
            <a:avLst/>
          </a:prstGeom>
          <a:noFill/>
          <a:ln/>
        </p:spPr>
        <p:txBody>
          <a:bodyPr wrap="square" rtlCol="0" anchor="ctr"/>
          <a:lstStyle/>
          <a:p>
            <a:pPr marL="0" indent="0">
              <a:buNone/>
            </a:pPr>
            <a:r>
              <a:rPr lang="en-US" sz="900" b="1" dirty="0">
                <a:solidFill>
                  <a:srgbClr val="6B7B8D"/>
                </a:solidFill>
                <a:latin typeface="Calibri" pitchFamily="34" charset="0"/>
                <a:ea typeface="Calibri" pitchFamily="34" charset="-122"/>
                <a:cs typeface="Calibri" pitchFamily="34" charset="-120"/>
              </a:rPr>
              <a:t>Freshness</a:t>
            </a:r>
            <a:endParaRPr lang="en-US" sz="900" dirty="0"/>
          </a:p>
        </p:txBody>
      </p:sp>
      <p:sp>
        <p:nvSpPr>
          <p:cNvPr id="24" name="Text 22"/>
          <p:cNvSpPr/>
          <p:nvPr/>
        </p:nvSpPr>
        <p:spPr>
          <a:xfrm>
            <a:off x="356616" y="4215384"/>
            <a:ext cx="3950208" cy="457200"/>
          </a:xfrm>
          <a:prstGeom prst="rect">
            <a:avLst/>
          </a:prstGeom>
          <a:noFill/>
          <a:ln/>
        </p:spPr>
        <p:txBody>
          <a:bodyPr wrap="square" rtlCol="0" anchor="t"/>
          <a:lstStyle/>
          <a:p>
            <a:pPr marL="0" indent="0">
              <a:buNone/>
            </a:pPr>
            <a:r>
              <a:rPr lang="en-US" sz="950" dirty="0">
                <a:solidFill>
                  <a:srgbClr val="1A2B3C"/>
                </a:solidFill>
                <a:latin typeface="Calibri" pitchFamily="34" charset="0"/>
                <a:ea typeface="Calibri" pitchFamily="34" charset="-122"/>
                <a:cs typeface="Calibri" pitchFamily="34" charset="-120"/>
              </a:rPr>
              <a:t>No freshness indicator. Rep has no way to know if it's current.</a:t>
            </a:r>
            <a:endParaRPr lang="en-US" sz="950" dirty="0"/>
          </a:p>
        </p:txBody>
      </p:sp>
      <p:sp>
        <p:nvSpPr>
          <p:cNvPr id="25" name="Shape 23"/>
          <p:cNvSpPr/>
          <p:nvPr/>
        </p:nvSpPr>
        <p:spPr>
          <a:xfrm>
            <a:off x="228600" y="4791456"/>
            <a:ext cx="4206240" cy="749808"/>
          </a:xfrm>
          <a:prstGeom prst="rect">
            <a:avLst/>
          </a:prstGeom>
          <a:solidFill>
            <a:srgbClr val="FFFFFF"/>
          </a:solidFill>
          <a:ln w="12700">
            <a:solidFill>
              <a:srgbClr val="E0E8F0"/>
            </a:solidFill>
            <a:prstDash val="solid"/>
          </a:ln>
          <a:effectLst>
            <a:outerShdw blurRad="63500" dist="25400" dir="8100000" algn="bl" rotWithShape="0">
              <a:srgbClr val="000000">
                <a:alpha val="8000"/>
              </a:srgbClr>
            </a:outerShdw>
          </a:effectLst>
        </p:spPr>
        <p:txBody>
          <a:bodyPr/>
          <a:lstStyle/>
          <a:p>
            <a:endParaRPr lang="en-US"/>
          </a:p>
        </p:txBody>
      </p:sp>
      <p:sp>
        <p:nvSpPr>
          <p:cNvPr id="26" name="Shape 24"/>
          <p:cNvSpPr/>
          <p:nvPr/>
        </p:nvSpPr>
        <p:spPr>
          <a:xfrm>
            <a:off x="228600" y="4791456"/>
            <a:ext cx="54864" cy="749808"/>
          </a:xfrm>
          <a:prstGeom prst="rect">
            <a:avLst/>
          </a:prstGeom>
          <a:solidFill>
            <a:srgbClr val="6B7B8D"/>
          </a:solidFill>
          <a:ln w="12700">
            <a:solidFill>
              <a:srgbClr val="6B7B8D"/>
            </a:solidFill>
            <a:prstDash val="solid"/>
          </a:ln>
        </p:spPr>
        <p:txBody>
          <a:bodyPr/>
          <a:lstStyle/>
          <a:p>
            <a:endParaRPr lang="en-US"/>
          </a:p>
        </p:txBody>
      </p:sp>
      <p:sp>
        <p:nvSpPr>
          <p:cNvPr id="27" name="Text 25"/>
          <p:cNvSpPr/>
          <p:nvPr/>
        </p:nvSpPr>
        <p:spPr>
          <a:xfrm>
            <a:off x="356616" y="4837176"/>
            <a:ext cx="3950208" cy="201168"/>
          </a:xfrm>
          <a:prstGeom prst="rect">
            <a:avLst/>
          </a:prstGeom>
          <a:noFill/>
          <a:ln/>
        </p:spPr>
        <p:txBody>
          <a:bodyPr wrap="square" rtlCol="0" anchor="ctr"/>
          <a:lstStyle/>
          <a:p>
            <a:pPr marL="0" indent="0">
              <a:buNone/>
            </a:pPr>
            <a:r>
              <a:rPr lang="en-US" sz="900" b="1" dirty="0">
                <a:solidFill>
                  <a:srgbClr val="6B7B8D"/>
                </a:solidFill>
                <a:latin typeface="Calibri" pitchFamily="34" charset="0"/>
                <a:ea typeface="Calibri" pitchFamily="34" charset="-122"/>
                <a:cs typeface="Calibri" pitchFamily="34" charset="-120"/>
              </a:rPr>
              <a:t>Distribution</a:t>
            </a:r>
            <a:endParaRPr lang="en-US" sz="900" dirty="0"/>
          </a:p>
        </p:txBody>
      </p:sp>
      <p:sp>
        <p:nvSpPr>
          <p:cNvPr id="28" name="Text 26"/>
          <p:cNvSpPr/>
          <p:nvPr/>
        </p:nvSpPr>
        <p:spPr>
          <a:xfrm>
            <a:off x="356616" y="5020056"/>
            <a:ext cx="3950208" cy="457200"/>
          </a:xfrm>
          <a:prstGeom prst="rect">
            <a:avLst/>
          </a:prstGeom>
          <a:noFill/>
          <a:ln/>
        </p:spPr>
        <p:txBody>
          <a:bodyPr wrap="square" rtlCol="0" anchor="t"/>
          <a:lstStyle/>
          <a:p>
            <a:pPr marL="0" indent="0">
              <a:buNone/>
            </a:pPr>
            <a:r>
              <a:rPr lang="en-US" sz="950" dirty="0">
                <a:solidFill>
                  <a:srgbClr val="1A2B3C"/>
                </a:solidFill>
                <a:latin typeface="Calibri" pitchFamily="34" charset="0"/>
                <a:ea typeface="Calibri" pitchFamily="34" charset="-122"/>
                <a:cs typeface="Calibri" pitchFamily="34" charset="-120"/>
              </a:rPr>
              <a:t>Slack message when published. Link buried in enablement folder.</a:t>
            </a:r>
            <a:endParaRPr lang="en-US" sz="950" dirty="0"/>
          </a:p>
        </p:txBody>
      </p:sp>
      <p:sp>
        <p:nvSpPr>
          <p:cNvPr id="29" name="Shape 27"/>
          <p:cNvSpPr/>
          <p:nvPr/>
        </p:nvSpPr>
        <p:spPr>
          <a:xfrm>
            <a:off x="228600" y="5596128"/>
            <a:ext cx="4206240" cy="749808"/>
          </a:xfrm>
          <a:prstGeom prst="rect">
            <a:avLst/>
          </a:prstGeom>
          <a:solidFill>
            <a:srgbClr val="FFFFFF"/>
          </a:solidFill>
          <a:ln w="12700">
            <a:solidFill>
              <a:srgbClr val="E0E8F0"/>
            </a:solidFill>
            <a:prstDash val="solid"/>
          </a:ln>
          <a:effectLst>
            <a:outerShdw blurRad="63500" dist="25400" dir="8100000" algn="bl" rotWithShape="0">
              <a:srgbClr val="000000">
                <a:alpha val="8000"/>
              </a:srgbClr>
            </a:outerShdw>
          </a:effectLst>
        </p:spPr>
        <p:txBody>
          <a:bodyPr/>
          <a:lstStyle/>
          <a:p>
            <a:endParaRPr lang="en-US"/>
          </a:p>
        </p:txBody>
      </p:sp>
      <p:sp>
        <p:nvSpPr>
          <p:cNvPr id="30" name="Shape 28"/>
          <p:cNvSpPr/>
          <p:nvPr/>
        </p:nvSpPr>
        <p:spPr>
          <a:xfrm>
            <a:off x="228600" y="5596128"/>
            <a:ext cx="54864" cy="749808"/>
          </a:xfrm>
          <a:prstGeom prst="rect">
            <a:avLst/>
          </a:prstGeom>
          <a:solidFill>
            <a:srgbClr val="6B7B8D"/>
          </a:solidFill>
          <a:ln w="12700">
            <a:solidFill>
              <a:srgbClr val="6B7B8D"/>
            </a:solidFill>
            <a:prstDash val="solid"/>
          </a:ln>
        </p:spPr>
        <p:txBody>
          <a:bodyPr/>
          <a:lstStyle/>
          <a:p>
            <a:endParaRPr lang="en-US"/>
          </a:p>
        </p:txBody>
      </p:sp>
      <p:sp>
        <p:nvSpPr>
          <p:cNvPr id="31" name="Text 29"/>
          <p:cNvSpPr/>
          <p:nvPr/>
        </p:nvSpPr>
        <p:spPr>
          <a:xfrm>
            <a:off x="356616" y="5641848"/>
            <a:ext cx="3950208" cy="201168"/>
          </a:xfrm>
          <a:prstGeom prst="rect">
            <a:avLst/>
          </a:prstGeom>
          <a:noFill/>
          <a:ln/>
        </p:spPr>
        <p:txBody>
          <a:bodyPr wrap="square" rtlCol="0" anchor="ctr"/>
          <a:lstStyle/>
          <a:p>
            <a:pPr marL="0" indent="0">
              <a:buNone/>
            </a:pPr>
            <a:r>
              <a:rPr lang="en-US" sz="900" b="1" dirty="0">
                <a:solidFill>
                  <a:srgbClr val="6B7B8D"/>
                </a:solidFill>
                <a:latin typeface="Calibri" pitchFamily="34" charset="0"/>
                <a:ea typeface="Calibri" pitchFamily="34" charset="-122"/>
                <a:cs typeface="Calibri" pitchFamily="34" charset="-120"/>
              </a:rPr>
              <a:t>Feedback</a:t>
            </a:r>
            <a:endParaRPr lang="en-US" sz="900" dirty="0"/>
          </a:p>
        </p:txBody>
      </p:sp>
      <p:sp>
        <p:nvSpPr>
          <p:cNvPr id="32" name="Text 30"/>
          <p:cNvSpPr/>
          <p:nvPr/>
        </p:nvSpPr>
        <p:spPr>
          <a:xfrm>
            <a:off x="356616" y="5824728"/>
            <a:ext cx="3950208" cy="457200"/>
          </a:xfrm>
          <a:prstGeom prst="rect">
            <a:avLst/>
          </a:prstGeom>
          <a:noFill/>
          <a:ln/>
        </p:spPr>
        <p:txBody>
          <a:bodyPr wrap="square" rtlCol="0" anchor="t"/>
          <a:lstStyle/>
          <a:p>
            <a:pPr marL="0" indent="0">
              <a:buNone/>
            </a:pPr>
            <a:r>
              <a:rPr lang="en-US" sz="950" dirty="0">
                <a:solidFill>
                  <a:srgbClr val="1A2B3C"/>
                </a:solidFill>
                <a:latin typeface="Calibri" pitchFamily="34" charset="0"/>
                <a:ea typeface="Calibri" pitchFamily="34" charset="-122"/>
                <a:cs typeface="Calibri" pitchFamily="34" charset="-120"/>
              </a:rPr>
              <a:t>None. Win/loss data never reaches the battlecard.</a:t>
            </a:r>
            <a:endParaRPr lang="en-US" sz="950" dirty="0"/>
          </a:p>
        </p:txBody>
      </p:sp>
      <p:sp>
        <p:nvSpPr>
          <p:cNvPr id="33" name="Shape 31"/>
          <p:cNvSpPr/>
          <p:nvPr/>
        </p:nvSpPr>
        <p:spPr>
          <a:xfrm>
            <a:off x="4572000" y="1115568"/>
            <a:ext cx="4206240" cy="384048"/>
          </a:xfrm>
          <a:prstGeom prst="rect">
            <a:avLst/>
          </a:prstGeom>
          <a:solidFill>
            <a:srgbClr val="1A7A4A"/>
          </a:solidFill>
          <a:ln w="12700">
            <a:solidFill>
              <a:srgbClr val="1A7A4A"/>
            </a:solidFill>
            <a:prstDash val="solid"/>
          </a:ln>
        </p:spPr>
        <p:txBody>
          <a:bodyPr/>
          <a:lstStyle/>
          <a:p>
            <a:endParaRPr lang="en-US"/>
          </a:p>
        </p:txBody>
      </p:sp>
      <p:sp>
        <p:nvSpPr>
          <p:cNvPr id="34" name="Text 32"/>
          <p:cNvSpPr/>
          <p:nvPr/>
        </p:nvSpPr>
        <p:spPr>
          <a:xfrm>
            <a:off x="4663440" y="1133856"/>
            <a:ext cx="4023360" cy="329184"/>
          </a:xfrm>
          <a:prstGeom prst="rect">
            <a:avLst/>
          </a:prstGeom>
          <a:noFill/>
          <a:ln/>
        </p:spPr>
        <p:txBody>
          <a:bodyPr wrap="square" rtlCol="0" anchor="ctr"/>
          <a:lstStyle/>
          <a:p>
            <a:pPr marL="0" indent="0">
              <a:buNone/>
            </a:pPr>
            <a:r>
              <a:rPr lang="en-US" sz="1050" b="1" kern="0" spc="50" dirty="0">
                <a:solidFill>
                  <a:srgbClr val="FFFFFF"/>
                </a:solidFill>
                <a:latin typeface="Calibri" pitchFamily="34" charset="0"/>
                <a:ea typeface="Calibri" pitchFamily="34" charset="-122"/>
                <a:cs typeface="Calibri" pitchFamily="34" charset="-120"/>
              </a:rPr>
              <a:t>AFTER: The Living Battlecard</a:t>
            </a:r>
            <a:endParaRPr lang="en-US" sz="1050" dirty="0"/>
          </a:p>
        </p:txBody>
      </p:sp>
      <p:sp>
        <p:nvSpPr>
          <p:cNvPr id="35" name="Shape 33"/>
          <p:cNvSpPr/>
          <p:nvPr/>
        </p:nvSpPr>
        <p:spPr>
          <a:xfrm>
            <a:off x="4572000" y="1572768"/>
            <a:ext cx="4206240" cy="749808"/>
          </a:xfrm>
          <a:prstGeom prst="rect">
            <a:avLst/>
          </a:prstGeom>
          <a:solidFill>
            <a:srgbClr val="FFFFFF"/>
          </a:solidFill>
          <a:ln w="12700">
            <a:solidFill>
              <a:srgbClr val="E0E8F0"/>
            </a:solidFill>
            <a:prstDash val="solid"/>
          </a:ln>
          <a:effectLst>
            <a:outerShdw blurRad="63500" dist="25400" dir="8100000" algn="bl" rotWithShape="0">
              <a:srgbClr val="000000">
                <a:alpha val="8000"/>
              </a:srgbClr>
            </a:outerShdw>
          </a:effectLst>
        </p:spPr>
        <p:txBody>
          <a:bodyPr/>
          <a:lstStyle/>
          <a:p>
            <a:endParaRPr lang="en-US"/>
          </a:p>
        </p:txBody>
      </p:sp>
      <p:sp>
        <p:nvSpPr>
          <p:cNvPr id="36" name="Shape 34"/>
          <p:cNvSpPr/>
          <p:nvPr/>
        </p:nvSpPr>
        <p:spPr>
          <a:xfrm>
            <a:off x="4572000" y="1572768"/>
            <a:ext cx="54864" cy="749808"/>
          </a:xfrm>
          <a:prstGeom prst="rect">
            <a:avLst/>
          </a:prstGeom>
          <a:solidFill>
            <a:srgbClr val="1A7A4A"/>
          </a:solidFill>
          <a:ln w="12700">
            <a:solidFill>
              <a:srgbClr val="1A7A4A"/>
            </a:solidFill>
            <a:prstDash val="solid"/>
          </a:ln>
        </p:spPr>
        <p:txBody>
          <a:bodyPr/>
          <a:lstStyle/>
          <a:p>
            <a:endParaRPr lang="en-US"/>
          </a:p>
        </p:txBody>
      </p:sp>
      <p:sp>
        <p:nvSpPr>
          <p:cNvPr id="37" name="Text 35"/>
          <p:cNvSpPr/>
          <p:nvPr/>
        </p:nvSpPr>
        <p:spPr>
          <a:xfrm>
            <a:off x="4700016" y="1618488"/>
            <a:ext cx="3950208" cy="201168"/>
          </a:xfrm>
          <a:prstGeom prst="rect">
            <a:avLst/>
          </a:prstGeom>
          <a:noFill/>
          <a:ln/>
        </p:spPr>
        <p:txBody>
          <a:bodyPr wrap="square" rtlCol="0" anchor="ctr"/>
          <a:lstStyle/>
          <a:p>
            <a:pPr marL="0" indent="0">
              <a:buNone/>
            </a:pPr>
            <a:r>
              <a:rPr lang="en-US" sz="900" b="1" dirty="0">
                <a:solidFill>
                  <a:srgbClr val="1A7A4A"/>
                </a:solidFill>
                <a:latin typeface="Calibri" pitchFamily="34" charset="0"/>
                <a:ea typeface="Calibri" pitchFamily="34" charset="-122"/>
                <a:cs typeface="Calibri" pitchFamily="34" charset="-120"/>
              </a:rPr>
              <a:t>Format</a:t>
            </a:r>
            <a:endParaRPr lang="en-US" sz="900" dirty="0"/>
          </a:p>
        </p:txBody>
      </p:sp>
      <p:sp>
        <p:nvSpPr>
          <p:cNvPr id="38" name="Text 36"/>
          <p:cNvSpPr/>
          <p:nvPr/>
        </p:nvSpPr>
        <p:spPr>
          <a:xfrm>
            <a:off x="4700016" y="1801368"/>
            <a:ext cx="3950208" cy="457200"/>
          </a:xfrm>
          <a:prstGeom prst="rect">
            <a:avLst/>
          </a:prstGeom>
          <a:noFill/>
          <a:ln/>
        </p:spPr>
        <p:txBody>
          <a:bodyPr wrap="square" rtlCol="0" anchor="t"/>
          <a:lstStyle/>
          <a:p>
            <a:pPr marL="0" indent="0">
              <a:buNone/>
            </a:pPr>
            <a:r>
              <a:rPr lang="en-US" sz="950" dirty="0">
                <a:solidFill>
                  <a:srgbClr val="1A2B3C"/>
                </a:solidFill>
                <a:latin typeface="Calibri" pitchFamily="34" charset="0"/>
                <a:ea typeface="Calibri" pitchFamily="34" charset="-122"/>
                <a:cs typeface="Calibri" pitchFamily="34" charset="-120"/>
              </a:rPr>
              <a:t>Structured data record in Notion/Confluence, updated via agent write-back.</a:t>
            </a:r>
            <a:endParaRPr lang="en-US" sz="950" dirty="0"/>
          </a:p>
        </p:txBody>
      </p:sp>
      <p:sp>
        <p:nvSpPr>
          <p:cNvPr id="39" name="Shape 37"/>
          <p:cNvSpPr/>
          <p:nvPr/>
        </p:nvSpPr>
        <p:spPr>
          <a:xfrm>
            <a:off x="4572000" y="2377440"/>
            <a:ext cx="4206240" cy="749808"/>
          </a:xfrm>
          <a:prstGeom prst="rect">
            <a:avLst/>
          </a:prstGeom>
          <a:solidFill>
            <a:srgbClr val="FFFFFF"/>
          </a:solidFill>
          <a:ln w="12700">
            <a:solidFill>
              <a:srgbClr val="E0E8F0"/>
            </a:solidFill>
            <a:prstDash val="solid"/>
          </a:ln>
          <a:effectLst>
            <a:outerShdw blurRad="63500" dist="25400" dir="8100000" algn="bl" rotWithShape="0">
              <a:srgbClr val="000000">
                <a:alpha val="8000"/>
              </a:srgbClr>
            </a:outerShdw>
          </a:effectLst>
        </p:spPr>
        <p:txBody>
          <a:bodyPr/>
          <a:lstStyle/>
          <a:p>
            <a:endParaRPr lang="en-US"/>
          </a:p>
        </p:txBody>
      </p:sp>
      <p:sp>
        <p:nvSpPr>
          <p:cNvPr id="40" name="Shape 38"/>
          <p:cNvSpPr/>
          <p:nvPr/>
        </p:nvSpPr>
        <p:spPr>
          <a:xfrm>
            <a:off x="4572000" y="2377440"/>
            <a:ext cx="54864" cy="749808"/>
          </a:xfrm>
          <a:prstGeom prst="rect">
            <a:avLst/>
          </a:prstGeom>
          <a:solidFill>
            <a:srgbClr val="1A7A4A"/>
          </a:solidFill>
          <a:ln w="12700">
            <a:solidFill>
              <a:srgbClr val="1A7A4A"/>
            </a:solidFill>
            <a:prstDash val="solid"/>
          </a:ln>
        </p:spPr>
        <p:txBody>
          <a:bodyPr/>
          <a:lstStyle/>
          <a:p>
            <a:endParaRPr lang="en-US"/>
          </a:p>
        </p:txBody>
      </p:sp>
      <p:sp>
        <p:nvSpPr>
          <p:cNvPr id="41" name="Text 39"/>
          <p:cNvSpPr/>
          <p:nvPr/>
        </p:nvSpPr>
        <p:spPr>
          <a:xfrm>
            <a:off x="4700016" y="2423160"/>
            <a:ext cx="3950208" cy="201168"/>
          </a:xfrm>
          <a:prstGeom prst="rect">
            <a:avLst/>
          </a:prstGeom>
          <a:noFill/>
          <a:ln/>
        </p:spPr>
        <p:txBody>
          <a:bodyPr wrap="square" rtlCol="0" anchor="ctr"/>
          <a:lstStyle/>
          <a:p>
            <a:pPr marL="0" indent="0">
              <a:buNone/>
            </a:pPr>
            <a:r>
              <a:rPr lang="en-US" sz="900" b="1" dirty="0">
                <a:solidFill>
                  <a:srgbClr val="1A7A4A"/>
                </a:solidFill>
                <a:latin typeface="Calibri" pitchFamily="34" charset="0"/>
                <a:ea typeface="Calibri" pitchFamily="34" charset="-122"/>
                <a:cs typeface="Calibri" pitchFamily="34" charset="-120"/>
              </a:rPr>
              <a:t>Update cycle</a:t>
            </a:r>
            <a:endParaRPr lang="en-US" sz="900" dirty="0"/>
          </a:p>
        </p:txBody>
      </p:sp>
      <p:sp>
        <p:nvSpPr>
          <p:cNvPr id="42" name="Text 40"/>
          <p:cNvSpPr/>
          <p:nvPr/>
        </p:nvSpPr>
        <p:spPr>
          <a:xfrm>
            <a:off x="4700016" y="2606040"/>
            <a:ext cx="3950208" cy="457200"/>
          </a:xfrm>
          <a:prstGeom prst="rect">
            <a:avLst/>
          </a:prstGeom>
          <a:noFill/>
          <a:ln/>
        </p:spPr>
        <p:txBody>
          <a:bodyPr wrap="square" rtlCol="0" anchor="t"/>
          <a:lstStyle/>
          <a:p>
            <a:pPr marL="0" indent="0">
              <a:buNone/>
            </a:pPr>
            <a:r>
              <a:rPr lang="en-US" sz="950" dirty="0">
                <a:solidFill>
                  <a:srgbClr val="1A2B3C"/>
                </a:solidFill>
                <a:latin typeface="Calibri" pitchFamily="34" charset="0"/>
                <a:ea typeface="Calibri" pitchFamily="34" charset="-122"/>
                <a:cs typeface="Calibri" pitchFamily="34" charset="-120"/>
              </a:rPr>
              <a:t>Triggered by signal threshold — within 24–48 hours of meaningful change.</a:t>
            </a:r>
            <a:endParaRPr lang="en-US" sz="950" dirty="0"/>
          </a:p>
        </p:txBody>
      </p:sp>
      <p:sp>
        <p:nvSpPr>
          <p:cNvPr id="43" name="Shape 41"/>
          <p:cNvSpPr/>
          <p:nvPr/>
        </p:nvSpPr>
        <p:spPr>
          <a:xfrm>
            <a:off x="4572000" y="3182112"/>
            <a:ext cx="4206240" cy="749808"/>
          </a:xfrm>
          <a:prstGeom prst="rect">
            <a:avLst/>
          </a:prstGeom>
          <a:solidFill>
            <a:srgbClr val="FFFFFF"/>
          </a:solidFill>
          <a:ln w="12700">
            <a:solidFill>
              <a:srgbClr val="E0E8F0"/>
            </a:solidFill>
            <a:prstDash val="solid"/>
          </a:ln>
          <a:effectLst>
            <a:outerShdw blurRad="63500" dist="25400" dir="8100000" algn="bl" rotWithShape="0">
              <a:srgbClr val="000000">
                <a:alpha val="8000"/>
              </a:srgbClr>
            </a:outerShdw>
          </a:effectLst>
        </p:spPr>
        <p:txBody>
          <a:bodyPr/>
          <a:lstStyle/>
          <a:p>
            <a:endParaRPr lang="en-US"/>
          </a:p>
        </p:txBody>
      </p:sp>
      <p:sp>
        <p:nvSpPr>
          <p:cNvPr id="44" name="Shape 42"/>
          <p:cNvSpPr/>
          <p:nvPr/>
        </p:nvSpPr>
        <p:spPr>
          <a:xfrm>
            <a:off x="4572000" y="3182112"/>
            <a:ext cx="54864" cy="749808"/>
          </a:xfrm>
          <a:prstGeom prst="rect">
            <a:avLst/>
          </a:prstGeom>
          <a:solidFill>
            <a:srgbClr val="1A7A4A"/>
          </a:solidFill>
          <a:ln w="12700">
            <a:solidFill>
              <a:srgbClr val="1A7A4A"/>
            </a:solidFill>
            <a:prstDash val="solid"/>
          </a:ln>
        </p:spPr>
        <p:txBody>
          <a:bodyPr/>
          <a:lstStyle/>
          <a:p>
            <a:endParaRPr lang="en-US"/>
          </a:p>
        </p:txBody>
      </p:sp>
      <p:sp>
        <p:nvSpPr>
          <p:cNvPr id="45" name="Text 43"/>
          <p:cNvSpPr/>
          <p:nvPr/>
        </p:nvSpPr>
        <p:spPr>
          <a:xfrm>
            <a:off x="4700016" y="3227832"/>
            <a:ext cx="3950208" cy="201168"/>
          </a:xfrm>
          <a:prstGeom prst="rect">
            <a:avLst/>
          </a:prstGeom>
          <a:noFill/>
          <a:ln/>
        </p:spPr>
        <p:txBody>
          <a:bodyPr wrap="square" rtlCol="0" anchor="ctr"/>
          <a:lstStyle/>
          <a:p>
            <a:pPr marL="0" indent="0">
              <a:buNone/>
            </a:pPr>
            <a:r>
              <a:rPr lang="en-US" sz="900" b="1" dirty="0">
                <a:solidFill>
                  <a:srgbClr val="1A7A4A"/>
                </a:solidFill>
                <a:latin typeface="Calibri" pitchFamily="34" charset="0"/>
                <a:ea typeface="Calibri" pitchFamily="34" charset="-122"/>
                <a:cs typeface="Calibri" pitchFamily="34" charset="-120"/>
              </a:rPr>
              <a:t>Content</a:t>
            </a:r>
            <a:endParaRPr lang="en-US" sz="900" dirty="0"/>
          </a:p>
        </p:txBody>
      </p:sp>
      <p:sp>
        <p:nvSpPr>
          <p:cNvPr id="46" name="Text 44"/>
          <p:cNvSpPr/>
          <p:nvPr/>
        </p:nvSpPr>
        <p:spPr>
          <a:xfrm>
            <a:off x="4700016" y="3410712"/>
            <a:ext cx="3950208" cy="457200"/>
          </a:xfrm>
          <a:prstGeom prst="rect">
            <a:avLst/>
          </a:prstGeom>
          <a:noFill/>
          <a:ln/>
        </p:spPr>
        <p:txBody>
          <a:bodyPr wrap="square" rtlCol="0" anchor="t"/>
          <a:lstStyle/>
          <a:p>
            <a:pPr marL="0" indent="0">
              <a:buNone/>
            </a:pPr>
            <a:r>
              <a:rPr lang="en-US" sz="950" dirty="0">
                <a:solidFill>
                  <a:srgbClr val="1A2B3C"/>
                </a:solidFill>
                <a:latin typeface="Calibri" pitchFamily="34" charset="0"/>
                <a:ea typeface="Calibri" pitchFamily="34" charset="-122"/>
                <a:cs typeface="Calibri" pitchFamily="34" charset="-120"/>
              </a:rPr>
              <a:t>Same sections plus: freshness timestamp, change delta, signal source, confidence level.</a:t>
            </a:r>
            <a:endParaRPr lang="en-US" sz="950" dirty="0"/>
          </a:p>
        </p:txBody>
      </p:sp>
      <p:sp>
        <p:nvSpPr>
          <p:cNvPr id="47" name="Shape 45"/>
          <p:cNvSpPr/>
          <p:nvPr/>
        </p:nvSpPr>
        <p:spPr>
          <a:xfrm>
            <a:off x="4572000" y="3986784"/>
            <a:ext cx="4206240" cy="749808"/>
          </a:xfrm>
          <a:prstGeom prst="rect">
            <a:avLst/>
          </a:prstGeom>
          <a:solidFill>
            <a:srgbClr val="FFFFFF"/>
          </a:solidFill>
          <a:ln w="12700">
            <a:solidFill>
              <a:srgbClr val="E0E8F0"/>
            </a:solidFill>
            <a:prstDash val="solid"/>
          </a:ln>
          <a:effectLst>
            <a:outerShdw blurRad="63500" dist="25400" dir="8100000" algn="bl" rotWithShape="0">
              <a:srgbClr val="000000">
                <a:alpha val="8000"/>
              </a:srgbClr>
            </a:outerShdw>
          </a:effectLst>
        </p:spPr>
        <p:txBody>
          <a:bodyPr/>
          <a:lstStyle/>
          <a:p>
            <a:endParaRPr lang="en-US"/>
          </a:p>
        </p:txBody>
      </p:sp>
      <p:sp>
        <p:nvSpPr>
          <p:cNvPr id="48" name="Shape 46"/>
          <p:cNvSpPr/>
          <p:nvPr/>
        </p:nvSpPr>
        <p:spPr>
          <a:xfrm>
            <a:off x="4572000" y="3986784"/>
            <a:ext cx="54864" cy="749808"/>
          </a:xfrm>
          <a:prstGeom prst="rect">
            <a:avLst/>
          </a:prstGeom>
          <a:solidFill>
            <a:srgbClr val="1A7A4A"/>
          </a:solidFill>
          <a:ln w="12700">
            <a:solidFill>
              <a:srgbClr val="1A7A4A"/>
            </a:solidFill>
            <a:prstDash val="solid"/>
          </a:ln>
        </p:spPr>
        <p:txBody>
          <a:bodyPr/>
          <a:lstStyle/>
          <a:p>
            <a:endParaRPr lang="en-US"/>
          </a:p>
        </p:txBody>
      </p:sp>
      <p:sp>
        <p:nvSpPr>
          <p:cNvPr id="49" name="Text 47"/>
          <p:cNvSpPr/>
          <p:nvPr/>
        </p:nvSpPr>
        <p:spPr>
          <a:xfrm>
            <a:off x="4700016" y="4032504"/>
            <a:ext cx="3950208" cy="201168"/>
          </a:xfrm>
          <a:prstGeom prst="rect">
            <a:avLst/>
          </a:prstGeom>
          <a:noFill/>
          <a:ln/>
        </p:spPr>
        <p:txBody>
          <a:bodyPr wrap="square" rtlCol="0" anchor="ctr"/>
          <a:lstStyle/>
          <a:p>
            <a:pPr marL="0" indent="0">
              <a:buNone/>
            </a:pPr>
            <a:r>
              <a:rPr lang="en-US" sz="900" b="1" dirty="0">
                <a:solidFill>
                  <a:srgbClr val="1A7A4A"/>
                </a:solidFill>
                <a:latin typeface="Calibri" pitchFamily="34" charset="0"/>
                <a:ea typeface="Calibri" pitchFamily="34" charset="-122"/>
                <a:cs typeface="Calibri" pitchFamily="34" charset="-120"/>
              </a:rPr>
              <a:t>Freshness</a:t>
            </a:r>
            <a:endParaRPr lang="en-US" sz="900" dirty="0"/>
          </a:p>
        </p:txBody>
      </p:sp>
      <p:sp>
        <p:nvSpPr>
          <p:cNvPr id="50" name="Text 48"/>
          <p:cNvSpPr/>
          <p:nvPr/>
        </p:nvSpPr>
        <p:spPr>
          <a:xfrm>
            <a:off x="4700016" y="4215384"/>
            <a:ext cx="3950208" cy="457200"/>
          </a:xfrm>
          <a:prstGeom prst="rect">
            <a:avLst/>
          </a:prstGeom>
          <a:noFill/>
          <a:ln/>
        </p:spPr>
        <p:txBody>
          <a:bodyPr wrap="square" rtlCol="0" anchor="t"/>
          <a:lstStyle/>
          <a:p>
            <a:pPr marL="0" indent="0">
              <a:buNone/>
            </a:pPr>
            <a:r>
              <a:rPr lang="en-US" sz="950" dirty="0">
                <a:solidFill>
                  <a:srgbClr val="1A2B3C"/>
                </a:solidFill>
                <a:latin typeface="Calibri" pitchFamily="34" charset="0"/>
                <a:ea typeface="Calibri" pitchFamily="34" charset="-122"/>
                <a:cs typeface="Calibri" pitchFamily="34" charset="-120"/>
              </a:rPr>
              <a:t>'Last updated 2 days ago based on 3 signals — see changelog.' PMM-verified.</a:t>
            </a:r>
            <a:endParaRPr lang="en-US" sz="950" dirty="0"/>
          </a:p>
        </p:txBody>
      </p:sp>
      <p:sp>
        <p:nvSpPr>
          <p:cNvPr id="51" name="Shape 49"/>
          <p:cNvSpPr/>
          <p:nvPr/>
        </p:nvSpPr>
        <p:spPr>
          <a:xfrm>
            <a:off x="4572000" y="4791456"/>
            <a:ext cx="4206240" cy="749808"/>
          </a:xfrm>
          <a:prstGeom prst="rect">
            <a:avLst/>
          </a:prstGeom>
          <a:solidFill>
            <a:srgbClr val="FFFFFF"/>
          </a:solidFill>
          <a:ln w="12700">
            <a:solidFill>
              <a:srgbClr val="E0E8F0"/>
            </a:solidFill>
            <a:prstDash val="solid"/>
          </a:ln>
          <a:effectLst>
            <a:outerShdw blurRad="63500" dist="25400" dir="8100000" algn="bl" rotWithShape="0">
              <a:srgbClr val="000000">
                <a:alpha val="8000"/>
              </a:srgbClr>
            </a:outerShdw>
          </a:effectLst>
        </p:spPr>
        <p:txBody>
          <a:bodyPr/>
          <a:lstStyle/>
          <a:p>
            <a:endParaRPr lang="en-US"/>
          </a:p>
        </p:txBody>
      </p:sp>
      <p:sp>
        <p:nvSpPr>
          <p:cNvPr id="52" name="Shape 50"/>
          <p:cNvSpPr/>
          <p:nvPr/>
        </p:nvSpPr>
        <p:spPr>
          <a:xfrm>
            <a:off x="4572000" y="4791456"/>
            <a:ext cx="54864" cy="749808"/>
          </a:xfrm>
          <a:prstGeom prst="rect">
            <a:avLst/>
          </a:prstGeom>
          <a:solidFill>
            <a:srgbClr val="1A7A4A"/>
          </a:solidFill>
          <a:ln w="12700">
            <a:solidFill>
              <a:srgbClr val="1A7A4A"/>
            </a:solidFill>
            <a:prstDash val="solid"/>
          </a:ln>
        </p:spPr>
        <p:txBody>
          <a:bodyPr/>
          <a:lstStyle/>
          <a:p>
            <a:endParaRPr lang="en-US"/>
          </a:p>
        </p:txBody>
      </p:sp>
      <p:sp>
        <p:nvSpPr>
          <p:cNvPr id="53" name="Text 51"/>
          <p:cNvSpPr/>
          <p:nvPr/>
        </p:nvSpPr>
        <p:spPr>
          <a:xfrm>
            <a:off x="4700016" y="4837176"/>
            <a:ext cx="3950208" cy="201168"/>
          </a:xfrm>
          <a:prstGeom prst="rect">
            <a:avLst/>
          </a:prstGeom>
          <a:noFill/>
          <a:ln/>
        </p:spPr>
        <p:txBody>
          <a:bodyPr wrap="square" rtlCol="0" anchor="ctr"/>
          <a:lstStyle/>
          <a:p>
            <a:pPr marL="0" indent="0">
              <a:buNone/>
            </a:pPr>
            <a:r>
              <a:rPr lang="en-US" sz="900" b="1" dirty="0">
                <a:solidFill>
                  <a:srgbClr val="1A7A4A"/>
                </a:solidFill>
                <a:latin typeface="Calibri" pitchFamily="34" charset="0"/>
                <a:ea typeface="Calibri" pitchFamily="34" charset="-122"/>
                <a:cs typeface="Calibri" pitchFamily="34" charset="-120"/>
              </a:rPr>
              <a:t>Distribution</a:t>
            </a:r>
            <a:endParaRPr lang="en-US" sz="900" dirty="0"/>
          </a:p>
        </p:txBody>
      </p:sp>
      <p:sp>
        <p:nvSpPr>
          <p:cNvPr id="54" name="Text 52"/>
          <p:cNvSpPr/>
          <p:nvPr/>
        </p:nvSpPr>
        <p:spPr>
          <a:xfrm>
            <a:off x="4700016" y="5020056"/>
            <a:ext cx="3950208" cy="457200"/>
          </a:xfrm>
          <a:prstGeom prst="rect">
            <a:avLst/>
          </a:prstGeom>
          <a:noFill/>
          <a:ln/>
        </p:spPr>
        <p:txBody>
          <a:bodyPr wrap="square" rtlCol="0" anchor="t"/>
          <a:lstStyle/>
          <a:p>
            <a:pPr marL="0" indent="0">
              <a:buNone/>
            </a:pPr>
            <a:r>
              <a:rPr lang="en-US" sz="950" dirty="0">
                <a:solidFill>
                  <a:srgbClr val="1A2B3C"/>
                </a:solidFill>
                <a:latin typeface="Calibri" pitchFamily="34" charset="0"/>
                <a:ea typeface="Calibri" pitchFamily="34" charset="-122"/>
                <a:cs typeface="Calibri" pitchFamily="34" charset="-120"/>
              </a:rPr>
              <a:t>Push notification to reps with active deals against this competitor. BattleCoach integration.</a:t>
            </a:r>
            <a:endParaRPr lang="en-US" sz="950" dirty="0"/>
          </a:p>
        </p:txBody>
      </p:sp>
      <p:sp>
        <p:nvSpPr>
          <p:cNvPr id="55" name="Shape 53"/>
          <p:cNvSpPr/>
          <p:nvPr/>
        </p:nvSpPr>
        <p:spPr>
          <a:xfrm>
            <a:off x="4572000" y="5596128"/>
            <a:ext cx="4206240" cy="749808"/>
          </a:xfrm>
          <a:prstGeom prst="rect">
            <a:avLst/>
          </a:prstGeom>
          <a:solidFill>
            <a:srgbClr val="FFFFFF"/>
          </a:solidFill>
          <a:ln w="12700">
            <a:solidFill>
              <a:srgbClr val="E0E8F0"/>
            </a:solidFill>
            <a:prstDash val="solid"/>
          </a:ln>
          <a:effectLst>
            <a:outerShdw blurRad="63500" dist="25400" dir="8100000" algn="bl" rotWithShape="0">
              <a:srgbClr val="000000">
                <a:alpha val="8000"/>
              </a:srgbClr>
            </a:outerShdw>
          </a:effectLst>
        </p:spPr>
        <p:txBody>
          <a:bodyPr/>
          <a:lstStyle/>
          <a:p>
            <a:endParaRPr lang="en-US"/>
          </a:p>
        </p:txBody>
      </p:sp>
      <p:sp>
        <p:nvSpPr>
          <p:cNvPr id="56" name="Shape 54"/>
          <p:cNvSpPr/>
          <p:nvPr/>
        </p:nvSpPr>
        <p:spPr>
          <a:xfrm>
            <a:off x="4572000" y="5596128"/>
            <a:ext cx="54864" cy="749808"/>
          </a:xfrm>
          <a:prstGeom prst="rect">
            <a:avLst/>
          </a:prstGeom>
          <a:solidFill>
            <a:srgbClr val="1A7A4A"/>
          </a:solidFill>
          <a:ln w="12700">
            <a:solidFill>
              <a:srgbClr val="1A7A4A"/>
            </a:solidFill>
            <a:prstDash val="solid"/>
          </a:ln>
        </p:spPr>
        <p:txBody>
          <a:bodyPr/>
          <a:lstStyle/>
          <a:p>
            <a:endParaRPr lang="en-US"/>
          </a:p>
        </p:txBody>
      </p:sp>
      <p:sp>
        <p:nvSpPr>
          <p:cNvPr id="57" name="Text 55"/>
          <p:cNvSpPr/>
          <p:nvPr/>
        </p:nvSpPr>
        <p:spPr>
          <a:xfrm>
            <a:off x="4700016" y="5641848"/>
            <a:ext cx="3950208" cy="201168"/>
          </a:xfrm>
          <a:prstGeom prst="rect">
            <a:avLst/>
          </a:prstGeom>
          <a:noFill/>
          <a:ln/>
        </p:spPr>
        <p:txBody>
          <a:bodyPr wrap="square" rtlCol="0" anchor="ctr"/>
          <a:lstStyle/>
          <a:p>
            <a:pPr marL="0" indent="0">
              <a:buNone/>
            </a:pPr>
            <a:r>
              <a:rPr lang="en-US" sz="900" b="1" dirty="0">
                <a:solidFill>
                  <a:srgbClr val="1A7A4A"/>
                </a:solidFill>
                <a:latin typeface="Calibri" pitchFamily="34" charset="0"/>
                <a:ea typeface="Calibri" pitchFamily="34" charset="-122"/>
                <a:cs typeface="Calibri" pitchFamily="34" charset="-120"/>
              </a:rPr>
              <a:t>Feedback</a:t>
            </a:r>
            <a:endParaRPr lang="en-US" sz="900" dirty="0"/>
          </a:p>
        </p:txBody>
      </p:sp>
      <p:sp>
        <p:nvSpPr>
          <p:cNvPr id="58" name="Text 56"/>
          <p:cNvSpPr/>
          <p:nvPr/>
        </p:nvSpPr>
        <p:spPr>
          <a:xfrm>
            <a:off x="4700016" y="5824728"/>
            <a:ext cx="3950208" cy="457200"/>
          </a:xfrm>
          <a:prstGeom prst="rect">
            <a:avLst/>
          </a:prstGeom>
          <a:noFill/>
          <a:ln/>
        </p:spPr>
        <p:txBody>
          <a:bodyPr wrap="square" rtlCol="0" anchor="t"/>
          <a:lstStyle/>
          <a:p>
            <a:pPr marL="0" indent="0">
              <a:buNone/>
            </a:pPr>
            <a:r>
              <a:rPr lang="en-US" sz="950" dirty="0">
                <a:solidFill>
                  <a:srgbClr val="1A2B3C"/>
                </a:solidFill>
                <a:latin typeface="Calibri" pitchFamily="34" charset="0"/>
                <a:ea typeface="Calibri" pitchFamily="34" charset="-122"/>
                <a:cs typeface="Calibri" pitchFamily="34" charset="-120"/>
              </a:rPr>
              <a:t>Win/loss tags feed back to signal layer. Rep notes update confidence scoring.</a:t>
            </a:r>
            <a:endParaRPr lang="en-US" sz="950" dirty="0"/>
          </a:p>
        </p:txBody>
      </p:sp>
      <p:sp>
        <p:nvSpPr>
          <p:cNvPr id="59" name="Text 57"/>
          <p:cNvSpPr/>
          <p:nvPr/>
        </p:nvSpPr>
        <p:spPr>
          <a:xfrm>
            <a:off x="4297680" y="3794760"/>
            <a:ext cx="274320" cy="365760"/>
          </a:xfrm>
          <a:prstGeom prst="rect">
            <a:avLst/>
          </a:prstGeom>
          <a:noFill/>
          <a:ln/>
        </p:spPr>
        <p:txBody>
          <a:bodyPr wrap="square" rtlCol="0" anchor="ctr"/>
          <a:lstStyle/>
          <a:p>
            <a:pPr marL="0" indent="0" algn="ctr">
              <a:buNone/>
            </a:pPr>
            <a:r>
              <a:rPr lang="en-US" sz="2200" b="1" dirty="0">
                <a:solidFill>
                  <a:srgbClr val="1A7A4A"/>
                </a:solidFill>
                <a:latin typeface="Calibri" pitchFamily="34" charset="0"/>
                <a:ea typeface="Calibri" pitchFamily="34" charset="-122"/>
                <a:cs typeface="Calibri" pitchFamily="34" charset="-120"/>
              </a:rPr>
              <a:t>→</a:t>
            </a:r>
            <a:endParaRPr lang="en-US" sz="2200" dirty="0"/>
          </a:p>
        </p:txBody>
      </p:sp>
      <p:sp>
        <p:nvSpPr>
          <p:cNvPr id="60" name="Text 58"/>
          <p:cNvSpPr/>
          <p:nvPr/>
        </p:nvSpPr>
        <p:spPr>
          <a:xfrm>
            <a:off x="228600" y="6400800"/>
            <a:ext cx="8686800" cy="256032"/>
          </a:xfrm>
          <a:prstGeom prst="rect">
            <a:avLst/>
          </a:prstGeom>
          <a:noFill/>
          <a:ln/>
        </p:spPr>
        <p:txBody>
          <a:bodyPr wrap="square" rtlCol="0" anchor="ctr"/>
          <a:lstStyle/>
          <a:p>
            <a:pPr marL="0" indent="0">
              <a:buNone/>
            </a:pPr>
            <a:r>
              <a:rPr lang="en-US" sz="850" i="1" dirty="0">
                <a:solidFill>
                  <a:srgbClr val="6B7B8D"/>
                </a:solidFill>
                <a:latin typeface="Calibri" pitchFamily="34" charset="0"/>
                <a:ea typeface="Calibri" pitchFamily="34" charset="-122"/>
                <a:cs typeface="Calibri" pitchFamily="34" charset="-120"/>
              </a:rPr>
              <a:t>Figure 3. The static quarterly battlecard becomes a living asset when it gains a freshness timestamp, a signal source, a changelog, and a feedback loop from the field.</a:t>
            </a:r>
            <a:endParaRPr lang="en-US" sz="850" dirty="0"/>
          </a:p>
        </p:txBody>
      </p:sp>
      <p:sp>
        <p:nvSpPr>
          <p:cNvPr id="61" name="Text 59"/>
          <p:cNvSpPr/>
          <p:nvPr/>
        </p:nvSpPr>
        <p:spPr>
          <a:xfrm>
            <a:off x="320040" y="6492240"/>
            <a:ext cx="8229600" cy="228600"/>
          </a:xfrm>
          <a:prstGeom prst="rect">
            <a:avLst/>
          </a:prstGeom>
          <a:noFill/>
          <a:ln/>
        </p:spPr>
        <p:txBody>
          <a:bodyPr wrap="square" rtlCol="0" anchor="ctr"/>
          <a:lstStyle/>
          <a:p>
            <a:pPr marL="0" indent="0">
              <a:buNone/>
            </a:pPr>
            <a:r>
              <a:rPr lang="en-US" sz="900" i="1" dirty="0">
                <a:solidFill>
                  <a:srgbClr val="6B7B8D"/>
                </a:solidFill>
                <a:latin typeface="Calibri" pitchFamily="34" charset="0"/>
                <a:ea typeface="Calibri" pitchFamily="34" charset="-122"/>
                <a:cs typeface="Calibri" pitchFamily="34" charset="-120"/>
              </a:rPr>
              <a:t>Chapter 6  ·  The Future of Product Marketing  ·  Chris O'Hara</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7FB"/>
          </a:solidFill>
          <a:ln/>
        </p:spPr>
        <p:txBody>
          <a:bodyPr/>
          <a:lstStyle/>
          <a:p>
            <a:endParaRPr lang="en-US"/>
          </a:p>
        </p:txBody>
      </p:sp>
      <p:sp>
        <p:nvSpPr>
          <p:cNvPr id="3" name="Shape 1"/>
          <p:cNvSpPr/>
          <p:nvPr/>
        </p:nvSpPr>
        <p:spPr>
          <a:xfrm>
            <a:off x="0" y="0"/>
            <a:ext cx="9144000" cy="960120"/>
          </a:xfrm>
          <a:prstGeom prst="rect">
            <a:avLst/>
          </a:prstGeom>
          <a:solidFill>
            <a:srgbClr val="0F2B5B"/>
          </a:solidFill>
          <a:ln/>
        </p:spPr>
        <p:txBody>
          <a:bodyPr/>
          <a:lstStyle/>
          <a:p>
            <a:endParaRPr lang="en-US"/>
          </a:p>
        </p:txBody>
      </p:sp>
      <p:sp>
        <p:nvSpPr>
          <p:cNvPr id="4" name="Shape 2"/>
          <p:cNvSpPr/>
          <p:nvPr/>
        </p:nvSpPr>
        <p:spPr>
          <a:xfrm>
            <a:off x="0" y="960120"/>
            <a:ext cx="9144000" cy="45720"/>
          </a:xfrm>
          <a:prstGeom prst="rect">
            <a:avLst/>
          </a:prstGeom>
          <a:solidFill>
            <a:srgbClr val="1A7A4A"/>
          </a:solidFill>
          <a:ln/>
        </p:spPr>
        <p:txBody>
          <a:bodyPr/>
          <a:lstStyle/>
          <a:p>
            <a:endParaRPr lang="en-US"/>
          </a:p>
        </p:txBody>
      </p:sp>
      <p:sp>
        <p:nvSpPr>
          <p:cNvPr id="5" name="Text 3"/>
          <p:cNvSpPr/>
          <p:nvPr/>
        </p:nvSpPr>
        <p:spPr>
          <a:xfrm>
            <a:off x="320040" y="73152"/>
            <a:ext cx="7772400" cy="502920"/>
          </a:xfrm>
          <a:prstGeom prst="rect">
            <a:avLst/>
          </a:prstGeom>
          <a:noFill/>
          <a:ln/>
        </p:spPr>
        <p:txBody>
          <a:bodyPr wrap="square" rtlCol="0" anchor="ctr"/>
          <a:lstStyle/>
          <a:p>
            <a:pPr marL="0" indent="0">
              <a:buNone/>
            </a:pPr>
            <a:r>
              <a:rPr lang="en-US" sz="2000" b="1" kern="0" spc="200" dirty="0">
                <a:solidFill>
                  <a:srgbClr val="FFFFFF"/>
                </a:solidFill>
                <a:latin typeface="Calibri" pitchFamily="34" charset="0"/>
                <a:ea typeface="Calibri" pitchFamily="34" charset="-122"/>
                <a:cs typeface="Calibri" pitchFamily="34" charset="-120"/>
              </a:rPr>
              <a:t>FIGURE 4</a:t>
            </a:r>
            <a:endParaRPr lang="en-US" sz="2000" dirty="0"/>
          </a:p>
        </p:txBody>
      </p:sp>
      <p:sp>
        <p:nvSpPr>
          <p:cNvPr id="6" name="Text 4"/>
          <p:cNvSpPr/>
          <p:nvPr/>
        </p:nvSpPr>
        <p:spPr>
          <a:xfrm>
            <a:off x="320040" y="548640"/>
            <a:ext cx="8412480" cy="347472"/>
          </a:xfrm>
          <a:prstGeom prst="rect">
            <a:avLst/>
          </a:prstGeom>
          <a:noFill/>
          <a:ln/>
        </p:spPr>
        <p:txBody>
          <a:bodyPr wrap="square" rtlCol="0" anchor="ctr"/>
          <a:lstStyle/>
          <a:p>
            <a:pPr marL="0" indent="0">
              <a:buNone/>
            </a:pPr>
            <a:r>
              <a:rPr lang="en-US" sz="1300" i="1" dirty="0">
                <a:solidFill>
                  <a:srgbClr val="D4A843"/>
                </a:solidFill>
                <a:latin typeface="Georgia" pitchFamily="34" charset="0"/>
                <a:ea typeface="Georgia" pitchFamily="34" charset="-122"/>
                <a:cs typeface="Georgia" pitchFamily="34" charset="-120"/>
              </a:rPr>
              <a:t>The BattleCoach Flywheel: CI signal becomes sales coaching becomes better CI.</a:t>
            </a:r>
            <a:endParaRPr lang="en-US" sz="1300" dirty="0"/>
          </a:p>
        </p:txBody>
      </p:sp>
      <p:sp>
        <p:nvSpPr>
          <p:cNvPr id="7" name="Shape 5"/>
          <p:cNvSpPr/>
          <p:nvPr/>
        </p:nvSpPr>
        <p:spPr>
          <a:xfrm>
            <a:off x="5026587" y="2155952"/>
            <a:ext cx="1559706" cy="808736"/>
          </a:xfrm>
          <a:prstGeom prst="line">
            <a:avLst/>
          </a:prstGeom>
          <a:noFill/>
          <a:ln w="12700">
            <a:solidFill>
              <a:srgbClr val="1A7A4A"/>
            </a:solidFill>
            <a:prstDash val="solid"/>
            <a:tailEnd type="triangle"/>
          </a:ln>
        </p:spPr>
        <p:txBody>
          <a:bodyPr/>
          <a:lstStyle/>
          <a:p>
            <a:endParaRPr lang="en-US"/>
          </a:p>
        </p:txBody>
      </p:sp>
      <p:sp>
        <p:nvSpPr>
          <p:cNvPr id="8" name="Shape 6"/>
          <p:cNvSpPr/>
          <p:nvPr/>
        </p:nvSpPr>
        <p:spPr>
          <a:xfrm>
            <a:off x="6821672" y="3663172"/>
            <a:ext cx="0" cy="811817"/>
          </a:xfrm>
          <a:prstGeom prst="line">
            <a:avLst/>
          </a:prstGeom>
          <a:noFill/>
          <a:ln w="12700">
            <a:solidFill>
              <a:srgbClr val="1A7A4A"/>
            </a:solidFill>
            <a:prstDash val="solid"/>
            <a:tailEnd type="triangle"/>
          </a:ln>
        </p:spPr>
        <p:txBody>
          <a:bodyPr/>
          <a:lstStyle/>
          <a:p>
            <a:endParaRPr lang="en-US"/>
          </a:p>
        </p:txBody>
      </p:sp>
      <p:sp>
        <p:nvSpPr>
          <p:cNvPr id="9" name="Shape 7"/>
          <p:cNvSpPr/>
          <p:nvPr/>
        </p:nvSpPr>
        <p:spPr>
          <a:xfrm>
            <a:off x="5705856" y="4937760"/>
            <a:ext cx="0" cy="0"/>
          </a:xfrm>
          <a:prstGeom prst="line">
            <a:avLst/>
          </a:prstGeom>
          <a:noFill/>
          <a:ln w="12700">
            <a:solidFill>
              <a:srgbClr val="1A7A4A"/>
            </a:solidFill>
            <a:prstDash val="solid"/>
            <a:tailEnd type="triangle"/>
          </a:ln>
        </p:spPr>
        <p:txBody>
          <a:bodyPr/>
          <a:lstStyle/>
          <a:p>
            <a:endParaRPr lang="en-US"/>
          </a:p>
        </p:txBody>
      </p:sp>
      <p:sp>
        <p:nvSpPr>
          <p:cNvPr id="10" name="Shape 8"/>
          <p:cNvSpPr/>
          <p:nvPr/>
        </p:nvSpPr>
        <p:spPr>
          <a:xfrm>
            <a:off x="2706872" y="4474988"/>
            <a:ext cx="0" cy="0"/>
          </a:xfrm>
          <a:prstGeom prst="line">
            <a:avLst/>
          </a:prstGeom>
          <a:noFill/>
          <a:ln w="12700">
            <a:solidFill>
              <a:srgbClr val="1A7A4A"/>
            </a:solidFill>
            <a:prstDash val="solid"/>
            <a:tailEnd type="triangle"/>
          </a:ln>
        </p:spPr>
        <p:txBody>
          <a:bodyPr/>
          <a:lstStyle/>
          <a:p>
            <a:endParaRPr lang="en-US"/>
          </a:p>
        </p:txBody>
      </p:sp>
      <p:sp>
        <p:nvSpPr>
          <p:cNvPr id="11" name="Shape 9"/>
          <p:cNvSpPr/>
          <p:nvPr/>
        </p:nvSpPr>
        <p:spPr>
          <a:xfrm>
            <a:off x="2557707" y="2964688"/>
            <a:ext cx="1559706" cy="0"/>
          </a:xfrm>
          <a:prstGeom prst="line">
            <a:avLst/>
          </a:prstGeom>
          <a:noFill/>
          <a:ln w="12700">
            <a:solidFill>
              <a:srgbClr val="1A7A4A"/>
            </a:solidFill>
            <a:prstDash val="solid"/>
            <a:tailEnd type="triangle"/>
          </a:ln>
        </p:spPr>
        <p:txBody>
          <a:bodyPr/>
          <a:lstStyle/>
          <a:p>
            <a:endParaRPr lang="en-US"/>
          </a:p>
        </p:txBody>
      </p:sp>
      <p:sp>
        <p:nvSpPr>
          <p:cNvPr id="12" name="Shape 10"/>
          <p:cNvSpPr/>
          <p:nvPr/>
        </p:nvSpPr>
        <p:spPr>
          <a:xfrm>
            <a:off x="4059936" y="1408176"/>
            <a:ext cx="1024128" cy="1024128"/>
          </a:xfrm>
          <a:prstGeom prst="ellipse">
            <a:avLst/>
          </a:prstGeom>
          <a:solidFill>
            <a:srgbClr val="1A4A8A"/>
          </a:solidFill>
          <a:ln w="12700">
            <a:solidFill>
              <a:srgbClr val="1A4A8A"/>
            </a:solidFill>
            <a:prstDash val="solid"/>
          </a:ln>
          <a:effectLst>
            <a:outerShdw blurRad="101600" dist="38100" dir="8100000" algn="bl" rotWithShape="0">
              <a:srgbClr val="000000">
                <a:alpha val="10000"/>
              </a:srgbClr>
            </a:outerShdw>
          </a:effectLst>
        </p:spPr>
        <p:txBody>
          <a:bodyPr/>
          <a:lstStyle/>
          <a:p>
            <a:endParaRPr lang="en-US"/>
          </a:p>
        </p:txBody>
      </p:sp>
      <p:pic>
        <p:nvPicPr>
          <p:cNvPr id="13" name="Image 0" descr="preencoded.png"/>
          <p:cNvPicPr>
            <a:picLocks noChangeAspect="1"/>
          </p:cNvPicPr>
          <p:nvPr/>
        </p:nvPicPr>
        <p:blipFill>
          <a:blip r:embed="rId3"/>
          <a:stretch>
            <a:fillRect/>
          </a:stretch>
        </p:blipFill>
        <p:spPr>
          <a:xfrm>
            <a:off x="4370832" y="1481328"/>
            <a:ext cx="402336" cy="402336"/>
          </a:xfrm>
          <a:prstGeom prst="rect">
            <a:avLst/>
          </a:prstGeom>
        </p:spPr>
      </p:pic>
      <p:sp>
        <p:nvSpPr>
          <p:cNvPr id="14" name="Text 11"/>
          <p:cNvSpPr/>
          <p:nvPr/>
        </p:nvSpPr>
        <p:spPr>
          <a:xfrm>
            <a:off x="4069080" y="1901952"/>
            <a:ext cx="1005840" cy="457200"/>
          </a:xfrm>
          <a:prstGeom prst="rect">
            <a:avLst/>
          </a:prstGeom>
          <a:noFill/>
          <a:ln/>
        </p:spPr>
        <p:txBody>
          <a:bodyPr wrap="square" rtlCol="0" anchor="t"/>
          <a:lstStyle/>
          <a:p>
            <a:pPr marL="0" indent="0" algn="ctr">
              <a:buNone/>
            </a:pPr>
            <a:r>
              <a:rPr lang="en-US" sz="750" b="1" dirty="0">
                <a:solidFill>
                  <a:srgbClr val="FFFFFF"/>
                </a:solidFill>
                <a:latin typeface="Calibri" pitchFamily="34" charset="0"/>
                <a:ea typeface="Calibri" pitchFamily="34" charset="-122"/>
                <a:cs typeface="Calibri" pitchFamily="34" charset="-120"/>
              </a:rPr>
              <a:t>CI SIGNAL</a:t>
            </a:r>
            <a:endParaRPr lang="en-US" sz="750" dirty="0"/>
          </a:p>
        </p:txBody>
      </p:sp>
      <p:sp>
        <p:nvSpPr>
          <p:cNvPr id="15" name="Text 12"/>
          <p:cNvSpPr/>
          <p:nvPr/>
        </p:nvSpPr>
        <p:spPr>
          <a:xfrm>
            <a:off x="3886200" y="987552"/>
            <a:ext cx="1371600" cy="402336"/>
          </a:xfrm>
          <a:prstGeom prst="rect">
            <a:avLst/>
          </a:prstGeom>
          <a:noFill/>
          <a:ln/>
        </p:spPr>
        <p:txBody>
          <a:bodyPr wrap="square" rtlCol="0" anchor="ctr"/>
          <a:lstStyle/>
          <a:p>
            <a:pPr marL="0" indent="0" algn="ctr">
              <a:buNone/>
            </a:pPr>
            <a:r>
              <a:rPr lang="en-US" sz="800" i="1" dirty="0">
                <a:solidFill>
                  <a:srgbClr val="6B7B8D"/>
                </a:solidFill>
                <a:latin typeface="Georgia" pitchFamily="34" charset="0"/>
                <a:ea typeface="Georgia" pitchFamily="34" charset="-122"/>
                <a:cs typeface="Georgia" pitchFamily="34" charset="-120"/>
              </a:rPr>
              <a:t>Competitor change detected</a:t>
            </a:r>
            <a:endParaRPr lang="en-US" sz="800" dirty="0"/>
          </a:p>
        </p:txBody>
      </p:sp>
      <p:sp>
        <p:nvSpPr>
          <p:cNvPr id="16" name="Shape 13"/>
          <p:cNvSpPr/>
          <p:nvPr/>
        </p:nvSpPr>
        <p:spPr>
          <a:xfrm>
            <a:off x="6528816" y="2688336"/>
            <a:ext cx="1024128" cy="1024128"/>
          </a:xfrm>
          <a:prstGeom prst="ellipse">
            <a:avLst/>
          </a:prstGeom>
          <a:solidFill>
            <a:srgbClr val="0F2B5B"/>
          </a:solidFill>
          <a:ln w="12700">
            <a:solidFill>
              <a:srgbClr val="0F2B5B"/>
            </a:solidFill>
            <a:prstDash val="solid"/>
          </a:ln>
          <a:effectLst>
            <a:outerShdw blurRad="101600" dist="38100" dir="8100000" algn="bl" rotWithShape="0">
              <a:srgbClr val="000000">
                <a:alpha val="10000"/>
              </a:srgbClr>
            </a:outerShdw>
          </a:effectLst>
        </p:spPr>
        <p:txBody>
          <a:bodyPr/>
          <a:lstStyle/>
          <a:p>
            <a:endParaRPr lang="en-US"/>
          </a:p>
        </p:txBody>
      </p:sp>
      <p:pic>
        <p:nvPicPr>
          <p:cNvPr id="17" name="Image 1" descr="preencoded.png"/>
          <p:cNvPicPr>
            <a:picLocks noChangeAspect="1"/>
          </p:cNvPicPr>
          <p:nvPr/>
        </p:nvPicPr>
        <p:blipFill>
          <a:blip r:embed="rId4"/>
          <a:stretch>
            <a:fillRect/>
          </a:stretch>
        </p:blipFill>
        <p:spPr>
          <a:xfrm>
            <a:off x="6839712" y="2761488"/>
            <a:ext cx="402336" cy="402336"/>
          </a:xfrm>
          <a:prstGeom prst="rect">
            <a:avLst/>
          </a:prstGeom>
        </p:spPr>
      </p:pic>
      <p:sp>
        <p:nvSpPr>
          <p:cNvPr id="18" name="Text 14"/>
          <p:cNvSpPr/>
          <p:nvPr/>
        </p:nvSpPr>
        <p:spPr>
          <a:xfrm>
            <a:off x="6537960" y="3182112"/>
            <a:ext cx="1005840" cy="457200"/>
          </a:xfrm>
          <a:prstGeom prst="rect">
            <a:avLst/>
          </a:prstGeom>
          <a:noFill/>
          <a:ln/>
        </p:spPr>
        <p:txBody>
          <a:bodyPr wrap="square" rtlCol="0" anchor="t"/>
          <a:lstStyle/>
          <a:p>
            <a:pPr marL="0" indent="0" algn="ctr">
              <a:buNone/>
            </a:pPr>
            <a:r>
              <a:rPr lang="en-US" sz="750" b="1" dirty="0">
                <a:solidFill>
                  <a:srgbClr val="FFFFFF"/>
                </a:solidFill>
                <a:latin typeface="Calibri" pitchFamily="34" charset="0"/>
                <a:ea typeface="Calibri" pitchFamily="34" charset="-122"/>
                <a:cs typeface="Calibri" pitchFamily="34" charset="-120"/>
              </a:rPr>
              <a:t>BATTLECARD UPDATE</a:t>
            </a:r>
            <a:endParaRPr lang="en-US" sz="750" dirty="0"/>
          </a:p>
        </p:txBody>
      </p:sp>
      <p:sp>
        <p:nvSpPr>
          <p:cNvPr id="19" name="Text 15"/>
          <p:cNvSpPr/>
          <p:nvPr/>
        </p:nvSpPr>
        <p:spPr>
          <a:xfrm>
            <a:off x="7084601" y="2945193"/>
            <a:ext cx="1371600" cy="402336"/>
          </a:xfrm>
          <a:prstGeom prst="rect">
            <a:avLst/>
          </a:prstGeom>
          <a:noFill/>
          <a:ln/>
        </p:spPr>
        <p:txBody>
          <a:bodyPr wrap="square" rtlCol="0" anchor="ctr"/>
          <a:lstStyle/>
          <a:p>
            <a:pPr marL="0" indent="0" algn="ctr">
              <a:buNone/>
            </a:pPr>
            <a:r>
              <a:rPr lang="en-US" sz="800" i="1" dirty="0">
                <a:solidFill>
                  <a:srgbClr val="6B7B8D"/>
                </a:solidFill>
                <a:latin typeface="Georgia" pitchFamily="34" charset="0"/>
                <a:ea typeface="Georgia" pitchFamily="34" charset="-122"/>
                <a:cs typeface="Georgia" pitchFamily="34" charset="-120"/>
              </a:rPr>
              <a:t>Agent drafts, PMM approves</a:t>
            </a:r>
            <a:endParaRPr lang="en-US" sz="800" dirty="0"/>
          </a:p>
        </p:txBody>
      </p:sp>
      <p:sp>
        <p:nvSpPr>
          <p:cNvPr id="20" name="Shape 16"/>
          <p:cNvSpPr/>
          <p:nvPr/>
        </p:nvSpPr>
        <p:spPr>
          <a:xfrm>
            <a:off x="5705856" y="4425696"/>
            <a:ext cx="1024128" cy="1024128"/>
          </a:xfrm>
          <a:prstGeom prst="ellipse">
            <a:avLst/>
          </a:prstGeom>
          <a:solidFill>
            <a:srgbClr val="1A7A4A"/>
          </a:solidFill>
          <a:ln w="12700">
            <a:solidFill>
              <a:srgbClr val="1A7A4A"/>
            </a:solidFill>
            <a:prstDash val="solid"/>
          </a:ln>
          <a:effectLst>
            <a:outerShdw blurRad="101600" dist="38100" dir="8100000" algn="bl" rotWithShape="0">
              <a:srgbClr val="000000">
                <a:alpha val="10000"/>
              </a:srgbClr>
            </a:outerShdw>
          </a:effectLst>
        </p:spPr>
        <p:txBody>
          <a:bodyPr/>
          <a:lstStyle/>
          <a:p>
            <a:endParaRPr lang="en-US"/>
          </a:p>
        </p:txBody>
      </p:sp>
      <p:pic>
        <p:nvPicPr>
          <p:cNvPr id="21" name="Image 2" descr="preencoded.png"/>
          <p:cNvPicPr>
            <a:picLocks noChangeAspect="1"/>
          </p:cNvPicPr>
          <p:nvPr/>
        </p:nvPicPr>
        <p:blipFill>
          <a:blip r:embed="rId5"/>
          <a:stretch>
            <a:fillRect/>
          </a:stretch>
        </p:blipFill>
        <p:spPr>
          <a:xfrm>
            <a:off x="6016752" y="4498848"/>
            <a:ext cx="402336" cy="402336"/>
          </a:xfrm>
          <a:prstGeom prst="rect">
            <a:avLst/>
          </a:prstGeom>
        </p:spPr>
      </p:pic>
      <p:sp>
        <p:nvSpPr>
          <p:cNvPr id="22" name="Text 17"/>
          <p:cNvSpPr/>
          <p:nvPr/>
        </p:nvSpPr>
        <p:spPr>
          <a:xfrm>
            <a:off x="5715000" y="4919472"/>
            <a:ext cx="1005840" cy="457200"/>
          </a:xfrm>
          <a:prstGeom prst="rect">
            <a:avLst/>
          </a:prstGeom>
          <a:noFill/>
          <a:ln/>
        </p:spPr>
        <p:txBody>
          <a:bodyPr wrap="square" rtlCol="0" anchor="t"/>
          <a:lstStyle/>
          <a:p>
            <a:pPr marL="0" indent="0" algn="ctr">
              <a:buNone/>
            </a:pPr>
            <a:r>
              <a:rPr lang="en-US" sz="750" b="1" dirty="0">
                <a:solidFill>
                  <a:srgbClr val="FFFFFF"/>
                </a:solidFill>
                <a:latin typeface="Calibri" pitchFamily="34" charset="0"/>
                <a:ea typeface="Calibri" pitchFamily="34" charset="-122"/>
                <a:cs typeface="Calibri" pitchFamily="34" charset="-120"/>
              </a:rPr>
              <a:t>REP COACHING</a:t>
            </a:r>
            <a:endParaRPr lang="en-US" sz="750" dirty="0"/>
          </a:p>
        </p:txBody>
      </p:sp>
      <p:sp>
        <p:nvSpPr>
          <p:cNvPr id="23" name="Text 18"/>
          <p:cNvSpPr/>
          <p:nvPr/>
        </p:nvSpPr>
        <p:spPr>
          <a:xfrm>
            <a:off x="6063945" y="5238871"/>
            <a:ext cx="1371600" cy="402336"/>
          </a:xfrm>
          <a:prstGeom prst="rect">
            <a:avLst/>
          </a:prstGeom>
          <a:noFill/>
          <a:ln/>
        </p:spPr>
        <p:txBody>
          <a:bodyPr wrap="square" rtlCol="0" anchor="ctr"/>
          <a:lstStyle/>
          <a:p>
            <a:pPr marL="0" indent="0" algn="ctr">
              <a:buNone/>
            </a:pPr>
            <a:r>
              <a:rPr lang="en-US" sz="800" i="1" dirty="0">
                <a:solidFill>
                  <a:srgbClr val="6B7B8D"/>
                </a:solidFill>
                <a:latin typeface="Georgia" pitchFamily="34" charset="0"/>
                <a:ea typeface="Georgia" pitchFamily="34" charset="-122"/>
                <a:cs typeface="Georgia" pitchFamily="34" charset="-120"/>
              </a:rPr>
              <a:t>BattleCoach in-deal</a:t>
            </a:r>
            <a:endParaRPr lang="en-US" sz="800" dirty="0"/>
          </a:p>
        </p:txBody>
      </p:sp>
      <p:sp>
        <p:nvSpPr>
          <p:cNvPr id="24" name="Shape 19"/>
          <p:cNvSpPr/>
          <p:nvPr/>
        </p:nvSpPr>
        <p:spPr>
          <a:xfrm>
            <a:off x="2414016" y="4425696"/>
            <a:ext cx="1024128" cy="1024128"/>
          </a:xfrm>
          <a:prstGeom prst="ellipse">
            <a:avLst/>
          </a:prstGeom>
          <a:solidFill>
            <a:srgbClr val="D4790A"/>
          </a:solidFill>
          <a:ln w="12700">
            <a:solidFill>
              <a:srgbClr val="D4790A"/>
            </a:solidFill>
            <a:prstDash val="solid"/>
          </a:ln>
          <a:effectLst>
            <a:outerShdw blurRad="101600" dist="38100" dir="8100000" algn="bl" rotWithShape="0">
              <a:srgbClr val="000000">
                <a:alpha val="10000"/>
              </a:srgbClr>
            </a:outerShdw>
          </a:effectLst>
        </p:spPr>
        <p:txBody>
          <a:bodyPr/>
          <a:lstStyle/>
          <a:p>
            <a:endParaRPr lang="en-US"/>
          </a:p>
        </p:txBody>
      </p:sp>
      <p:pic>
        <p:nvPicPr>
          <p:cNvPr id="25" name="Image 3" descr="preencoded.png"/>
          <p:cNvPicPr>
            <a:picLocks noChangeAspect="1"/>
          </p:cNvPicPr>
          <p:nvPr/>
        </p:nvPicPr>
        <p:blipFill>
          <a:blip r:embed="rId6"/>
          <a:stretch>
            <a:fillRect/>
          </a:stretch>
        </p:blipFill>
        <p:spPr>
          <a:xfrm>
            <a:off x="2724912" y="4498848"/>
            <a:ext cx="402336" cy="402336"/>
          </a:xfrm>
          <a:prstGeom prst="rect">
            <a:avLst/>
          </a:prstGeom>
        </p:spPr>
      </p:pic>
      <p:sp>
        <p:nvSpPr>
          <p:cNvPr id="26" name="Text 20"/>
          <p:cNvSpPr/>
          <p:nvPr/>
        </p:nvSpPr>
        <p:spPr>
          <a:xfrm>
            <a:off x="2423160" y="4919472"/>
            <a:ext cx="1005840" cy="457200"/>
          </a:xfrm>
          <a:prstGeom prst="rect">
            <a:avLst/>
          </a:prstGeom>
          <a:noFill/>
          <a:ln/>
        </p:spPr>
        <p:txBody>
          <a:bodyPr wrap="square" rtlCol="0" anchor="t"/>
          <a:lstStyle/>
          <a:p>
            <a:pPr marL="0" indent="0" algn="ctr">
              <a:buNone/>
            </a:pPr>
            <a:r>
              <a:rPr lang="en-US" sz="750" b="1" dirty="0">
                <a:solidFill>
                  <a:srgbClr val="FFFFFF"/>
                </a:solidFill>
                <a:latin typeface="Calibri" pitchFamily="34" charset="0"/>
                <a:ea typeface="Calibri" pitchFamily="34" charset="-122"/>
                <a:cs typeface="Calibri" pitchFamily="34" charset="-120"/>
              </a:rPr>
              <a:t>DEAL APPLICATION</a:t>
            </a:r>
            <a:endParaRPr lang="en-US" sz="750" dirty="0"/>
          </a:p>
        </p:txBody>
      </p:sp>
      <p:sp>
        <p:nvSpPr>
          <p:cNvPr id="27" name="Text 21"/>
          <p:cNvSpPr/>
          <p:nvPr/>
        </p:nvSpPr>
        <p:spPr>
          <a:xfrm>
            <a:off x="1708455" y="5238871"/>
            <a:ext cx="1371600" cy="402336"/>
          </a:xfrm>
          <a:prstGeom prst="rect">
            <a:avLst/>
          </a:prstGeom>
          <a:noFill/>
          <a:ln/>
        </p:spPr>
        <p:txBody>
          <a:bodyPr wrap="square" rtlCol="0" anchor="ctr"/>
          <a:lstStyle/>
          <a:p>
            <a:pPr marL="0" indent="0" algn="ctr">
              <a:buNone/>
            </a:pPr>
            <a:r>
              <a:rPr lang="en-US" sz="800" i="1" dirty="0">
                <a:solidFill>
                  <a:srgbClr val="6B7B8D"/>
                </a:solidFill>
                <a:latin typeface="Georgia" pitchFamily="34" charset="0"/>
                <a:ea typeface="Georgia" pitchFamily="34" charset="-122"/>
                <a:cs typeface="Georgia" pitchFamily="34" charset="-120"/>
              </a:rPr>
              <a:t>Rep uses in call</a:t>
            </a:r>
            <a:endParaRPr lang="en-US" sz="800" dirty="0"/>
          </a:p>
        </p:txBody>
      </p:sp>
      <p:sp>
        <p:nvSpPr>
          <p:cNvPr id="28" name="Shape 22"/>
          <p:cNvSpPr/>
          <p:nvPr/>
        </p:nvSpPr>
        <p:spPr>
          <a:xfrm>
            <a:off x="1591056" y="2688336"/>
            <a:ext cx="1024128" cy="1024128"/>
          </a:xfrm>
          <a:prstGeom prst="ellipse">
            <a:avLst/>
          </a:prstGeom>
          <a:solidFill>
            <a:srgbClr val="6B3FA0"/>
          </a:solidFill>
          <a:ln w="12700">
            <a:solidFill>
              <a:srgbClr val="6B3FA0"/>
            </a:solidFill>
            <a:prstDash val="solid"/>
          </a:ln>
          <a:effectLst>
            <a:outerShdw blurRad="101600" dist="38100" dir="8100000" algn="bl" rotWithShape="0">
              <a:srgbClr val="000000">
                <a:alpha val="10000"/>
              </a:srgbClr>
            </a:outerShdw>
          </a:effectLst>
        </p:spPr>
        <p:txBody>
          <a:bodyPr/>
          <a:lstStyle/>
          <a:p>
            <a:endParaRPr lang="en-US"/>
          </a:p>
        </p:txBody>
      </p:sp>
      <p:pic>
        <p:nvPicPr>
          <p:cNvPr id="29" name="Image 4" descr="preencoded.png"/>
          <p:cNvPicPr>
            <a:picLocks noChangeAspect="1"/>
          </p:cNvPicPr>
          <p:nvPr/>
        </p:nvPicPr>
        <p:blipFill>
          <a:blip r:embed="rId7"/>
          <a:stretch>
            <a:fillRect/>
          </a:stretch>
        </p:blipFill>
        <p:spPr>
          <a:xfrm>
            <a:off x="1901952" y="2761488"/>
            <a:ext cx="402336" cy="402336"/>
          </a:xfrm>
          <a:prstGeom prst="rect">
            <a:avLst/>
          </a:prstGeom>
        </p:spPr>
      </p:pic>
      <p:sp>
        <p:nvSpPr>
          <p:cNvPr id="30" name="Text 23"/>
          <p:cNvSpPr/>
          <p:nvPr/>
        </p:nvSpPr>
        <p:spPr>
          <a:xfrm>
            <a:off x="1600200" y="3182112"/>
            <a:ext cx="1005840" cy="457200"/>
          </a:xfrm>
          <a:prstGeom prst="rect">
            <a:avLst/>
          </a:prstGeom>
          <a:noFill/>
          <a:ln/>
        </p:spPr>
        <p:txBody>
          <a:bodyPr wrap="square" rtlCol="0" anchor="t"/>
          <a:lstStyle/>
          <a:p>
            <a:pPr marL="0" indent="0" algn="ctr">
              <a:buNone/>
            </a:pPr>
            <a:r>
              <a:rPr lang="en-US" sz="750" b="1" dirty="0">
                <a:solidFill>
                  <a:srgbClr val="FFFFFF"/>
                </a:solidFill>
                <a:latin typeface="Calibri" pitchFamily="34" charset="0"/>
                <a:ea typeface="Calibri" pitchFamily="34" charset="-122"/>
                <a:cs typeface="Calibri" pitchFamily="34" charset="-120"/>
              </a:rPr>
              <a:t>WIN/LOSS FEEDBACK</a:t>
            </a:r>
            <a:endParaRPr lang="en-US" sz="750" dirty="0"/>
          </a:p>
        </p:txBody>
      </p:sp>
      <p:sp>
        <p:nvSpPr>
          <p:cNvPr id="31" name="Text 24"/>
          <p:cNvSpPr/>
          <p:nvPr/>
        </p:nvSpPr>
        <p:spPr>
          <a:xfrm>
            <a:off x="687799" y="2945193"/>
            <a:ext cx="1371600" cy="402336"/>
          </a:xfrm>
          <a:prstGeom prst="rect">
            <a:avLst/>
          </a:prstGeom>
          <a:noFill/>
          <a:ln/>
        </p:spPr>
        <p:txBody>
          <a:bodyPr wrap="square" rtlCol="0" anchor="ctr"/>
          <a:lstStyle/>
          <a:p>
            <a:pPr marL="0" indent="0" algn="ctr">
              <a:buNone/>
            </a:pPr>
            <a:r>
              <a:rPr lang="en-US" sz="800" i="1" dirty="0">
                <a:solidFill>
                  <a:srgbClr val="6B7B8D"/>
                </a:solidFill>
                <a:latin typeface="Georgia" pitchFamily="34" charset="0"/>
                <a:ea typeface="Georgia" pitchFamily="34" charset="-122"/>
                <a:cs typeface="Georgia" pitchFamily="34" charset="-120"/>
              </a:rPr>
              <a:t>Outcome tagged</a:t>
            </a:r>
            <a:endParaRPr lang="en-US" sz="800" dirty="0"/>
          </a:p>
        </p:txBody>
      </p:sp>
      <p:sp>
        <p:nvSpPr>
          <p:cNvPr id="32" name="Shape 25"/>
          <p:cNvSpPr/>
          <p:nvPr/>
        </p:nvSpPr>
        <p:spPr>
          <a:xfrm>
            <a:off x="3657600" y="3291840"/>
            <a:ext cx="1828800" cy="1005840"/>
          </a:xfrm>
          <a:prstGeom prst="ellipse">
            <a:avLst/>
          </a:prstGeom>
          <a:solidFill>
            <a:srgbClr val="EAF5EC"/>
          </a:solidFill>
          <a:ln w="12700">
            <a:solidFill>
              <a:srgbClr val="1A7A4A"/>
            </a:solidFill>
            <a:prstDash val="solid"/>
          </a:ln>
        </p:spPr>
        <p:txBody>
          <a:bodyPr/>
          <a:lstStyle/>
          <a:p>
            <a:endParaRPr lang="en-US"/>
          </a:p>
        </p:txBody>
      </p:sp>
      <p:sp>
        <p:nvSpPr>
          <p:cNvPr id="33" name="Text 26"/>
          <p:cNvSpPr/>
          <p:nvPr/>
        </p:nvSpPr>
        <p:spPr>
          <a:xfrm>
            <a:off x="3749040" y="3337560"/>
            <a:ext cx="1645920" cy="914400"/>
          </a:xfrm>
          <a:prstGeom prst="rect">
            <a:avLst/>
          </a:prstGeom>
          <a:noFill/>
          <a:ln/>
        </p:spPr>
        <p:txBody>
          <a:bodyPr wrap="square" rtlCol="0" anchor="ctr"/>
          <a:lstStyle/>
          <a:p>
            <a:pPr marL="0" indent="0" algn="ctr">
              <a:buNone/>
            </a:pPr>
            <a:r>
              <a:rPr lang="en-US" sz="950" b="1" dirty="0">
                <a:solidFill>
                  <a:srgbClr val="1A7A4A"/>
                </a:solidFill>
                <a:latin typeface="Calibri" pitchFamily="34" charset="0"/>
                <a:ea typeface="Calibri" pitchFamily="34" charset="-122"/>
                <a:cs typeface="Calibri" pitchFamily="34" charset="-120"/>
              </a:rPr>
              <a:t>The</a:t>
            </a:r>
            <a:endParaRPr lang="en-US" sz="950" dirty="0"/>
          </a:p>
          <a:p>
            <a:pPr marL="0" indent="0" algn="ctr">
              <a:buNone/>
            </a:pPr>
            <a:r>
              <a:rPr lang="en-US" sz="950" b="1" dirty="0">
                <a:solidFill>
                  <a:srgbClr val="1A7A4A"/>
                </a:solidFill>
                <a:latin typeface="Calibri" pitchFamily="34" charset="0"/>
                <a:ea typeface="Calibri" pitchFamily="34" charset="-122"/>
                <a:cs typeface="Calibri" pitchFamily="34" charset="-120"/>
              </a:rPr>
              <a:t>BattleCoach</a:t>
            </a:r>
            <a:endParaRPr lang="en-US" sz="950" dirty="0"/>
          </a:p>
          <a:p>
            <a:pPr marL="0" indent="0" algn="ctr">
              <a:buNone/>
            </a:pPr>
            <a:r>
              <a:rPr lang="en-US" sz="950" b="1" dirty="0">
                <a:solidFill>
                  <a:srgbClr val="1A7A4A"/>
                </a:solidFill>
                <a:latin typeface="Calibri" pitchFamily="34" charset="0"/>
                <a:ea typeface="Calibri" pitchFamily="34" charset="-122"/>
                <a:cs typeface="Calibri" pitchFamily="34" charset="-120"/>
              </a:rPr>
              <a:t>Flywheel</a:t>
            </a:r>
            <a:endParaRPr lang="en-US" sz="950" dirty="0"/>
          </a:p>
        </p:txBody>
      </p:sp>
      <p:sp>
        <p:nvSpPr>
          <p:cNvPr id="34" name="Text 27"/>
          <p:cNvSpPr/>
          <p:nvPr/>
        </p:nvSpPr>
        <p:spPr>
          <a:xfrm>
            <a:off x="228600" y="6291072"/>
            <a:ext cx="8686800" cy="274320"/>
          </a:xfrm>
          <a:prstGeom prst="rect">
            <a:avLst/>
          </a:prstGeom>
          <a:noFill/>
          <a:ln/>
        </p:spPr>
        <p:txBody>
          <a:bodyPr wrap="square" rtlCol="0" anchor="ctr"/>
          <a:lstStyle/>
          <a:p>
            <a:pPr marL="0" indent="0">
              <a:buNone/>
            </a:pPr>
            <a:r>
              <a:rPr lang="en-US" sz="850" i="1" dirty="0">
                <a:solidFill>
                  <a:srgbClr val="6B7B8D"/>
                </a:solidFill>
                <a:latin typeface="Calibri" pitchFamily="34" charset="0"/>
                <a:ea typeface="Calibri" pitchFamily="34" charset="-122"/>
                <a:cs typeface="Calibri" pitchFamily="34" charset="-120"/>
              </a:rPr>
              <a:t>Figure 4. The BattleCoach Flywheel (after Soo Shim's model). Every signal triggers a battlecard update. Every battlecard update triggers a coaching prompt. Every deal creates feedback that improves future signals.</a:t>
            </a:r>
            <a:endParaRPr lang="en-US" sz="850" dirty="0"/>
          </a:p>
        </p:txBody>
      </p:sp>
      <p:sp>
        <p:nvSpPr>
          <p:cNvPr id="35" name="Text 28"/>
          <p:cNvSpPr/>
          <p:nvPr/>
        </p:nvSpPr>
        <p:spPr>
          <a:xfrm>
            <a:off x="320040" y="6492240"/>
            <a:ext cx="8229600" cy="228600"/>
          </a:xfrm>
          <a:prstGeom prst="rect">
            <a:avLst/>
          </a:prstGeom>
          <a:noFill/>
          <a:ln/>
        </p:spPr>
        <p:txBody>
          <a:bodyPr wrap="square" rtlCol="0" anchor="ctr"/>
          <a:lstStyle/>
          <a:p>
            <a:pPr marL="0" indent="0">
              <a:buNone/>
            </a:pPr>
            <a:r>
              <a:rPr lang="en-US" sz="900" i="1" dirty="0">
                <a:solidFill>
                  <a:srgbClr val="6B7B8D"/>
                </a:solidFill>
                <a:latin typeface="Calibri" pitchFamily="34" charset="0"/>
                <a:ea typeface="Calibri" pitchFamily="34" charset="-122"/>
                <a:cs typeface="Calibri" pitchFamily="34" charset="-120"/>
              </a:rPr>
              <a:t>Chapter 6  ·  The Future of Product Marketing  ·  Chris O'Hara</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7FB"/>
          </a:solidFill>
          <a:ln/>
        </p:spPr>
        <p:txBody>
          <a:bodyPr/>
          <a:lstStyle/>
          <a:p>
            <a:endParaRPr lang="en-US"/>
          </a:p>
        </p:txBody>
      </p:sp>
      <p:sp>
        <p:nvSpPr>
          <p:cNvPr id="3" name="Shape 1"/>
          <p:cNvSpPr/>
          <p:nvPr/>
        </p:nvSpPr>
        <p:spPr>
          <a:xfrm>
            <a:off x="0" y="0"/>
            <a:ext cx="9144000" cy="960120"/>
          </a:xfrm>
          <a:prstGeom prst="rect">
            <a:avLst/>
          </a:prstGeom>
          <a:solidFill>
            <a:srgbClr val="0F2B5B"/>
          </a:solidFill>
          <a:ln/>
        </p:spPr>
        <p:txBody>
          <a:bodyPr/>
          <a:lstStyle/>
          <a:p>
            <a:endParaRPr lang="en-US"/>
          </a:p>
        </p:txBody>
      </p:sp>
      <p:sp>
        <p:nvSpPr>
          <p:cNvPr id="4" name="Shape 2"/>
          <p:cNvSpPr/>
          <p:nvPr/>
        </p:nvSpPr>
        <p:spPr>
          <a:xfrm>
            <a:off x="0" y="960120"/>
            <a:ext cx="9144000" cy="45720"/>
          </a:xfrm>
          <a:prstGeom prst="rect">
            <a:avLst/>
          </a:prstGeom>
          <a:solidFill>
            <a:srgbClr val="1A7A4A"/>
          </a:solidFill>
          <a:ln/>
        </p:spPr>
        <p:txBody>
          <a:bodyPr/>
          <a:lstStyle/>
          <a:p>
            <a:endParaRPr lang="en-US"/>
          </a:p>
        </p:txBody>
      </p:sp>
      <p:sp>
        <p:nvSpPr>
          <p:cNvPr id="5" name="Text 3"/>
          <p:cNvSpPr/>
          <p:nvPr/>
        </p:nvSpPr>
        <p:spPr>
          <a:xfrm>
            <a:off x="320040" y="73152"/>
            <a:ext cx="7772400" cy="502920"/>
          </a:xfrm>
          <a:prstGeom prst="rect">
            <a:avLst/>
          </a:prstGeom>
          <a:noFill/>
          <a:ln/>
        </p:spPr>
        <p:txBody>
          <a:bodyPr wrap="square" rtlCol="0" anchor="ctr"/>
          <a:lstStyle/>
          <a:p>
            <a:pPr marL="0" indent="0">
              <a:buNone/>
            </a:pPr>
            <a:r>
              <a:rPr lang="en-US" sz="2000" b="1" kern="0" spc="200" dirty="0">
                <a:solidFill>
                  <a:srgbClr val="FFFFFF"/>
                </a:solidFill>
                <a:latin typeface="Calibri" pitchFamily="34" charset="0"/>
                <a:ea typeface="Calibri" pitchFamily="34" charset="-122"/>
                <a:cs typeface="Calibri" pitchFamily="34" charset="-120"/>
              </a:rPr>
              <a:t>THREE MOVES</a:t>
            </a:r>
            <a:endParaRPr lang="en-US" sz="2000" dirty="0"/>
          </a:p>
        </p:txBody>
      </p:sp>
      <p:sp>
        <p:nvSpPr>
          <p:cNvPr id="6" name="Text 4"/>
          <p:cNvSpPr/>
          <p:nvPr/>
        </p:nvSpPr>
        <p:spPr>
          <a:xfrm>
            <a:off x="320040" y="548640"/>
            <a:ext cx="8412480" cy="347472"/>
          </a:xfrm>
          <a:prstGeom prst="rect">
            <a:avLst/>
          </a:prstGeom>
          <a:noFill/>
          <a:ln/>
        </p:spPr>
        <p:txBody>
          <a:bodyPr wrap="square" rtlCol="0" anchor="ctr"/>
          <a:lstStyle/>
          <a:p>
            <a:pPr marL="0" indent="0">
              <a:buNone/>
            </a:pPr>
            <a:r>
              <a:rPr lang="en-US" sz="1300" i="1" dirty="0">
                <a:solidFill>
                  <a:srgbClr val="D4A843"/>
                </a:solidFill>
                <a:latin typeface="Georgia" pitchFamily="34" charset="0"/>
                <a:ea typeface="Georgia" pitchFamily="34" charset="-122"/>
                <a:cs typeface="Georgia" pitchFamily="34" charset="-120"/>
              </a:rPr>
              <a:t>How to move from quarterly battlecard to always-on CI system.</a:t>
            </a:r>
            <a:endParaRPr lang="en-US" sz="1300" dirty="0"/>
          </a:p>
        </p:txBody>
      </p:sp>
      <p:sp>
        <p:nvSpPr>
          <p:cNvPr id="7" name="Shape 5"/>
          <p:cNvSpPr/>
          <p:nvPr/>
        </p:nvSpPr>
        <p:spPr>
          <a:xfrm>
            <a:off x="228600" y="1115568"/>
            <a:ext cx="2834640" cy="5102352"/>
          </a:xfrm>
          <a:prstGeom prst="rect">
            <a:avLst/>
          </a:prstGeom>
          <a:solidFill>
            <a:srgbClr val="FFFFFF"/>
          </a:solidFill>
          <a:ln w="12700">
            <a:solidFill>
              <a:srgbClr val="E0E8F0"/>
            </a:solidFill>
            <a:prstDash val="solid"/>
          </a:ln>
          <a:effectLst>
            <a:outerShdw blurRad="101600" dist="38100" dir="8100000" algn="bl" rotWithShape="0">
              <a:srgbClr val="000000">
                <a:alpha val="10000"/>
              </a:srgbClr>
            </a:outerShdw>
          </a:effectLst>
        </p:spPr>
        <p:txBody>
          <a:bodyPr/>
          <a:lstStyle/>
          <a:p>
            <a:endParaRPr lang="en-US"/>
          </a:p>
        </p:txBody>
      </p:sp>
      <p:sp>
        <p:nvSpPr>
          <p:cNvPr id="8" name="Shape 6"/>
          <p:cNvSpPr/>
          <p:nvPr/>
        </p:nvSpPr>
        <p:spPr>
          <a:xfrm>
            <a:off x="228600" y="1115568"/>
            <a:ext cx="2834640" cy="64008"/>
          </a:xfrm>
          <a:prstGeom prst="rect">
            <a:avLst/>
          </a:prstGeom>
          <a:solidFill>
            <a:srgbClr val="1A7A4A"/>
          </a:solidFill>
          <a:ln w="12700">
            <a:solidFill>
              <a:srgbClr val="1A7A4A"/>
            </a:solidFill>
            <a:prstDash val="solid"/>
          </a:ln>
        </p:spPr>
        <p:txBody>
          <a:bodyPr/>
          <a:lstStyle/>
          <a:p>
            <a:endParaRPr lang="en-US"/>
          </a:p>
        </p:txBody>
      </p:sp>
      <p:sp>
        <p:nvSpPr>
          <p:cNvPr id="9" name="Shape 7"/>
          <p:cNvSpPr/>
          <p:nvPr/>
        </p:nvSpPr>
        <p:spPr>
          <a:xfrm>
            <a:off x="338328" y="1179576"/>
            <a:ext cx="566928" cy="566928"/>
          </a:xfrm>
          <a:prstGeom prst="ellipse">
            <a:avLst/>
          </a:prstGeom>
          <a:solidFill>
            <a:srgbClr val="1A7A4A"/>
          </a:solidFill>
          <a:ln w="12700">
            <a:solidFill>
              <a:srgbClr val="1A7A4A"/>
            </a:solidFill>
            <a:prstDash val="solid"/>
          </a:ln>
        </p:spPr>
        <p:txBody>
          <a:bodyPr/>
          <a:lstStyle/>
          <a:p>
            <a:endParaRPr lang="en-US"/>
          </a:p>
        </p:txBody>
      </p:sp>
      <p:pic>
        <p:nvPicPr>
          <p:cNvPr id="10" name="Image 0" descr="preencoded.png"/>
          <p:cNvPicPr>
            <a:picLocks noChangeAspect="1"/>
          </p:cNvPicPr>
          <p:nvPr/>
        </p:nvPicPr>
        <p:blipFill>
          <a:blip r:embed="rId3"/>
          <a:stretch>
            <a:fillRect/>
          </a:stretch>
        </p:blipFill>
        <p:spPr>
          <a:xfrm>
            <a:off x="457200" y="1298448"/>
            <a:ext cx="329184" cy="329184"/>
          </a:xfrm>
          <a:prstGeom prst="rect">
            <a:avLst/>
          </a:prstGeom>
        </p:spPr>
      </p:pic>
      <p:sp>
        <p:nvSpPr>
          <p:cNvPr id="11" name="Text 8"/>
          <p:cNvSpPr/>
          <p:nvPr/>
        </p:nvSpPr>
        <p:spPr>
          <a:xfrm>
            <a:off x="1005840" y="1188720"/>
            <a:ext cx="1920240" cy="228600"/>
          </a:xfrm>
          <a:prstGeom prst="rect">
            <a:avLst/>
          </a:prstGeom>
          <a:noFill/>
          <a:ln/>
        </p:spPr>
        <p:txBody>
          <a:bodyPr wrap="square" rtlCol="0" anchor="ctr"/>
          <a:lstStyle/>
          <a:p>
            <a:pPr marL="0" indent="0">
              <a:buNone/>
            </a:pPr>
            <a:r>
              <a:rPr lang="en-US" sz="900" b="1" kern="0" spc="50" dirty="0">
                <a:solidFill>
                  <a:srgbClr val="1A7A4A"/>
                </a:solidFill>
                <a:latin typeface="Calibri" pitchFamily="34" charset="0"/>
                <a:ea typeface="Calibri" pitchFamily="34" charset="-122"/>
                <a:cs typeface="Calibri" pitchFamily="34" charset="-120"/>
              </a:rPr>
              <a:t>Move 01</a:t>
            </a:r>
            <a:endParaRPr lang="en-US" sz="900" dirty="0"/>
          </a:p>
        </p:txBody>
      </p:sp>
      <p:sp>
        <p:nvSpPr>
          <p:cNvPr id="12" name="Text 9"/>
          <p:cNvSpPr/>
          <p:nvPr/>
        </p:nvSpPr>
        <p:spPr>
          <a:xfrm>
            <a:off x="338328" y="1463040"/>
            <a:ext cx="2633472" cy="530352"/>
          </a:xfrm>
          <a:prstGeom prst="rect">
            <a:avLst/>
          </a:prstGeom>
          <a:noFill/>
          <a:ln/>
        </p:spPr>
        <p:txBody>
          <a:bodyPr wrap="square" rtlCol="0" anchor="ctr"/>
          <a:lstStyle/>
          <a:p>
            <a:pPr marL="0" indent="0">
              <a:buNone/>
            </a:pPr>
            <a:r>
              <a:rPr lang="en-US" sz="1150" b="1" dirty="0">
                <a:solidFill>
                  <a:srgbClr val="0F2B5B"/>
                </a:solidFill>
                <a:latin typeface="Calibri" pitchFamily="34" charset="0"/>
                <a:ea typeface="Calibri" pitchFamily="34" charset="-122"/>
                <a:cs typeface="Calibri" pitchFamily="34" charset="-120"/>
              </a:rPr>
              <a:t>Audit Your CI Latency</a:t>
            </a:r>
            <a:endParaRPr lang="en-US" sz="1150" dirty="0"/>
          </a:p>
        </p:txBody>
      </p:sp>
      <p:sp>
        <p:nvSpPr>
          <p:cNvPr id="13" name="Text 10"/>
          <p:cNvSpPr/>
          <p:nvPr/>
        </p:nvSpPr>
        <p:spPr>
          <a:xfrm>
            <a:off x="338328" y="2103120"/>
            <a:ext cx="2633472" cy="1965960"/>
          </a:xfrm>
          <a:prstGeom prst="rect">
            <a:avLst/>
          </a:prstGeom>
          <a:noFill/>
          <a:ln/>
        </p:spPr>
        <p:txBody>
          <a:bodyPr wrap="square" rtlCol="0" anchor="t"/>
          <a:lstStyle/>
          <a:p>
            <a:pPr marL="0" indent="0">
              <a:buNone/>
            </a:pPr>
            <a:r>
              <a:rPr lang="en-US" sz="900" dirty="0">
                <a:solidFill>
                  <a:srgbClr val="1A2B3C"/>
                </a:solidFill>
                <a:latin typeface="Calibri" pitchFamily="34" charset="0"/>
                <a:ea typeface="Calibri" pitchFamily="34" charset="-122"/>
                <a:cs typeface="Calibri" pitchFamily="34" charset="-120"/>
              </a:rPr>
              <a:t>Pull your last five competitive situations where you lost or nearly lost a deal. In each case, when did the competitive shift happen? When did your battlecard reflect it? When did the rep know? The gap between those three dates is your CI latency. Most PMMs discover it is measured in weeks. That is your baseline.</a:t>
            </a:r>
            <a:endParaRPr lang="en-US" sz="900" dirty="0"/>
          </a:p>
        </p:txBody>
      </p:sp>
      <p:sp>
        <p:nvSpPr>
          <p:cNvPr id="14" name="Shape 11"/>
          <p:cNvSpPr/>
          <p:nvPr/>
        </p:nvSpPr>
        <p:spPr>
          <a:xfrm>
            <a:off x="320040" y="4133088"/>
            <a:ext cx="2651760" cy="1965960"/>
          </a:xfrm>
          <a:prstGeom prst="rect">
            <a:avLst/>
          </a:prstGeom>
          <a:solidFill>
            <a:srgbClr val="F4F7FB"/>
          </a:solidFill>
          <a:ln w="12700">
            <a:solidFill>
              <a:srgbClr val="E0E8F0"/>
            </a:solidFill>
            <a:prstDash val="solid"/>
          </a:ln>
        </p:spPr>
        <p:txBody>
          <a:bodyPr/>
          <a:lstStyle/>
          <a:p>
            <a:endParaRPr lang="en-US"/>
          </a:p>
        </p:txBody>
      </p:sp>
      <p:sp>
        <p:nvSpPr>
          <p:cNvPr id="15" name="Text 12"/>
          <p:cNvSpPr/>
          <p:nvPr/>
        </p:nvSpPr>
        <p:spPr>
          <a:xfrm>
            <a:off x="429768" y="4169664"/>
            <a:ext cx="2432304" cy="256032"/>
          </a:xfrm>
          <a:prstGeom prst="rect">
            <a:avLst/>
          </a:prstGeom>
          <a:noFill/>
          <a:ln/>
        </p:spPr>
        <p:txBody>
          <a:bodyPr wrap="square" rtlCol="0" anchor="ctr"/>
          <a:lstStyle/>
          <a:p>
            <a:pPr marL="0" indent="0">
              <a:buNone/>
            </a:pPr>
            <a:r>
              <a:rPr lang="en-US" sz="900" b="1" dirty="0">
                <a:solidFill>
                  <a:srgbClr val="1A7A4A"/>
                </a:solidFill>
                <a:latin typeface="Calibri" pitchFamily="34" charset="0"/>
                <a:ea typeface="Calibri" pitchFamily="34" charset="-122"/>
                <a:cs typeface="Calibri" pitchFamily="34" charset="-120"/>
              </a:rPr>
              <a:t>Action Item</a:t>
            </a:r>
            <a:endParaRPr lang="en-US" sz="900" dirty="0"/>
          </a:p>
        </p:txBody>
      </p:sp>
      <p:sp>
        <p:nvSpPr>
          <p:cNvPr id="16" name="Text 13"/>
          <p:cNvSpPr/>
          <p:nvPr/>
        </p:nvSpPr>
        <p:spPr>
          <a:xfrm>
            <a:off x="429768" y="4407408"/>
            <a:ext cx="2432304" cy="1600200"/>
          </a:xfrm>
          <a:prstGeom prst="rect">
            <a:avLst/>
          </a:prstGeom>
          <a:noFill/>
          <a:ln/>
        </p:spPr>
        <p:txBody>
          <a:bodyPr wrap="square" rtlCol="0" anchor="t"/>
          <a:lstStyle/>
          <a:p>
            <a:pPr marL="0" indent="0">
              <a:buNone/>
            </a:pPr>
            <a:r>
              <a:rPr lang="en-US" sz="900" dirty="0">
                <a:solidFill>
                  <a:srgbClr val="1A2B3C"/>
                </a:solidFill>
                <a:latin typeface="Calibri" pitchFamily="34" charset="0"/>
                <a:ea typeface="Calibri" pitchFamily="34" charset="-122"/>
                <a:cs typeface="Calibri" pitchFamily="34" charset="-120"/>
              </a:rPr>
              <a:t>Run a CI latency audit this week. Pick three lost deals from the last quarter. Map the timeline: signal → battlecard update → rep awareness. Calculate the average lag.</a:t>
            </a:r>
            <a:endParaRPr lang="en-US" sz="900" dirty="0"/>
          </a:p>
        </p:txBody>
      </p:sp>
      <p:sp>
        <p:nvSpPr>
          <p:cNvPr id="17" name="Shape 14"/>
          <p:cNvSpPr/>
          <p:nvPr/>
        </p:nvSpPr>
        <p:spPr>
          <a:xfrm>
            <a:off x="3200400" y="1115568"/>
            <a:ext cx="2834640" cy="5102352"/>
          </a:xfrm>
          <a:prstGeom prst="rect">
            <a:avLst/>
          </a:prstGeom>
          <a:solidFill>
            <a:srgbClr val="FFFFFF"/>
          </a:solidFill>
          <a:ln w="12700">
            <a:solidFill>
              <a:srgbClr val="E0E8F0"/>
            </a:solidFill>
            <a:prstDash val="solid"/>
          </a:ln>
          <a:effectLst>
            <a:outerShdw blurRad="101600" dist="38100" dir="8100000" algn="bl" rotWithShape="0">
              <a:srgbClr val="000000">
                <a:alpha val="10000"/>
              </a:srgbClr>
            </a:outerShdw>
          </a:effectLst>
        </p:spPr>
        <p:txBody>
          <a:bodyPr/>
          <a:lstStyle/>
          <a:p>
            <a:endParaRPr lang="en-US"/>
          </a:p>
        </p:txBody>
      </p:sp>
      <p:sp>
        <p:nvSpPr>
          <p:cNvPr id="18" name="Shape 15"/>
          <p:cNvSpPr/>
          <p:nvPr/>
        </p:nvSpPr>
        <p:spPr>
          <a:xfrm>
            <a:off x="3200400" y="1115568"/>
            <a:ext cx="2834640" cy="64008"/>
          </a:xfrm>
          <a:prstGeom prst="rect">
            <a:avLst/>
          </a:prstGeom>
          <a:solidFill>
            <a:srgbClr val="1A7A4A"/>
          </a:solidFill>
          <a:ln w="12700">
            <a:solidFill>
              <a:srgbClr val="1A7A4A"/>
            </a:solidFill>
            <a:prstDash val="solid"/>
          </a:ln>
        </p:spPr>
        <p:txBody>
          <a:bodyPr/>
          <a:lstStyle/>
          <a:p>
            <a:endParaRPr lang="en-US"/>
          </a:p>
        </p:txBody>
      </p:sp>
      <p:sp>
        <p:nvSpPr>
          <p:cNvPr id="19" name="Shape 16"/>
          <p:cNvSpPr/>
          <p:nvPr/>
        </p:nvSpPr>
        <p:spPr>
          <a:xfrm>
            <a:off x="3310128" y="1179576"/>
            <a:ext cx="566928" cy="566928"/>
          </a:xfrm>
          <a:prstGeom prst="ellipse">
            <a:avLst/>
          </a:prstGeom>
          <a:solidFill>
            <a:srgbClr val="1A7A4A"/>
          </a:solidFill>
          <a:ln w="12700">
            <a:solidFill>
              <a:srgbClr val="1A7A4A"/>
            </a:solidFill>
            <a:prstDash val="solid"/>
          </a:ln>
        </p:spPr>
        <p:txBody>
          <a:bodyPr/>
          <a:lstStyle/>
          <a:p>
            <a:endParaRPr lang="en-US"/>
          </a:p>
        </p:txBody>
      </p:sp>
      <p:pic>
        <p:nvPicPr>
          <p:cNvPr id="20" name="Image 1" descr="preencoded.png"/>
          <p:cNvPicPr>
            <a:picLocks noChangeAspect="1"/>
          </p:cNvPicPr>
          <p:nvPr/>
        </p:nvPicPr>
        <p:blipFill>
          <a:blip r:embed="rId4"/>
          <a:stretch>
            <a:fillRect/>
          </a:stretch>
        </p:blipFill>
        <p:spPr>
          <a:xfrm>
            <a:off x="3429000" y="1298448"/>
            <a:ext cx="329184" cy="329184"/>
          </a:xfrm>
          <a:prstGeom prst="rect">
            <a:avLst/>
          </a:prstGeom>
        </p:spPr>
      </p:pic>
      <p:sp>
        <p:nvSpPr>
          <p:cNvPr id="21" name="Text 17"/>
          <p:cNvSpPr/>
          <p:nvPr/>
        </p:nvSpPr>
        <p:spPr>
          <a:xfrm>
            <a:off x="3977640" y="1188720"/>
            <a:ext cx="1920240" cy="228600"/>
          </a:xfrm>
          <a:prstGeom prst="rect">
            <a:avLst/>
          </a:prstGeom>
          <a:noFill/>
          <a:ln/>
        </p:spPr>
        <p:txBody>
          <a:bodyPr wrap="square" rtlCol="0" anchor="ctr"/>
          <a:lstStyle/>
          <a:p>
            <a:pPr marL="0" indent="0">
              <a:buNone/>
            </a:pPr>
            <a:r>
              <a:rPr lang="en-US" sz="900" b="1" kern="0" spc="50" dirty="0">
                <a:solidFill>
                  <a:srgbClr val="1A7A4A"/>
                </a:solidFill>
                <a:latin typeface="Calibri" pitchFamily="34" charset="0"/>
                <a:ea typeface="Calibri" pitchFamily="34" charset="-122"/>
                <a:cs typeface="Calibri" pitchFamily="34" charset="-120"/>
              </a:rPr>
              <a:t>Move 02</a:t>
            </a:r>
            <a:endParaRPr lang="en-US" sz="900" dirty="0"/>
          </a:p>
        </p:txBody>
      </p:sp>
      <p:sp>
        <p:nvSpPr>
          <p:cNvPr id="22" name="Text 18"/>
          <p:cNvSpPr/>
          <p:nvPr/>
        </p:nvSpPr>
        <p:spPr>
          <a:xfrm>
            <a:off x="3310128" y="1463040"/>
            <a:ext cx="2633472" cy="530352"/>
          </a:xfrm>
          <a:prstGeom prst="rect">
            <a:avLst/>
          </a:prstGeom>
          <a:noFill/>
          <a:ln/>
        </p:spPr>
        <p:txBody>
          <a:bodyPr wrap="square" rtlCol="0" anchor="ctr"/>
          <a:lstStyle/>
          <a:p>
            <a:pPr marL="0" indent="0">
              <a:buNone/>
            </a:pPr>
            <a:r>
              <a:rPr lang="en-US" sz="1150" b="1" dirty="0">
                <a:solidFill>
                  <a:srgbClr val="0F2B5B"/>
                </a:solidFill>
                <a:latin typeface="Calibri" pitchFamily="34" charset="0"/>
                <a:ea typeface="Calibri" pitchFamily="34" charset="-122"/>
                <a:cs typeface="Calibri" pitchFamily="34" charset="-120"/>
              </a:rPr>
              <a:t>Build the Signal Layer First</a:t>
            </a:r>
            <a:endParaRPr lang="en-US" sz="1150" dirty="0"/>
          </a:p>
        </p:txBody>
      </p:sp>
      <p:sp>
        <p:nvSpPr>
          <p:cNvPr id="23" name="Text 19"/>
          <p:cNvSpPr/>
          <p:nvPr/>
        </p:nvSpPr>
        <p:spPr>
          <a:xfrm>
            <a:off x="3310128" y="2103120"/>
            <a:ext cx="2633472" cy="1965960"/>
          </a:xfrm>
          <a:prstGeom prst="rect">
            <a:avLst/>
          </a:prstGeom>
          <a:noFill/>
          <a:ln/>
        </p:spPr>
        <p:txBody>
          <a:bodyPr wrap="square" rtlCol="0" anchor="t"/>
          <a:lstStyle/>
          <a:p>
            <a:pPr marL="0" indent="0">
              <a:buNone/>
            </a:pPr>
            <a:r>
              <a:rPr lang="en-US" sz="900" dirty="0">
                <a:solidFill>
                  <a:srgbClr val="1A2B3C"/>
                </a:solidFill>
                <a:latin typeface="Calibri" pitchFamily="34" charset="0"/>
                <a:ea typeface="Calibri" pitchFamily="34" charset="-122"/>
                <a:cs typeface="Calibri" pitchFamily="34" charset="-120"/>
              </a:rPr>
              <a:t>The architecture error most teams make is starting with the distribution layer — new Slack channels, new battlecard templates — before the signal layer exists. Start with a monitored list of your top three competitors. Set up alerts on job postings, G2 reviews, press releases, and earnings. Run them for 30 days before touching the battlecards. You need to understand the signal volume before you build the response system.</a:t>
            </a:r>
            <a:endParaRPr lang="en-US" sz="900" dirty="0"/>
          </a:p>
        </p:txBody>
      </p:sp>
      <p:sp>
        <p:nvSpPr>
          <p:cNvPr id="24" name="Shape 20"/>
          <p:cNvSpPr/>
          <p:nvPr/>
        </p:nvSpPr>
        <p:spPr>
          <a:xfrm>
            <a:off x="3291840" y="4133088"/>
            <a:ext cx="2651760" cy="1965960"/>
          </a:xfrm>
          <a:prstGeom prst="rect">
            <a:avLst/>
          </a:prstGeom>
          <a:solidFill>
            <a:srgbClr val="F4F7FB"/>
          </a:solidFill>
          <a:ln w="12700">
            <a:solidFill>
              <a:srgbClr val="E0E8F0"/>
            </a:solidFill>
            <a:prstDash val="solid"/>
          </a:ln>
        </p:spPr>
        <p:txBody>
          <a:bodyPr/>
          <a:lstStyle/>
          <a:p>
            <a:endParaRPr lang="en-US"/>
          </a:p>
        </p:txBody>
      </p:sp>
      <p:sp>
        <p:nvSpPr>
          <p:cNvPr id="25" name="Text 21"/>
          <p:cNvSpPr/>
          <p:nvPr/>
        </p:nvSpPr>
        <p:spPr>
          <a:xfrm>
            <a:off x="3401568" y="4169664"/>
            <a:ext cx="2432304" cy="256032"/>
          </a:xfrm>
          <a:prstGeom prst="rect">
            <a:avLst/>
          </a:prstGeom>
          <a:noFill/>
          <a:ln/>
        </p:spPr>
        <p:txBody>
          <a:bodyPr wrap="square" rtlCol="0" anchor="ctr"/>
          <a:lstStyle/>
          <a:p>
            <a:pPr marL="0" indent="0">
              <a:buNone/>
            </a:pPr>
            <a:r>
              <a:rPr lang="en-US" sz="900" b="1" dirty="0">
                <a:solidFill>
                  <a:srgbClr val="1A7A4A"/>
                </a:solidFill>
                <a:latin typeface="Calibri" pitchFamily="34" charset="0"/>
                <a:ea typeface="Calibri" pitchFamily="34" charset="-122"/>
                <a:cs typeface="Calibri" pitchFamily="34" charset="-120"/>
              </a:rPr>
              <a:t>Action Item</a:t>
            </a:r>
            <a:endParaRPr lang="en-US" sz="900" dirty="0"/>
          </a:p>
        </p:txBody>
      </p:sp>
      <p:sp>
        <p:nvSpPr>
          <p:cNvPr id="26" name="Text 22"/>
          <p:cNvSpPr/>
          <p:nvPr/>
        </p:nvSpPr>
        <p:spPr>
          <a:xfrm>
            <a:off x="3401568" y="4407408"/>
            <a:ext cx="2432304" cy="1600200"/>
          </a:xfrm>
          <a:prstGeom prst="rect">
            <a:avLst/>
          </a:prstGeom>
          <a:noFill/>
          <a:ln/>
        </p:spPr>
        <p:txBody>
          <a:bodyPr wrap="square" rtlCol="0" anchor="t"/>
          <a:lstStyle/>
          <a:p>
            <a:pPr marL="0" indent="0">
              <a:buNone/>
            </a:pPr>
            <a:r>
              <a:rPr lang="en-US" sz="900" dirty="0">
                <a:solidFill>
                  <a:srgbClr val="1A2B3C"/>
                </a:solidFill>
                <a:latin typeface="Calibri" pitchFamily="34" charset="0"/>
                <a:ea typeface="Calibri" pitchFamily="34" charset="-122"/>
                <a:cs typeface="Calibri" pitchFamily="34" charset="-120"/>
              </a:rPr>
              <a:t>This week: set up Google Alerts for your top three competitors plus their key product names. Add a G2 review monitor. Run for 30 days. Track which signals actually change your positioning — and which are noise.</a:t>
            </a:r>
            <a:endParaRPr lang="en-US" sz="900" dirty="0"/>
          </a:p>
        </p:txBody>
      </p:sp>
      <p:sp>
        <p:nvSpPr>
          <p:cNvPr id="27" name="Shape 23"/>
          <p:cNvSpPr/>
          <p:nvPr/>
        </p:nvSpPr>
        <p:spPr>
          <a:xfrm>
            <a:off x="6172200" y="1115568"/>
            <a:ext cx="2834640" cy="5102352"/>
          </a:xfrm>
          <a:prstGeom prst="rect">
            <a:avLst/>
          </a:prstGeom>
          <a:solidFill>
            <a:srgbClr val="FFFFFF"/>
          </a:solidFill>
          <a:ln w="12700">
            <a:solidFill>
              <a:srgbClr val="E0E8F0"/>
            </a:solidFill>
            <a:prstDash val="solid"/>
          </a:ln>
          <a:effectLst>
            <a:outerShdw blurRad="101600" dist="38100" dir="8100000" algn="bl" rotWithShape="0">
              <a:srgbClr val="000000">
                <a:alpha val="10000"/>
              </a:srgbClr>
            </a:outerShdw>
          </a:effectLst>
        </p:spPr>
        <p:txBody>
          <a:bodyPr/>
          <a:lstStyle/>
          <a:p>
            <a:endParaRPr lang="en-US"/>
          </a:p>
        </p:txBody>
      </p:sp>
      <p:sp>
        <p:nvSpPr>
          <p:cNvPr id="28" name="Shape 24"/>
          <p:cNvSpPr/>
          <p:nvPr/>
        </p:nvSpPr>
        <p:spPr>
          <a:xfrm>
            <a:off x="6172200" y="1115568"/>
            <a:ext cx="2834640" cy="64008"/>
          </a:xfrm>
          <a:prstGeom prst="rect">
            <a:avLst/>
          </a:prstGeom>
          <a:solidFill>
            <a:srgbClr val="1A7A4A"/>
          </a:solidFill>
          <a:ln w="12700">
            <a:solidFill>
              <a:srgbClr val="1A7A4A"/>
            </a:solidFill>
            <a:prstDash val="solid"/>
          </a:ln>
        </p:spPr>
        <p:txBody>
          <a:bodyPr/>
          <a:lstStyle/>
          <a:p>
            <a:endParaRPr lang="en-US"/>
          </a:p>
        </p:txBody>
      </p:sp>
      <p:sp>
        <p:nvSpPr>
          <p:cNvPr id="29" name="Shape 25"/>
          <p:cNvSpPr/>
          <p:nvPr/>
        </p:nvSpPr>
        <p:spPr>
          <a:xfrm>
            <a:off x="6281928" y="1179576"/>
            <a:ext cx="566928" cy="566928"/>
          </a:xfrm>
          <a:prstGeom prst="ellipse">
            <a:avLst/>
          </a:prstGeom>
          <a:solidFill>
            <a:srgbClr val="1A7A4A"/>
          </a:solidFill>
          <a:ln w="12700">
            <a:solidFill>
              <a:srgbClr val="1A7A4A"/>
            </a:solidFill>
            <a:prstDash val="solid"/>
          </a:ln>
        </p:spPr>
        <p:txBody>
          <a:bodyPr/>
          <a:lstStyle/>
          <a:p>
            <a:endParaRPr lang="en-US"/>
          </a:p>
        </p:txBody>
      </p:sp>
      <p:pic>
        <p:nvPicPr>
          <p:cNvPr id="30" name="Image 2" descr="preencoded.png"/>
          <p:cNvPicPr>
            <a:picLocks noChangeAspect="1"/>
          </p:cNvPicPr>
          <p:nvPr/>
        </p:nvPicPr>
        <p:blipFill>
          <a:blip r:embed="rId5"/>
          <a:stretch>
            <a:fillRect/>
          </a:stretch>
        </p:blipFill>
        <p:spPr>
          <a:xfrm>
            <a:off x="6400800" y="1298448"/>
            <a:ext cx="329184" cy="329184"/>
          </a:xfrm>
          <a:prstGeom prst="rect">
            <a:avLst/>
          </a:prstGeom>
        </p:spPr>
      </p:pic>
      <p:sp>
        <p:nvSpPr>
          <p:cNvPr id="31" name="Text 26"/>
          <p:cNvSpPr/>
          <p:nvPr/>
        </p:nvSpPr>
        <p:spPr>
          <a:xfrm>
            <a:off x="6949440" y="1188720"/>
            <a:ext cx="1920240" cy="228600"/>
          </a:xfrm>
          <a:prstGeom prst="rect">
            <a:avLst/>
          </a:prstGeom>
          <a:noFill/>
          <a:ln/>
        </p:spPr>
        <p:txBody>
          <a:bodyPr wrap="square" rtlCol="0" anchor="ctr"/>
          <a:lstStyle/>
          <a:p>
            <a:pPr marL="0" indent="0">
              <a:buNone/>
            </a:pPr>
            <a:r>
              <a:rPr lang="en-US" sz="900" b="1" kern="0" spc="50" dirty="0">
                <a:solidFill>
                  <a:srgbClr val="1A7A4A"/>
                </a:solidFill>
                <a:latin typeface="Calibri" pitchFamily="34" charset="0"/>
                <a:ea typeface="Calibri" pitchFamily="34" charset="-122"/>
                <a:cs typeface="Calibri" pitchFamily="34" charset="-120"/>
              </a:rPr>
              <a:t>Move 03</a:t>
            </a:r>
            <a:endParaRPr lang="en-US" sz="900" dirty="0"/>
          </a:p>
        </p:txBody>
      </p:sp>
      <p:sp>
        <p:nvSpPr>
          <p:cNvPr id="32" name="Text 27"/>
          <p:cNvSpPr/>
          <p:nvPr/>
        </p:nvSpPr>
        <p:spPr>
          <a:xfrm>
            <a:off x="6281928" y="1463040"/>
            <a:ext cx="2633472" cy="530352"/>
          </a:xfrm>
          <a:prstGeom prst="rect">
            <a:avLst/>
          </a:prstGeom>
          <a:noFill/>
          <a:ln/>
        </p:spPr>
        <p:txBody>
          <a:bodyPr wrap="square" rtlCol="0" anchor="ctr"/>
          <a:lstStyle/>
          <a:p>
            <a:pPr marL="0" indent="0">
              <a:buNone/>
            </a:pPr>
            <a:r>
              <a:rPr lang="en-US" sz="1150" b="1" dirty="0">
                <a:solidFill>
                  <a:srgbClr val="0F2B5B"/>
                </a:solidFill>
                <a:latin typeface="Calibri" pitchFamily="34" charset="0"/>
                <a:ea typeface="Calibri" pitchFamily="34" charset="-122"/>
                <a:cs typeface="Calibri" pitchFamily="34" charset="-120"/>
              </a:rPr>
              <a:t>Close the Feedback Loop</a:t>
            </a:r>
            <a:endParaRPr lang="en-US" sz="1150" dirty="0"/>
          </a:p>
        </p:txBody>
      </p:sp>
      <p:sp>
        <p:nvSpPr>
          <p:cNvPr id="33" name="Text 28"/>
          <p:cNvSpPr/>
          <p:nvPr/>
        </p:nvSpPr>
        <p:spPr>
          <a:xfrm>
            <a:off x="6281928" y="2103120"/>
            <a:ext cx="2633472" cy="1965960"/>
          </a:xfrm>
          <a:prstGeom prst="rect">
            <a:avLst/>
          </a:prstGeom>
          <a:noFill/>
          <a:ln/>
        </p:spPr>
        <p:txBody>
          <a:bodyPr wrap="square" rtlCol="0" anchor="t"/>
          <a:lstStyle/>
          <a:p>
            <a:pPr marL="0" indent="0">
              <a:buNone/>
            </a:pPr>
            <a:r>
              <a:rPr lang="en-US" sz="900" dirty="0">
                <a:solidFill>
                  <a:srgbClr val="1A2B3C"/>
                </a:solidFill>
                <a:latin typeface="Calibri" pitchFamily="34" charset="0"/>
                <a:ea typeface="Calibri" pitchFamily="34" charset="-122"/>
                <a:cs typeface="Calibri" pitchFamily="34" charset="-120"/>
              </a:rPr>
              <a:t>The most underbuilt part of every CI system is the return path: win/loss data feeding back to the signal layer. Most CI systems are write-only — intel goes out to reps, but outcomes never come back to improve the model. Build a lightweight win/loss tagging system in your CRM. Even two fields — 'competitive situation Y/N' and 'competitor mentioned' — create the feedback loop that makes the whole system smarter over time.</a:t>
            </a:r>
            <a:endParaRPr lang="en-US" sz="900" dirty="0"/>
          </a:p>
        </p:txBody>
      </p:sp>
      <p:sp>
        <p:nvSpPr>
          <p:cNvPr id="34" name="Shape 29"/>
          <p:cNvSpPr/>
          <p:nvPr/>
        </p:nvSpPr>
        <p:spPr>
          <a:xfrm>
            <a:off x="6263640" y="4133088"/>
            <a:ext cx="2651760" cy="1965960"/>
          </a:xfrm>
          <a:prstGeom prst="rect">
            <a:avLst/>
          </a:prstGeom>
          <a:solidFill>
            <a:srgbClr val="F4F7FB"/>
          </a:solidFill>
          <a:ln w="12700">
            <a:solidFill>
              <a:srgbClr val="E0E8F0"/>
            </a:solidFill>
            <a:prstDash val="solid"/>
          </a:ln>
        </p:spPr>
        <p:txBody>
          <a:bodyPr/>
          <a:lstStyle/>
          <a:p>
            <a:endParaRPr lang="en-US"/>
          </a:p>
        </p:txBody>
      </p:sp>
      <p:sp>
        <p:nvSpPr>
          <p:cNvPr id="35" name="Text 30"/>
          <p:cNvSpPr/>
          <p:nvPr/>
        </p:nvSpPr>
        <p:spPr>
          <a:xfrm>
            <a:off x="6373368" y="4169664"/>
            <a:ext cx="2432304" cy="256032"/>
          </a:xfrm>
          <a:prstGeom prst="rect">
            <a:avLst/>
          </a:prstGeom>
          <a:noFill/>
          <a:ln/>
        </p:spPr>
        <p:txBody>
          <a:bodyPr wrap="square" rtlCol="0" anchor="ctr"/>
          <a:lstStyle/>
          <a:p>
            <a:pPr marL="0" indent="0">
              <a:buNone/>
            </a:pPr>
            <a:r>
              <a:rPr lang="en-US" sz="900" b="1" dirty="0">
                <a:solidFill>
                  <a:srgbClr val="1A7A4A"/>
                </a:solidFill>
                <a:latin typeface="Calibri" pitchFamily="34" charset="0"/>
                <a:ea typeface="Calibri" pitchFamily="34" charset="-122"/>
                <a:cs typeface="Calibri" pitchFamily="34" charset="-120"/>
              </a:rPr>
              <a:t>Action Item</a:t>
            </a:r>
            <a:endParaRPr lang="en-US" sz="900" dirty="0"/>
          </a:p>
        </p:txBody>
      </p:sp>
      <p:sp>
        <p:nvSpPr>
          <p:cNvPr id="36" name="Text 31"/>
          <p:cNvSpPr/>
          <p:nvPr/>
        </p:nvSpPr>
        <p:spPr>
          <a:xfrm>
            <a:off x="6373368" y="4407408"/>
            <a:ext cx="2432304" cy="1600200"/>
          </a:xfrm>
          <a:prstGeom prst="rect">
            <a:avLst/>
          </a:prstGeom>
          <a:noFill/>
          <a:ln/>
        </p:spPr>
        <p:txBody>
          <a:bodyPr wrap="square" rtlCol="0" anchor="t"/>
          <a:lstStyle/>
          <a:p>
            <a:pPr marL="0" indent="0">
              <a:buNone/>
            </a:pPr>
            <a:r>
              <a:rPr lang="en-US" sz="900" dirty="0">
                <a:solidFill>
                  <a:srgbClr val="1A2B3C"/>
                </a:solidFill>
                <a:latin typeface="Calibri" pitchFamily="34" charset="0"/>
                <a:ea typeface="Calibri" pitchFamily="34" charset="-122"/>
                <a:cs typeface="Calibri" pitchFamily="34" charset="-120"/>
              </a:rPr>
              <a:t>Add two fields to your CRM's opportunity close stage: Competitive Situation (Y/N) and Primary Competitor Mentioned. Brief your AE team in under five minutes. Run for one quarter. Analyze the data before your next battlecard refresh.</a:t>
            </a:r>
            <a:endParaRPr lang="en-US" sz="900" dirty="0"/>
          </a:p>
        </p:txBody>
      </p:sp>
      <p:sp>
        <p:nvSpPr>
          <p:cNvPr id="37" name="Text 32"/>
          <p:cNvSpPr/>
          <p:nvPr/>
        </p:nvSpPr>
        <p:spPr>
          <a:xfrm>
            <a:off x="320040" y="6492240"/>
            <a:ext cx="8229600" cy="228600"/>
          </a:xfrm>
          <a:prstGeom prst="rect">
            <a:avLst/>
          </a:prstGeom>
          <a:noFill/>
          <a:ln/>
        </p:spPr>
        <p:txBody>
          <a:bodyPr wrap="square" rtlCol="0" anchor="ctr"/>
          <a:lstStyle/>
          <a:p>
            <a:pPr marL="0" indent="0">
              <a:buNone/>
            </a:pPr>
            <a:r>
              <a:rPr lang="en-US" sz="900" i="1" dirty="0">
                <a:solidFill>
                  <a:srgbClr val="6B7B8D"/>
                </a:solidFill>
                <a:latin typeface="Calibri" pitchFamily="34" charset="0"/>
                <a:ea typeface="Calibri" pitchFamily="34" charset="-122"/>
                <a:cs typeface="Calibri" pitchFamily="34" charset="-120"/>
              </a:rPr>
              <a:t>Chapter 6  ·  The Future of Product Marketing  ·  Chris O'Hara</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F2B5B"/>
          </a:solidFill>
          <a:ln/>
        </p:spPr>
        <p:txBody>
          <a:bodyPr/>
          <a:lstStyle/>
          <a:p>
            <a:endParaRPr lang="en-US"/>
          </a:p>
        </p:txBody>
      </p:sp>
      <p:sp>
        <p:nvSpPr>
          <p:cNvPr id="3" name="Shape 1"/>
          <p:cNvSpPr/>
          <p:nvPr/>
        </p:nvSpPr>
        <p:spPr>
          <a:xfrm>
            <a:off x="0" y="0"/>
            <a:ext cx="109728" cy="5143500"/>
          </a:xfrm>
          <a:prstGeom prst="rect">
            <a:avLst/>
          </a:prstGeom>
          <a:solidFill>
            <a:srgbClr val="1A7A4A"/>
          </a:solidFill>
          <a:ln/>
        </p:spPr>
        <p:txBody>
          <a:bodyPr/>
          <a:lstStyle/>
          <a:p>
            <a:endParaRPr lang="en-US"/>
          </a:p>
        </p:txBody>
      </p:sp>
      <p:sp>
        <p:nvSpPr>
          <p:cNvPr id="4" name="Text 2"/>
          <p:cNvSpPr/>
          <p:nvPr/>
        </p:nvSpPr>
        <p:spPr>
          <a:xfrm>
            <a:off x="320040" y="228600"/>
            <a:ext cx="8229600" cy="411480"/>
          </a:xfrm>
          <a:prstGeom prst="rect">
            <a:avLst/>
          </a:prstGeom>
          <a:noFill/>
          <a:ln/>
        </p:spPr>
        <p:txBody>
          <a:bodyPr wrap="square" rtlCol="0" anchor="ctr"/>
          <a:lstStyle/>
          <a:p>
            <a:pPr marL="0" indent="0">
              <a:buNone/>
            </a:pPr>
            <a:r>
              <a:rPr lang="en-US" sz="1800" b="1" kern="0" spc="200" dirty="0">
                <a:solidFill>
                  <a:srgbClr val="FFFFFF"/>
                </a:solidFill>
                <a:latin typeface="Calibri" pitchFamily="34" charset="0"/>
                <a:ea typeface="Calibri" pitchFamily="34" charset="-122"/>
                <a:cs typeface="Calibri" pitchFamily="34" charset="-120"/>
              </a:rPr>
              <a:t>CHAPTER 6  ·  TAKEAWAYS</a:t>
            </a:r>
            <a:endParaRPr lang="en-US" sz="1800" dirty="0"/>
          </a:p>
        </p:txBody>
      </p:sp>
      <p:sp>
        <p:nvSpPr>
          <p:cNvPr id="5" name="Shape 3"/>
          <p:cNvSpPr/>
          <p:nvPr/>
        </p:nvSpPr>
        <p:spPr>
          <a:xfrm>
            <a:off x="320040" y="658368"/>
            <a:ext cx="8503920" cy="27432"/>
          </a:xfrm>
          <a:prstGeom prst="rect">
            <a:avLst/>
          </a:prstGeom>
          <a:solidFill>
            <a:srgbClr val="1A7A4A"/>
          </a:solidFill>
          <a:ln/>
        </p:spPr>
        <p:txBody>
          <a:bodyPr/>
          <a:lstStyle/>
          <a:p>
            <a:endParaRPr lang="en-US"/>
          </a:p>
        </p:txBody>
      </p:sp>
      <p:sp>
        <p:nvSpPr>
          <p:cNvPr id="6" name="Shape 4"/>
          <p:cNvSpPr/>
          <p:nvPr/>
        </p:nvSpPr>
        <p:spPr>
          <a:xfrm>
            <a:off x="320040" y="841248"/>
            <a:ext cx="8503920" cy="822960"/>
          </a:xfrm>
          <a:prstGeom prst="rect">
            <a:avLst/>
          </a:prstGeom>
          <a:solidFill>
            <a:srgbClr val="1A3A6A"/>
          </a:solidFill>
          <a:ln w="12700">
            <a:solidFill>
              <a:srgbClr val="1A3A6A"/>
            </a:solidFill>
            <a:prstDash val="solid"/>
          </a:ln>
        </p:spPr>
        <p:txBody>
          <a:bodyPr/>
          <a:lstStyle/>
          <a:p>
            <a:endParaRPr lang="en-US"/>
          </a:p>
        </p:txBody>
      </p:sp>
      <p:sp>
        <p:nvSpPr>
          <p:cNvPr id="7" name="Shape 5"/>
          <p:cNvSpPr/>
          <p:nvPr/>
        </p:nvSpPr>
        <p:spPr>
          <a:xfrm>
            <a:off x="457200" y="978408"/>
            <a:ext cx="502920" cy="502920"/>
          </a:xfrm>
          <a:prstGeom prst="ellipse">
            <a:avLst/>
          </a:prstGeom>
          <a:solidFill>
            <a:srgbClr val="1A7A4A"/>
          </a:solidFill>
          <a:ln w="12700">
            <a:solidFill>
              <a:srgbClr val="1A7A4A"/>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566928" y="1088136"/>
            <a:ext cx="283464" cy="283464"/>
          </a:xfrm>
          <a:prstGeom prst="rect">
            <a:avLst/>
          </a:prstGeom>
        </p:spPr>
      </p:pic>
      <p:sp>
        <p:nvSpPr>
          <p:cNvPr id="9" name="Text 6"/>
          <p:cNvSpPr/>
          <p:nvPr/>
        </p:nvSpPr>
        <p:spPr>
          <a:xfrm>
            <a:off x="1143000" y="896112"/>
            <a:ext cx="7498080" cy="713232"/>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The quarterly battlecard is a product of a world that no longer exists. AI announcements happen weekly. CI latency is now measured in days, not quarters.</a:t>
            </a:r>
            <a:endParaRPr lang="en-US" sz="1050" dirty="0"/>
          </a:p>
        </p:txBody>
      </p:sp>
      <p:sp>
        <p:nvSpPr>
          <p:cNvPr id="10" name="Shape 7"/>
          <p:cNvSpPr/>
          <p:nvPr/>
        </p:nvSpPr>
        <p:spPr>
          <a:xfrm>
            <a:off x="320040" y="1773936"/>
            <a:ext cx="8503920" cy="822960"/>
          </a:xfrm>
          <a:prstGeom prst="rect">
            <a:avLst/>
          </a:prstGeom>
          <a:solidFill>
            <a:srgbClr val="1A3A6A"/>
          </a:solidFill>
          <a:ln w="12700">
            <a:solidFill>
              <a:srgbClr val="1A3A6A"/>
            </a:solidFill>
            <a:prstDash val="solid"/>
          </a:ln>
        </p:spPr>
        <p:txBody>
          <a:bodyPr/>
          <a:lstStyle/>
          <a:p>
            <a:endParaRPr lang="en-US"/>
          </a:p>
        </p:txBody>
      </p:sp>
      <p:sp>
        <p:nvSpPr>
          <p:cNvPr id="11" name="Shape 8"/>
          <p:cNvSpPr/>
          <p:nvPr/>
        </p:nvSpPr>
        <p:spPr>
          <a:xfrm>
            <a:off x="457200" y="1911096"/>
            <a:ext cx="502920" cy="502920"/>
          </a:xfrm>
          <a:prstGeom prst="ellipse">
            <a:avLst/>
          </a:prstGeom>
          <a:solidFill>
            <a:srgbClr val="1A7A4A"/>
          </a:solidFill>
          <a:ln w="12700">
            <a:solidFill>
              <a:srgbClr val="1A7A4A"/>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566928" y="2020824"/>
            <a:ext cx="283464" cy="283464"/>
          </a:xfrm>
          <a:prstGeom prst="rect">
            <a:avLst/>
          </a:prstGeom>
        </p:spPr>
      </p:pic>
      <p:sp>
        <p:nvSpPr>
          <p:cNvPr id="13" name="Text 9"/>
          <p:cNvSpPr/>
          <p:nvPr/>
        </p:nvSpPr>
        <p:spPr>
          <a:xfrm>
            <a:off x="1143000" y="1828800"/>
            <a:ext cx="7498080" cy="713232"/>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The CI Maturity Model has four stages. Most PMM organizations sit at Stage 2 (Periodic). Stage 4 (Living System) is an architecture decision, not a headcount decision.</a:t>
            </a:r>
            <a:endParaRPr lang="en-US" sz="1050" dirty="0"/>
          </a:p>
        </p:txBody>
      </p:sp>
      <p:sp>
        <p:nvSpPr>
          <p:cNvPr id="14" name="Shape 10"/>
          <p:cNvSpPr/>
          <p:nvPr/>
        </p:nvSpPr>
        <p:spPr>
          <a:xfrm>
            <a:off x="320040" y="2706624"/>
            <a:ext cx="8503920" cy="822960"/>
          </a:xfrm>
          <a:prstGeom prst="rect">
            <a:avLst/>
          </a:prstGeom>
          <a:solidFill>
            <a:srgbClr val="1A3A6A"/>
          </a:solidFill>
          <a:ln w="12700">
            <a:solidFill>
              <a:srgbClr val="1A3A6A"/>
            </a:solidFill>
            <a:prstDash val="solid"/>
          </a:ln>
        </p:spPr>
        <p:txBody>
          <a:bodyPr/>
          <a:lstStyle/>
          <a:p>
            <a:endParaRPr lang="en-US"/>
          </a:p>
        </p:txBody>
      </p:sp>
      <p:sp>
        <p:nvSpPr>
          <p:cNvPr id="15" name="Shape 11"/>
          <p:cNvSpPr/>
          <p:nvPr/>
        </p:nvSpPr>
        <p:spPr>
          <a:xfrm>
            <a:off x="457200" y="2843784"/>
            <a:ext cx="502920" cy="502920"/>
          </a:xfrm>
          <a:prstGeom prst="ellipse">
            <a:avLst/>
          </a:prstGeom>
          <a:solidFill>
            <a:srgbClr val="1A7A4A"/>
          </a:solidFill>
          <a:ln w="12700">
            <a:solidFill>
              <a:srgbClr val="1A7A4A"/>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566928" y="2953512"/>
            <a:ext cx="283464" cy="283464"/>
          </a:xfrm>
          <a:prstGeom prst="rect">
            <a:avLst/>
          </a:prstGeom>
        </p:spPr>
      </p:pic>
      <p:sp>
        <p:nvSpPr>
          <p:cNvPr id="17" name="Text 12"/>
          <p:cNvSpPr/>
          <p:nvPr/>
        </p:nvSpPr>
        <p:spPr>
          <a:xfrm>
            <a:off x="1143000" y="2761488"/>
            <a:ext cx="7498080" cy="713232"/>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The Living CI Architecture has three layers: Signal (what gets monitored), Analysis (what agents do with it), and Distribution (how it reaches reps in context).</a:t>
            </a:r>
            <a:endParaRPr lang="en-US" sz="1050" dirty="0"/>
          </a:p>
        </p:txBody>
      </p:sp>
      <p:sp>
        <p:nvSpPr>
          <p:cNvPr id="18" name="Shape 13"/>
          <p:cNvSpPr/>
          <p:nvPr/>
        </p:nvSpPr>
        <p:spPr>
          <a:xfrm>
            <a:off x="320040" y="3639312"/>
            <a:ext cx="8503920" cy="822960"/>
          </a:xfrm>
          <a:prstGeom prst="rect">
            <a:avLst/>
          </a:prstGeom>
          <a:solidFill>
            <a:srgbClr val="1A3A6A"/>
          </a:solidFill>
          <a:ln w="12700">
            <a:solidFill>
              <a:srgbClr val="1A3A6A"/>
            </a:solidFill>
            <a:prstDash val="solid"/>
          </a:ln>
        </p:spPr>
        <p:txBody>
          <a:bodyPr/>
          <a:lstStyle/>
          <a:p>
            <a:endParaRPr lang="en-US"/>
          </a:p>
        </p:txBody>
      </p:sp>
      <p:sp>
        <p:nvSpPr>
          <p:cNvPr id="19" name="Shape 14"/>
          <p:cNvSpPr/>
          <p:nvPr/>
        </p:nvSpPr>
        <p:spPr>
          <a:xfrm>
            <a:off x="457200" y="3776472"/>
            <a:ext cx="502920" cy="502920"/>
          </a:xfrm>
          <a:prstGeom prst="ellipse">
            <a:avLst/>
          </a:prstGeom>
          <a:solidFill>
            <a:srgbClr val="1A7A4A"/>
          </a:solidFill>
          <a:ln w="12700">
            <a:solidFill>
              <a:srgbClr val="1A7A4A"/>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566928" y="3886200"/>
            <a:ext cx="283464" cy="283464"/>
          </a:xfrm>
          <a:prstGeom prst="rect">
            <a:avLst/>
          </a:prstGeom>
        </p:spPr>
      </p:pic>
      <p:sp>
        <p:nvSpPr>
          <p:cNvPr id="21" name="Text 15"/>
          <p:cNvSpPr/>
          <p:nvPr/>
        </p:nvSpPr>
        <p:spPr>
          <a:xfrm>
            <a:off x="1143000" y="3694176"/>
            <a:ext cx="7498080" cy="713232"/>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The Living Battlecard gains four new attributes: freshness timestamp, change delta, signal source, and a confidence level. PMMs own QA. Agents own updates.</a:t>
            </a:r>
            <a:endParaRPr lang="en-US" sz="1050" dirty="0"/>
          </a:p>
        </p:txBody>
      </p:sp>
      <p:sp>
        <p:nvSpPr>
          <p:cNvPr id="22" name="Shape 16"/>
          <p:cNvSpPr/>
          <p:nvPr/>
        </p:nvSpPr>
        <p:spPr>
          <a:xfrm>
            <a:off x="320040" y="4572000"/>
            <a:ext cx="8503920" cy="822960"/>
          </a:xfrm>
          <a:prstGeom prst="rect">
            <a:avLst/>
          </a:prstGeom>
          <a:solidFill>
            <a:srgbClr val="1A3A6A"/>
          </a:solidFill>
          <a:ln w="12700">
            <a:solidFill>
              <a:srgbClr val="1A3A6A"/>
            </a:solidFill>
            <a:prstDash val="solid"/>
          </a:ln>
        </p:spPr>
        <p:txBody>
          <a:bodyPr/>
          <a:lstStyle/>
          <a:p>
            <a:endParaRPr lang="en-US"/>
          </a:p>
        </p:txBody>
      </p:sp>
      <p:sp>
        <p:nvSpPr>
          <p:cNvPr id="23" name="Shape 17"/>
          <p:cNvSpPr/>
          <p:nvPr/>
        </p:nvSpPr>
        <p:spPr>
          <a:xfrm>
            <a:off x="457200" y="4709160"/>
            <a:ext cx="502920" cy="502920"/>
          </a:xfrm>
          <a:prstGeom prst="ellipse">
            <a:avLst/>
          </a:prstGeom>
          <a:solidFill>
            <a:srgbClr val="1A7A4A"/>
          </a:solidFill>
          <a:ln w="12700">
            <a:solidFill>
              <a:srgbClr val="1A7A4A"/>
            </a:solidFill>
            <a:prstDash val="solid"/>
          </a:ln>
        </p:spPr>
        <p:txBody>
          <a:bodyPr/>
          <a:lstStyle/>
          <a:p>
            <a:endParaRPr lang="en-US"/>
          </a:p>
        </p:txBody>
      </p:sp>
      <p:pic>
        <p:nvPicPr>
          <p:cNvPr id="24" name="Image 4" descr="preencoded.png"/>
          <p:cNvPicPr>
            <a:picLocks noChangeAspect="1"/>
          </p:cNvPicPr>
          <p:nvPr/>
        </p:nvPicPr>
        <p:blipFill>
          <a:blip r:embed="rId7"/>
          <a:stretch>
            <a:fillRect/>
          </a:stretch>
        </p:blipFill>
        <p:spPr>
          <a:xfrm>
            <a:off x="566928" y="4818888"/>
            <a:ext cx="283464" cy="283464"/>
          </a:xfrm>
          <a:prstGeom prst="rect">
            <a:avLst/>
          </a:prstGeom>
        </p:spPr>
      </p:pic>
      <p:sp>
        <p:nvSpPr>
          <p:cNvPr id="25" name="Text 18"/>
          <p:cNvSpPr/>
          <p:nvPr/>
        </p:nvSpPr>
        <p:spPr>
          <a:xfrm>
            <a:off x="1143000" y="4626864"/>
            <a:ext cx="7498080" cy="713232"/>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The BattleCoach Flywheel closes the loop: signal → battlecard update → rep coaching → deal application → win/loss feedback → back to signal. Most teams break at the return path.</a:t>
            </a:r>
            <a:endParaRPr lang="en-US" sz="1050" dirty="0"/>
          </a:p>
        </p:txBody>
      </p:sp>
      <p:sp>
        <p:nvSpPr>
          <p:cNvPr id="26" name="Text 19"/>
          <p:cNvSpPr/>
          <p:nvPr/>
        </p:nvSpPr>
        <p:spPr>
          <a:xfrm>
            <a:off x="320040" y="6053328"/>
            <a:ext cx="8229600" cy="256032"/>
          </a:xfrm>
          <a:prstGeom prst="rect">
            <a:avLst/>
          </a:prstGeom>
          <a:noFill/>
          <a:ln/>
        </p:spPr>
        <p:txBody>
          <a:bodyPr wrap="square" rtlCol="0" anchor="ctr"/>
          <a:lstStyle/>
          <a:p>
            <a:pPr marL="0" indent="0">
              <a:buNone/>
            </a:pPr>
            <a:r>
              <a:rPr lang="en-US" sz="1000" i="1" dirty="0">
                <a:solidFill>
                  <a:srgbClr val="1A7A4A"/>
                </a:solidFill>
                <a:latin typeface="Georgia" pitchFamily="34" charset="0"/>
                <a:ea typeface="Georgia" pitchFamily="34" charset="-122"/>
                <a:cs typeface="Georgia" pitchFamily="34" charset="-120"/>
              </a:rPr>
              <a:t>Next: Chapter 7 — The Demo Stack</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cf7ac0a-4681-4823-ab0b-04ef02c5f873}" enabled="1" method="Standard" siteId="{42f7676c-f455-423c-82f6-dc2d99791af7}" contentBits="0" removed="0"/>
</clbl:labelList>
</file>

<file path=docProps/app.xml><?xml version="1.0" encoding="utf-8"?>
<Properties xmlns="http://schemas.openxmlformats.org/officeDocument/2006/extended-properties" xmlns:vt="http://schemas.openxmlformats.org/officeDocument/2006/docPropsVTypes">
  <TotalTime>14</TotalTime>
  <Words>1448</Words>
  <Application>Microsoft Office PowerPoint</Application>
  <PresentationFormat>On-screen Show (16:9)</PresentationFormat>
  <Paragraphs>167</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Competitive Intelligence as a Living System — Chapter 6</dc:title>
  <dc:subject>PptxGenJS Presentation</dc:subject>
  <dc:creator>PptxGenJS</dc:creator>
  <cp:lastModifiedBy>OHara, Christopher</cp:lastModifiedBy>
  <cp:revision>2</cp:revision>
  <dcterms:created xsi:type="dcterms:W3CDTF">2026-03-08T13:56:59Z</dcterms:created>
  <dcterms:modified xsi:type="dcterms:W3CDTF">2026-03-08T14:13:45Z</dcterms:modified>
</cp:coreProperties>
</file>