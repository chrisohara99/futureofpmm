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THE FUTURE OF PRODUCT MARKETING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4389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011680" cy="41148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PART I · CHAPTER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The Old Playbook</a:t>
            </a:r>
            <a:br/>
            <a:r>
              <a:t>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Pragmatic Remix: All 37 Boxes (Reframed)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4546A"/>
                </a:solidFill>
                <a:latin typeface="Arial"/>
              </a:defRPr>
            </a:pPr>
            <a:r>
              <a:t>Chris O'Hara &amp; Dan Yu  ·  futureofpmm.com  ·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CORE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43200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546A"/>
                </a:solidFill>
                <a:latin typeface="Arial"/>
              </a:defRPr>
            </a:pPr>
            <a:r>
              <a:t>The agentic era didn't accelerate the old B2B playbook — it ended it.</a:t>
            </a:r>
            <a:br/>
            <a:br/>
            <a:r>
              <a:t>Product lifecycles now run in continuous deployment, not quarterly releases.</a:t>
            </a:r>
            <a:br/>
            <a:r>
              <a:t>Buyers consume content through AI intermediaries, not your website.</a:t>
            </a:r>
            <a:br/>
            <a:r>
              <a:t>GEO has replaced SEO. The funnel is no longer a funnel.</a:t>
            </a:r>
            <a:br/>
            <a:br/>
            <a:r>
              <a:t>The PMM who survives this transition is not the one who learned to prompt faster —</a:t>
            </a:r>
            <a:br/>
            <a:r>
              <a:t>it's the one who understood what changed and why.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4546A"/>
                </a:solidFill>
                <a:latin typeface="Arial"/>
              </a:defRPr>
            </a:pPr>
            <a:r>
              <a:t>This chapter establishes:</a:t>
            </a:r>
          </a:p>
          <a:p>
            <a:pPr>
              <a:defRPr sz="1200">
                <a:solidFill>
                  <a:srgbClr val="44546A"/>
                </a:solidFill>
                <a:latin typeface="Arial"/>
              </a:defRPr>
            </a:pPr>
            <a:r>
              <a:t>• The three eras of enterprise data</a:t>
            </a:r>
          </a:p>
          <a:p>
            <a:pPr>
              <a:defRPr sz="1200">
                <a:solidFill>
                  <a:srgbClr val="44546A"/>
                </a:solidFill>
                <a:latin typeface="Arial"/>
              </a:defRPr>
            </a:pPr>
            <a:r>
              <a:t>• The visibility gap</a:t>
            </a:r>
          </a:p>
          <a:p>
            <a:pPr>
              <a:defRPr sz="1200">
                <a:solidFill>
                  <a:srgbClr val="44546A"/>
                </a:solidFill>
                <a:latin typeface="Arial"/>
              </a:defRPr>
            </a:pPr>
            <a:r>
              <a:t>• From SEO to GEO</a:t>
            </a:r>
          </a:p>
          <a:p>
            <a:pPr>
              <a:defRPr sz="1200">
                <a:solidFill>
                  <a:srgbClr val="44546A"/>
                </a:solidFill>
                <a:latin typeface="Arial"/>
              </a:defRPr>
            </a:pPr>
            <a:r>
              <a:t>• The Pragmatic 37 reimagined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BUYER JOURNEY COMPRESSION</a:t>
            </a:r>
          </a:p>
        </p:txBody>
      </p:sp>
      <p:pic>
        <p:nvPicPr>
          <p:cNvPr id="4" name="Picture 3" descr="fig1-buy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7600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VISIBILITY GAP</a:t>
            </a:r>
          </a:p>
        </p:txBody>
      </p:sp>
      <p:pic>
        <p:nvPicPr>
          <p:cNvPr id="4" name="Picture 3" descr="fig2-visibility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271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FROM SEO TO GEO</a:t>
            </a:r>
          </a:p>
        </p:txBody>
      </p:sp>
      <p:pic>
        <p:nvPicPr>
          <p:cNvPr id="4" name="Picture 3" descr="fig3-seo-to-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10058400" cy="548917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The Audit (Do This Week)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Open Claude, ChatGPT, or Perplexity. Ask it to evaluate vendors in your category. See if your company appears.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NEW AWARENESS STACK</a:t>
            </a:r>
          </a:p>
        </p:txBody>
      </p:sp>
      <p:pic>
        <p:nvPicPr>
          <p:cNvPr id="4" name="Picture 3" descr="fig5-awareness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51402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TIERED LAUNCH MODEL</a:t>
            </a:r>
          </a:p>
        </p:txBody>
      </p:sp>
      <p:pic>
        <p:nvPicPr>
          <p:cNvPr id="4" name="Picture 3" descr="fig6-tiered-la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2956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THE PRAGMATIC 37 → AGENTIC FUNNEL MAP</a:t>
            </a:r>
          </a:p>
        </p:txBody>
      </p:sp>
      <p:pic>
        <p:nvPicPr>
          <p:cNvPr id="4" name="Picture 3" descr="fig4-pragmatic-funnel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94360"/>
            <a:ext cx="11795760" cy="84000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THE PRAGMATIC FRAMEWORK MEETS THE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546A"/>
                </a:solidFill>
                <a:latin typeface="Arial"/>
              </a:defRPr>
            </a:pPr>
            <a:r>
              <a:t>37 boxes. Three clusters. Which activities survive automation?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657600" cy="3657600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4546A"/>
                </a:solidFill>
                <a:latin typeface="Arial"/>
              </a:defRPr>
            </a:pPr>
            <a:r>
              <a:t>CLUSTER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4546A"/>
                </a:solidFill>
                <a:latin typeface="Arial"/>
              </a:defRPr>
            </a:pPr>
            <a:r>
              <a:t>Automated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546A"/>
                </a:solidFill>
                <a:latin typeface="Arial"/>
              </a:defRPr>
            </a:pPr>
            <a:r>
              <a:t>Market sizing, derivative content,</a:t>
            </a:r>
            <a:br/>
            <a:r>
              <a:t>event logistics, sales tools.</a:t>
            </a:r>
            <a:br/>
            <a:br/>
            <a:r>
              <a:t>Agents do the majority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657600" cy="36576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CLUSTER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Augmented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Positioning, win/loss analysis,</a:t>
            </a:r>
            <a:br/>
            <a:r>
              <a:t>buyer personas, pricing.</a:t>
            </a:r>
            <a:br/>
            <a:br/>
            <a:r>
              <a:t>Human essential, agent accelerates.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45920"/>
            <a:ext cx="3657600" cy="3657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CLUSTER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945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Elevated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4320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rial"/>
              </a:defRPr>
            </a:pPr>
            <a:r>
              <a:t>Stakeholder management,</a:t>
            </a:r>
            <a:br/>
            <a:r>
              <a:t>customer empathy, thought leadership.</a:t>
            </a:r>
            <a:br/>
            <a:br/>
            <a:r>
              <a:t>Irreducibly human.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4546A"/>
                </a:solidFill>
                <a:latin typeface="Arial"/>
              </a:defRPr>
            </a:pPr>
            <a:r>
              <a:t>If your value is producing artifacts, the automation wave is not your friend.</a:t>
            </a:r>
            <a:br/>
            <a:r>
              <a:t>The question: are you directing the agents or being replaced by them?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THE 10x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828800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44546A"/>
                </a:solidFill>
                <a:latin typeface="Arial"/>
              </a:defRPr>
            </a:pPr>
            <a:r>
              <a:t>A PMM who automates 20 hours a week of Cluster One work and redirects that time into deeper competitive analysis, more thoughtful positioning, and genuine thought leadership will outperform one still manually updating battlecards.</a:t>
            </a:r>
            <a:br/>
            <a:br/>
            <a:r>
              <a:t>Not by 20%. By a factor that justifies the title of this curriculum.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4546A"/>
                </a:solidFill>
                <a:latin typeface="Arial"/>
              </a:defRPr>
            </a:pPr>
            <a:r>
              <a:t>What "10x yourself" actually means: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0000"/>
                </a:solidFill>
                <a:latin typeface="Arial"/>
              </a:defRPr>
            </a:pPr>
            <a:r>
              <a:t>✗  NOT working ten times harder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0000"/>
                </a:solidFill>
                <a:latin typeface="Arial"/>
              </a:defRPr>
            </a:pPr>
            <a:r>
              <a:t>✗  NOT working ten times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Arial"/>
              </a:defRPr>
            </a:pPr>
            <a:r>
              <a:t>✓  Operating at a fundamentally different level of strategic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546A"/>
                </a:solidFill>
                <a:latin typeface="Arial"/>
              </a:defRPr>
            </a:pPr>
            <a:r>
              <a:t>You've offloaded the mechanical work to machines built for it —</a:t>
            </a:r>
            <a:br/>
            <a:r>
              <a:t>and you're finally free to do the work that only a human can 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CMO PERSPECTIVE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47120" cy="1463040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4546A"/>
                </a:solidFill>
                <a:latin typeface="Arial"/>
              </a:defRPr>
            </a:pPr>
            <a:r>
              <a:t>The conversation about AI inside marketing departments is almost entirely wrong.</a:t>
            </a:r>
            <a:br/>
            <a:r>
              <a:t>It's focused on efficiency — that's a CFO question.</a:t>
            </a:r>
            <a:br/>
            <a:br/>
            <a:r>
              <a:t>The CMO question: how do we produce fundamentally different outputs?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4546A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The agentic shift is a structural transformation, not a toolkit upgrade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Buyer behavior has already changed — AI agents compress research from weeks to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Most PMM content is invisible to agents (the Visibility Gap)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The Pragmatic 37 cluster into: Automated, Augmented, Elevated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rial"/>
              </a:defRPr>
            </a:pPr>
            <a:r>
              <a:t>The PMM who frees Cluster One hours to invest in Cluster Three operates at a different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4546A"/>
                </a:solidFill>
                <a:latin typeface="Arial"/>
              </a:defRPr>
            </a:pPr>
            <a:r>
              <a:t>futureofpmm.com  ·  Chris O'Hara &amp; Dan Yu  ·  The Future of Product Marketing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