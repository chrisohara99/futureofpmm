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FUTURE OF PRODUCT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389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011680" cy="4114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PART I · 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91440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The Old Playbook</a:t>
            </a:r>
            <a:br/>
            <a:r>
              <a:t>Is Dead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Pragmatic Remix: All 37 Boxes (Reframed)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Chris O'Hara &amp; Dan Yu  ·  futureofpmm.com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CORE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44546A"/>
                </a:solidFill>
                <a:latin typeface="Arial"/>
              </a:defRPr>
            </a:pPr>
            <a:r>
              <a:t>The agentic era didn't accelerate the old B2B playbook — it ended it.</a:t>
            </a:r>
            <a:br/>
            <a:br/>
            <a:r>
              <a:t>Product lifecycles now run in continuous deployment, not quarterly releases.</a:t>
            </a:r>
            <a:br/>
            <a:r>
              <a:t>Buyers consume content through AI intermediaries, not your website.</a:t>
            </a:r>
            <a:br/>
            <a:r>
              <a:t>GEO has replaced SEO. The funnel is no longer a funnel.</a:t>
            </a:r>
            <a:br/>
            <a:br/>
            <a:r>
              <a:t>The PMM who survives this transition is not the one who learned to prompt faster —</a:t>
            </a:r>
            <a:br/>
            <a:r>
              <a:t>it's the one who understood what changed and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BUYER JOURNEY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4546A"/>
                </a:solidFill>
                <a:latin typeface="Arial"/>
              </a:defRPr>
            </a:pPr>
            <a:r>
              <a:t>OLD REALITY (HUMAN-LED)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058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8B2222"/>
                </a:solidFill>
                <a:latin typeface="Arial"/>
              </a:defRPr>
            </a:pPr>
            <a:r>
              <a:t>~6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46304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371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Problem</a:t>
            </a:r>
            <a:br/>
            <a:r>
              <a:t>awareness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463040"/>
            <a:ext cx="146304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554480"/>
            <a:ext cx="1371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Google</a:t>
            </a:r>
            <a:br/>
            <a:r>
              <a:t>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63040"/>
            <a:ext cx="146304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554480"/>
            <a:ext cx="1371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Content</a:t>
            </a:r>
            <a:br/>
            <a:r>
              <a:t>consumption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463040"/>
            <a:ext cx="146304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54480"/>
            <a:ext cx="1371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Vendor</a:t>
            </a:r>
            <a:br/>
            <a:r>
              <a:t>shortlist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463040"/>
            <a:ext cx="146304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554480"/>
            <a:ext cx="1371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Demo</a:t>
            </a:r>
            <a:br/>
            <a:r>
              <a:t>requests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63040"/>
            <a:ext cx="146304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554480"/>
            <a:ext cx="1371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Internal</a:t>
            </a:r>
            <a:br/>
            <a:r>
              <a:t>alignment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463040"/>
            <a:ext cx="1463040" cy="8229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1554480"/>
            <a:ext cx="1371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688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8B2222"/>
                </a:solidFill>
                <a:latin typeface="Arial"/>
              </a:defRPr>
            </a:pPr>
            <a:r>
              <a:t>COMPRESSED BY AI AGENTS → 90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D6F5C"/>
                </a:solidFill>
                <a:latin typeface="Arial"/>
              </a:defRPr>
            </a:pPr>
            <a:r>
              <a:t>NEW REALITY (AGENT-MEDIATED)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0175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D6F5C"/>
                </a:solidFill>
                <a:latin typeface="Arial"/>
              </a:defRPr>
            </a:pPr>
            <a:r>
              <a:t>~Days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178308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1691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Problem +</a:t>
            </a:r>
            <a:br/>
            <a:r>
              <a:t>constraints</a:t>
            </a:r>
            <a:br/>
            <a:r>
              <a:t>to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3474720"/>
            <a:ext cx="178308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3566160"/>
            <a:ext cx="1691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Agent</a:t>
            </a:r>
            <a:br/>
            <a:r>
              <a:t>synthesizes</a:t>
            </a:r>
            <a:br/>
            <a:r>
              <a:t>market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474720"/>
            <a:ext cx="178308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566160"/>
            <a:ext cx="1691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Structured</a:t>
            </a:r>
            <a:br/>
            <a:r>
              <a:t>comparison</a:t>
            </a:r>
            <a:br/>
            <a:r>
              <a:t>delivered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74720"/>
            <a:ext cx="178308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566160"/>
            <a:ext cx="1691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Human</a:t>
            </a:r>
            <a:br/>
            <a:r>
              <a:t>reviews</a:t>
            </a:r>
            <a:br/>
            <a:r>
              <a:t>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474720"/>
            <a:ext cx="178308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3566160"/>
            <a:ext cx="1691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Targeted</a:t>
            </a:r>
            <a:br/>
            <a:r>
              <a:t>demos</a:t>
            </a:r>
            <a:br/>
            <a:r>
              <a:t>(if any)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3474720"/>
            <a:ext cx="178308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3566160"/>
            <a:ext cx="1691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4546A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4846320"/>
            <a:ext cx="9418320" cy="9144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0" y="5029200"/>
            <a:ext cx="9052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4546A"/>
                </a:solidFill>
                <a:latin typeface="Arial"/>
              </a:defRPr>
            </a:pPr>
            <a:r>
              <a:t>Steps 2–4 of the old journey — where most PMM content lived —</a:t>
            </a:r>
            <a:br/>
            <a:r>
              <a:t>now happen inside an AI's context window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VISIBILITY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4546A"/>
                </a:solidFill>
                <a:latin typeface="Arial"/>
              </a:defRPr>
            </a:pPr>
            <a:r>
              <a:t>What AI agents surface vs. what most PMM teams produce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548640"/>
          </a:xfrm>
          <a:prstGeom prst="roundRect">
            <a:avLst/>
          </a:prstGeom>
          <a:solidFill>
            <a:srgbClr val="1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WHAT AGENTS CAN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548640"/>
          </a:xfrm>
          <a:prstGeom prst="roundRect">
            <a:avLst/>
          </a:prstGeom>
          <a:solidFill>
            <a:srgbClr val="8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WHAT AGENTS SKIP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D6F5C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Structured comparison data (schema.org)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D6F5C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Third-party review rankings (G2, Capterra)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D6F5C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79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Technical documentation &amp;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59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D6F5C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Machine-readable pricing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D6F5C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News with verifiable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222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031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Narrative product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222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7432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Video testimonials &amp; demos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83279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222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383279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Gated PDF case studies &amp; ebooks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59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222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23359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JavaScript-rendered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634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2222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6634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4546A"/>
                </a:solidFill>
                <a:latin typeface="Arial"/>
              </a:defRPr>
            </a:pPr>
            <a:r>
              <a:t>Email nurture sequences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486400"/>
            <a:ext cx="9418320" cy="731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623560"/>
            <a:ext cx="9052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D6F5C"/>
                </a:solidFill>
                <a:latin typeface="Arial"/>
              </a:defRPr>
            </a:pPr>
            <a:r>
              <a:t>The Visibility Gap is not a technology problem — it is a prioritization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FROM SEO TO 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4546A"/>
                </a:solidFill>
                <a:latin typeface="Arial"/>
              </a:defRPr>
            </a:pPr>
            <a:r>
              <a:t>Generative Engine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548640"/>
          </a:xfrm>
          <a:prstGeom prst="round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931920" y="14173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17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C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41732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D6F5C"/>
                </a:solidFill>
                <a:latin typeface="Arial"/>
              </a:defRPr>
            </a:pPr>
            <a:r>
              <a:t>GEO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4546A"/>
                </a:solidFill>
                <a:latin typeface="Arial"/>
              </a:defRPr>
            </a:pPr>
            <a:r>
              <a:t>Optimize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Ranking on a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0312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D6F5C"/>
                </a:solidFill>
                <a:latin typeface="Arial"/>
              </a:defRPr>
            </a:pPr>
            <a:r>
              <a:t>Citation in a 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4546A"/>
                </a:solidFill>
                <a:latin typeface="Arial"/>
              </a:defRPr>
            </a:pPr>
            <a:r>
              <a:t>Compete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974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Keywords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69748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D6F5C"/>
                </a:solidFill>
                <a:latin typeface="Arial"/>
              </a:defRPr>
            </a:pPr>
            <a:r>
              <a:t>Entity authority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4546A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2918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Backlinks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29184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D6F5C"/>
                </a:solidFill>
                <a:latin typeface="Arial"/>
              </a:defRPr>
            </a:pPr>
            <a:r>
              <a:t>Structured proof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862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4546A"/>
                </a:solidFill>
                <a:latin typeface="Arial"/>
              </a:defRPr>
            </a:pPr>
            <a:r>
              <a:t>What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8862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Title tag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88620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D6F5C"/>
                </a:solidFill>
                <a:latin typeface="Arial"/>
              </a:defRPr>
            </a:pPr>
            <a:r>
              <a:t>Schema markup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4546A"/>
                </a:solidFill>
                <a:latin typeface="Arial"/>
              </a:defRPr>
            </a:pPr>
            <a:r>
              <a:t>Volume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4805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More content helps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48056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D6F5C"/>
                </a:solidFill>
                <a:latin typeface="Arial"/>
              </a:defRPr>
            </a:pPr>
            <a:r>
              <a:t>Better structure helps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98348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749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4546A"/>
                </a:solidFill>
                <a:latin typeface="Arial"/>
              </a:defRPr>
            </a:pPr>
            <a:r>
              <a:t>Buyer sees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0749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4546A"/>
                </a:solidFill>
                <a:latin typeface="Arial"/>
              </a:defRPr>
            </a:pPr>
            <a:r>
              <a:t>Blue links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07492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D6F5C"/>
                </a:solidFill>
                <a:latin typeface="Arial"/>
              </a:defRPr>
            </a:pPr>
            <a:r>
              <a:t>Synthesized answer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Audit — Do This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Open Claude, ChatGPT, or Perplexity. Ask it to evaluate vendors in your category. See if your company appears.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NEW AWARENESS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" cy="1280160"/>
          </a:xfrm>
          <a:prstGeom prst="rect">
            <a:avLst/>
          </a:prstGeom>
          <a:solidFill>
            <a:srgbClr val="1D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1115568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D6F5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D6F5C"/>
                </a:solidFill>
                <a:latin typeface="Arial"/>
              </a:defRPr>
            </a:pPr>
            <a:r>
              <a:t>GEO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D6F5C"/>
                </a:solidFill>
                <a:latin typeface="Arial"/>
              </a:defRPr>
            </a:pPr>
            <a:r>
              <a:t>Technical discoverability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Schema.org markup • Structured data • Machine-readable pricing • FAQ pages mapped to buyer 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37160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651760"/>
            <a:ext cx="1115568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44546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346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4546A"/>
                </a:solidFill>
                <a:latin typeface="Arial"/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Third-party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G2 • Gartner Peer Insights • Capterra • Treat review management with analyst relations rigor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37160" cy="1280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114800"/>
            <a:ext cx="11155680" cy="12801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C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976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C000"/>
                </a:solidFill>
                <a:latin typeface="Arial"/>
              </a:defRPr>
            </a:pPr>
            <a:r>
              <a:t>NARRATIVE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091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C000"/>
                </a:solidFill>
                <a:latin typeface="Arial"/>
              </a:defRPr>
            </a:pPr>
            <a:r>
              <a:t>Irreplaceable human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8056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Category creation • Competitive differentiation • Executive thought leadership • Event keynotes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TIERED LAUNCH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731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4546A"/>
                </a:solidFill>
                <a:latin typeface="Arial"/>
              </a:defRPr>
            </a:pPr>
            <a:r>
              <a:t>Strategic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4546A"/>
                </a:solidFill>
                <a:latin typeface="Arial"/>
              </a:defRPr>
            </a:pPr>
            <a:r>
              <a:t>~2x/year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Full positioning refresh, analyst briefing,</a:t>
            </a:r>
            <a:br/>
            <a:r>
              <a:t>press, keynote, demand gen, sales enablement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TIER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4546A"/>
                </a:solidFill>
                <a:latin typeface="Arial"/>
              </a:defRPr>
            </a:pPr>
            <a:r>
              <a:t>Feature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08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70AD47"/>
                </a:solidFill>
                <a:latin typeface="Arial"/>
              </a:defRPr>
            </a:pPr>
            <a:r>
              <a:t>Monthly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Blog post, demo update, sales talking</a:t>
            </a:r>
            <a:br/>
            <a:r>
              <a:t>points, social push, comparison page update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124712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TIER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4546A"/>
                </a:solidFill>
                <a:latin typeface="Arial"/>
              </a:defRPr>
            </a:pPr>
            <a:r>
              <a:t>Continuous 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720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C000"/>
                </a:solidFill>
                <a:latin typeface="Arial"/>
              </a:defRPr>
            </a:pPr>
            <a:r>
              <a:t>Always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4546A"/>
                </a:solidFill>
                <a:latin typeface="Arial"/>
              </a:defRPr>
            </a:pPr>
            <a:r>
              <a:t>Structured changelog (human + agent</a:t>
            </a:r>
            <a:br/>
            <a:r>
              <a:t>readable), competitive cadence 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THE PRAGMATIC FRAMEWORK MEETS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4546A"/>
                </a:solidFill>
                <a:latin typeface="Arial"/>
              </a:defRPr>
            </a:pPr>
            <a:r>
              <a:t>37 boxes. Three clusters. Which activities survive automation?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57600" cy="36576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44546A"/>
                </a:solidFill>
                <a:latin typeface="Arial"/>
              </a:defRPr>
            </a:pPr>
            <a:r>
              <a:t>CLUSTER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4546A"/>
                </a:solidFill>
                <a:latin typeface="Arial"/>
              </a:defRPr>
            </a:pPr>
            <a:r>
              <a:t>Automated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918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4546A"/>
                </a:solidFill>
                <a:latin typeface="Arial"/>
              </a:defRPr>
            </a:pPr>
            <a:r>
              <a:t>Market sizing, derivative content,</a:t>
            </a:r>
            <a:br/>
            <a:r>
              <a:t>event logistics, sales tools.</a:t>
            </a:r>
            <a:br/>
            <a:br/>
            <a:r>
              <a:t>Agents do the majority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657600" cy="3657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CLUSTER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Augmented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918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Positioning, win/loss analysis,</a:t>
            </a:r>
            <a:br/>
            <a:r>
              <a:t>buyer personas, pricing.</a:t>
            </a:r>
            <a:br/>
            <a:br/>
            <a:r>
              <a:t>Human essential, agent accelerates.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657600" cy="3657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CLUSTER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Elevated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2918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Stakeholder management,</a:t>
            </a:r>
            <a:br/>
            <a:r>
              <a:t>customer empathy, thought leadership.</a:t>
            </a:r>
            <a:br/>
            <a:br/>
            <a:r>
              <a:t>Irreducibly human.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4546A"/>
                </a:solidFill>
                <a:latin typeface="Arial"/>
              </a:defRPr>
            </a:pPr>
            <a:r>
              <a:t>If your value is producing artifacts, the automation wave is not your friend.</a:t>
            </a:r>
            <a:br/>
            <a:r>
              <a:t>The question: are you directing the agents or being replaced by them?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10x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4546A"/>
                </a:solidFill>
                <a:latin typeface="Arial"/>
              </a:defRPr>
            </a:pPr>
            <a:r>
              <a:t>A PMM who automates 20 hours a week of Cluster One work and redirects that time into deeper competitive analysis, more thoughtful positioning, and genuine thought leadership will outperform one still manually updating battlecards.</a:t>
            </a:r>
            <a:br/>
            <a:br/>
            <a:r>
              <a:t>Not by 20%. By a factor that justifies the title of this curriculum.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4546A"/>
                </a:solidFill>
                <a:latin typeface="Arial"/>
              </a:defRPr>
            </a:pPr>
            <a:r>
              <a:t>What "10x yourself" actually means: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B0000"/>
                </a:solidFill>
                <a:latin typeface="Arial"/>
              </a:defRPr>
            </a:pPr>
            <a:r>
              <a:t>✗  NOT working ten times harder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B0000"/>
                </a:solidFill>
                <a:latin typeface="Arial"/>
              </a:defRPr>
            </a:pPr>
            <a:r>
              <a:t>✗  NOT working ten times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70AD47"/>
                </a:solidFill>
                <a:latin typeface="Arial"/>
              </a:defRPr>
            </a:pPr>
            <a:r>
              <a:t>✓  Operating at a fundamentally different level of strategic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4546A"/>
                </a:solidFill>
                <a:latin typeface="Arial"/>
              </a:defRPr>
            </a:pPr>
            <a:r>
              <a:t>You've offloaded the mechanical work to machines built for it —</a:t>
            </a:r>
            <a:br/>
            <a:r>
              <a:t>and you're finally free to do the work that only a human can 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CMO PERSPECTIVE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46304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4546A"/>
                </a:solidFill>
                <a:latin typeface="Arial"/>
              </a:defRPr>
            </a:pPr>
            <a:r>
              <a:t>The conversation about AI inside marketing departments is almost entirely wrong.</a:t>
            </a:r>
            <a:br/>
            <a:r>
              <a:t>It's focused on efficiency — that's a CFO question.</a:t>
            </a:r>
            <a:br/>
            <a:br/>
            <a:r>
              <a:t>The CMO question: how do we produce fundamentally different outputs?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4546A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The agentic shift is a structural transformation, not a toolkit upgrade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Buyer behavior has already changed — AI agents compress research from weeks to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Most PMM content is invisible to agents (the Visibility Gap)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The Pragmatic 37 cluster into: Automated, Augmented, Elevated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The PMM who frees Cluster One hours to invest in Cluster Three operates at a different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44546A"/>
                </a:solidFill>
                <a:latin typeface="Arial"/>
              </a:defRPr>
            </a:pPr>
            <a:r>
              <a:t>futureofpmm.com  ·  Chris O'Hara &amp; Dan Yu  ·  The Future of Product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