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2E"/>
        </a:solidFill>
      </p:bgPr>
    </p:bg>
    <p:spTree>
      <p:nvGrpSpPr>
        <p:cNvPr id="1" name=""/>
        <p:cNvGrpSpPr/>
        <p:nvPr/>
      </p:nvGrpSpPr>
      <p:grpSpPr>
        <a:xfrm>
          <a:off x="0" y="0"/>
          <a:ext cx="0" cy="0"/>
          <a:chOff x="0" y="0"/>
          <a:chExt cx="0" cy="0"/>
        </a:xfrm>
      </p:grpSpPr>
      <p:sp>
        <p:nvSpPr>
          <p:cNvPr id="2" name="Text 0"/>
          <p:cNvSpPr/>
          <p:nvPr/>
        </p:nvSpPr>
        <p:spPr>
          <a:xfrm>
            <a:off x="731520" y="1097280"/>
            <a:ext cx="7315200" cy="457200"/>
          </a:xfrm>
          <a:prstGeom prst="rect">
            <a:avLst/>
          </a:prstGeom>
          <a:noFill/>
          <a:ln/>
        </p:spPr>
        <p:txBody>
          <a:bodyPr wrap="square" rtlCol="0" anchor="ctr"/>
          <a:lstStyle/>
          <a:p>
            <a:pPr indent="0" marL="0">
              <a:buNone/>
            </a:pPr>
            <a:r>
              <a:rPr lang="en-US" sz="1600" b="1" spc="600" kern="0" dirty="0">
                <a:solidFill>
                  <a:srgbClr val="0F6E56"/>
                </a:solidFill>
                <a:latin typeface="Arial" pitchFamily="34" charset="0"/>
                <a:ea typeface="Arial" pitchFamily="34" charset="-122"/>
                <a:cs typeface="Arial" pitchFamily="34" charset="-120"/>
              </a:rPr>
              <a:t>CHAPTER 1</a:t>
            </a:r>
            <a:endParaRPr lang="en-US" sz="1600" dirty="0"/>
          </a:p>
        </p:txBody>
      </p:sp>
      <p:sp>
        <p:nvSpPr>
          <p:cNvPr id="3" name="Text 1"/>
          <p:cNvSpPr/>
          <p:nvPr/>
        </p:nvSpPr>
        <p:spPr>
          <a:xfrm>
            <a:off x="731520" y="1645920"/>
            <a:ext cx="7315200" cy="1280160"/>
          </a:xfrm>
          <a:prstGeom prst="rect">
            <a:avLst/>
          </a:prstGeom>
          <a:noFill/>
          <a:ln/>
        </p:spPr>
        <p:txBody>
          <a:bodyPr wrap="square"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The Old Playbook Is Dead</a:t>
            </a:r>
            <a:endParaRPr lang="en-US" sz="4000" dirty="0"/>
          </a:p>
        </p:txBody>
      </p:sp>
      <p:sp>
        <p:nvSpPr>
          <p:cNvPr id="4" name="Text 2"/>
          <p:cNvSpPr/>
          <p:nvPr/>
        </p:nvSpPr>
        <p:spPr>
          <a:xfrm>
            <a:off x="731520" y="3108960"/>
            <a:ext cx="7315200" cy="457200"/>
          </a:xfrm>
          <a:prstGeom prst="rect">
            <a:avLst/>
          </a:prstGeom>
          <a:noFill/>
          <a:ln/>
        </p:spPr>
        <p:txBody>
          <a:bodyPr wrap="square" rtlCol="0" anchor="ctr"/>
          <a:lstStyle/>
          <a:p>
            <a:pPr indent="0" marL="0">
              <a:buNone/>
            </a:pPr>
            <a:r>
              <a:rPr lang="en-US" sz="1400" i="1" dirty="0">
                <a:solidFill>
                  <a:srgbClr val="8899AA"/>
                </a:solidFill>
                <a:latin typeface="Georgia" pitchFamily="34" charset="0"/>
                <a:ea typeface="Georgia" pitchFamily="34" charset="-122"/>
                <a:cs typeface="Georgia" pitchFamily="34" charset="-120"/>
              </a:rPr>
              <a:t>The Future of Product Marketing — Learning Curriculum</a:t>
            </a:r>
            <a:endParaRPr lang="en-US" sz="1400" dirty="0"/>
          </a:p>
        </p:txBody>
      </p:sp>
      <p:sp>
        <p:nvSpPr>
          <p:cNvPr id="5" name="Shape 3"/>
          <p:cNvSpPr/>
          <p:nvPr/>
        </p:nvSpPr>
        <p:spPr>
          <a:xfrm>
            <a:off x="731520" y="3840480"/>
            <a:ext cx="1371600" cy="36576"/>
          </a:xfrm>
          <a:prstGeom prst="rect">
            <a:avLst/>
          </a:prstGeom>
          <a:solidFill>
            <a:srgbClr val="0F6E56"/>
          </a:solidFill>
          <a:ln/>
        </p:spPr>
      </p:sp>
      <p:sp>
        <p:nvSpPr>
          <p:cNvPr id="6" name="Text 4"/>
          <p:cNvSpPr/>
          <p:nvPr/>
        </p:nvSpPr>
        <p:spPr>
          <a:xfrm>
            <a:off x="731520" y="4114800"/>
            <a:ext cx="7315200" cy="365760"/>
          </a:xfrm>
          <a:prstGeom prst="rect">
            <a:avLst/>
          </a:prstGeom>
          <a:noFill/>
          <a:ln/>
        </p:spPr>
        <p:txBody>
          <a:bodyPr wrap="square" rtlCol="0" anchor="ctr"/>
          <a:lstStyle/>
          <a:p>
            <a:pPr indent="0" marL="0">
              <a:buNone/>
            </a:pPr>
            <a:r>
              <a:rPr lang="en-US" sz="1300" dirty="0">
                <a:solidFill>
                  <a:srgbClr val="8899AA"/>
                </a:solidFill>
                <a:latin typeface="Arial" pitchFamily="34" charset="0"/>
                <a:ea typeface="Arial" pitchFamily="34" charset="-122"/>
                <a:cs typeface="Arial" pitchFamily="34" charset="-120"/>
              </a:rPr>
              <a:t>Chris O’Hara &amp; Dan Yu  |  futureofpmm.com</a:t>
            </a:r>
            <a:endParaRPr lang="en-US" sz="1300" dirty="0"/>
          </a:p>
        </p:txBody>
      </p:sp>
      <p:sp>
        <p:nvSpPr>
          <p:cNvPr id="7" name="Text 5"/>
          <p:cNvSpPr/>
          <p:nvPr/>
        </p:nvSpPr>
        <p:spPr>
          <a:xfrm>
            <a:off x="731520" y="4572000"/>
            <a:ext cx="7315200" cy="274320"/>
          </a:xfrm>
          <a:prstGeom prst="rect">
            <a:avLst/>
          </a:prstGeom>
          <a:noFill/>
          <a:ln/>
        </p:spPr>
        <p:txBody>
          <a:bodyPr wrap="square" rtlCol="0" anchor="ctr"/>
          <a:lstStyle/>
          <a:p>
            <a:pPr indent="0" marL="0">
              <a:buNone/>
            </a:pPr>
            <a:r>
              <a:rPr lang="en-US" sz="1100" dirty="0">
                <a:solidFill>
                  <a:srgbClr val="8899AA"/>
                </a:solidFill>
                <a:latin typeface="Arial" pitchFamily="34" charset="0"/>
                <a:ea typeface="Arial" pitchFamily="34" charset="-122"/>
                <a:cs typeface="Arial" pitchFamily="34" charset="-120"/>
              </a:rPr>
              <a:t>Pragmatic Remix: All 37 Boxes (Reframed)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731520" y="365760"/>
            <a:ext cx="7315200" cy="457200"/>
          </a:xfrm>
          <a:prstGeom prst="rect">
            <a:avLst/>
          </a:prstGeom>
          <a:noFill/>
          <a:ln/>
        </p:spPr>
        <p:txBody>
          <a:bodyPr wrap="square" rtlCol="0" anchor="ctr"/>
          <a:lstStyle/>
          <a:p>
            <a:pPr indent="0" marL="0">
              <a:buNone/>
            </a:pPr>
            <a:r>
              <a:rPr lang="en-US" sz="1400" b="1" spc="300" kern="0" dirty="0">
                <a:solidFill>
                  <a:srgbClr val="0F6E56"/>
                </a:solidFill>
                <a:latin typeface="Arial" pitchFamily="34" charset="0"/>
                <a:ea typeface="Arial" pitchFamily="34" charset="-122"/>
                <a:cs typeface="Arial" pitchFamily="34" charset="-120"/>
              </a:rPr>
              <a:t>The core thesis</a:t>
            </a:r>
            <a:endParaRPr lang="en-US" sz="1400" dirty="0"/>
          </a:p>
        </p:txBody>
      </p:sp>
      <p:sp>
        <p:nvSpPr>
          <p:cNvPr id="3" name="Shape 1"/>
          <p:cNvSpPr/>
          <p:nvPr/>
        </p:nvSpPr>
        <p:spPr>
          <a:xfrm>
            <a:off x="548640" y="1005840"/>
            <a:ext cx="8046720" cy="2560320"/>
          </a:xfrm>
          <a:prstGeom prst="rect">
            <a:avLst/>
          </a:prstGeom>
          <a:solidFill>
            <a:srgbClr val="FFFFFF"/>
          </a:solidFill>
          <a:ln/>
          <a:effectLst>
            <a:outerShdw sx="100000" sy="100000" kx="0" ky="0" algn="bl" rotWithShape="0" blurRad="50800" dist="25400" dir="8100000">
              <a:srgbClr val="000000">
                <a:alpha val="10000"/>
              </a:srgbClr>
            </a:outerShdw>
          </a:effectLst>
        </p:spPr>
      </p:sp>
      <p:sp>
        <p:nvSpPr>
          <p:cNvPr id="4" name="Text 2"/>
          <p:cNvSpPr/>
          <p:nvPr/>
        </p:nvSpPr>
        <p:spPr>
          <a:xfrm>
            <a:off x="914400" y="1188720"/>
            <a:ext cx="7315200" cy="2194560"/>
          </a:xfrm>
          <a:prstGeom prst="rect">
            <a:avLst/>
          </a:prstGeom>
          <a:noFill/>
          <a:ln/>
        </p:spPr>
        <p:txBody>
          <a:bodyPr wrap="square" rtlCol="0" anchor="ctr"/>
          <a:lstStyle/>
          <a:p>
            <a:pPr indent="0" marL="0">
              <a:buNone/>
            </a:pPr>
            <a:r>
              <a:rPr lang="en-US" sz="2200" b="1" dirty="0">
                <a:solidFill>
                  <a:srgbClr val="1B2A4A"/>
                </a:solidFill>
                <a:latin typeface="Georgia" pitchFamily="34" charset="0"/>
                <a:ea typeface="Georgia" pitchFamily="34" charset="-122"/>
                <a:cs typeface="Georgia" pitchFamily="34" charset="-120"/>
              </a:rPr>
              <a:t>The agentic era didn’t accelerate the old B2B playbook — it ended it.</a:t>
            </a:r>
            <a:endParaRPr lang="en-US" sz="2200" dirty="0"/>
          </a:p>
          <a:p>
            <a:pPr indent="0" marL="0">
              <a:buNone/>
            </a:pPr>
            <a:r>
              <a:rPr lang="en-US" sz="1000" dirty="0">
                <a:solidFill>
                  <a:srgbClr val="000000"/>
                </a:solidFill>
              </a:rPr>
              <a:t>
</a:t>
            </a:r>
            <a:endParaRPr lang="en-US" sz="2200" dirty="0"/>
          </a:p>
          <a:p>
            <a:pPr indent="0" marL="0">
              <a:buNone/>
            </a:pPr>
            <a:r>
              <a:rPr lang="en-US" sz="1400" dirty="0">
                <a:solidFill>
                  <a:srgbClr val="555555"/>
                </a:solidFill>
                <a:latin typeface="Georgia" pitchFamily="34" charset="0"/>
                <a:ea typeface="Georgia" pitchFamily="34" charset="-122"/>
                <a:cs typeface="Georgia" pitchFamily="34" charset="-120"/>
              </a:rPr>
              <a:t>Product lifecycles run in continuous deployment. Buyers consume content through AI intermediaries. GEO has replaced SEO. The funnel is no longer a funnel. And the PMM who survives this transition is not the one who learned to prompt faster — it’s the one who understood what changed and why.</a:t>
            </a:r>
            <a:endParaRPr lang="en-US" sz="2200" dirty="0"/>
          </a:p>
        </p:txBody>
      </p:sp>
      <p:sp>
        <p:nvSpPr>
          <p:cNvPr id="5" name="Shape 3"/>
          <p:cNvSpPr/>
          <p:nvPr/>
        </p:nvSpPr>
        <p:spPr>
          <a:xfrm>
            <a:off x="731520" y="3931920"/>
            <a:ext cx="2560320" cy="822960"/>
          </a:xfrm>
          <a:prstGeom prst="rect">
            <a:avLst/>
          </a:prstGeom>
          <a:solidFill>
            <a:srgbClr val="8899AA"/>
          </a:solidFill>
          <a:ln/>
        </p:spPr>
      </p:sp>
      <p:sp>
        <p:nvSpPr>
          <p:cNvPr id="6" name="Text 4"/>
          <p:cNvSpPr/>
          <p:nvPr/>
        </p:nvSpPr>
        <p:spPr>
          <a:xfrm>
            <a:off x="731520" y="3931920"/>
            <a:ext cx="256032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Waterfall</a:t>
            </a:r>
            <a:endParaRPr lang="en-US" sz="1600" dirty="0"/>
          </a:p>
        </p:txBody>
      </p:sp>
      <p:sp>
        <p:nvSpPr>
          <p:cNvPr id="7" name="Text 5"/>
          <p:cNvSpPr/>
          <p:nvPr/>
        </p:nvSpPr>
        <p:spPr>
          <a:xfrm>
            <a:off x="731520" y="4389120"/>
            <a:ext cx="2560320" cy="365760"/>
          </a:xfrm>
          <a:prstGeom prst="rect">
            <a:avLst/>
          </a:prstGeom>
          <a:noFill/>
          <a:ln/>
        </p:spPr>
        <p:txBody>
          <a:bodyPr wrap="square" rtlCol="0" anchor="t"/>
          <a:lstStyle/>
          <a:p>
            <a:pPr algn="ctr" indent="0" marL="0">
              <a:buNone/>
            </a:pPr>
            <a:r>
              <a:rPr lang="en-US" sz="1100" dirty="0">
                <a:solidFill>
                  <a:srgbClr val="FFFFFF"/>
                </a:solidFill>
                <a:latin typeface="Arial" pitchFamily="34" charset="0"/>
                <a:ea typeface="Arial" pitchFamily="34" charset="-122"/>
                <a:cs typeface="Arial" pitchFamily="34" charset="-120"/>
              </a:rPr>
              <a:t>1990–2005</a:t>
            </a:r>
            <a:endParaRPr lang="en-US" sz="1100" dirty="0"/>
          </a:p>
        </p:txBody>
      </p:sp>
      <p:sp>
        <p:nvSpPr>
          <p:cNvPr id="8" name="Shape 6"/>
          <p:cNvSpPr/>
          <p:nvPr/>
        </p:nvSpPr>
        <p:spPr>
          <a:xfrm>
            <a:off x="3566160" y="3931920"/>
            <a:ext cx="2560320" cy="822960"/>
          </a:xfrm>
          <a:prstGeom prst="rect">
            <a:avLst/>
          </a:prstGeom>
          <a:solidFill>
            <a:srgbClr val="1B2A4A"/>
          </a:solidFill>
          <a:ln/>
        </p:spPr>
      </p:sp>
      <p:sp>
        <p:nvSpPr>
          <p:cNvPr id="9" name="Text 7"/>
          <p:cNvSpPr/>
          <p:nvPr/>
        </p:nvSpPr>
        <p:spPr>
          <a:xfrm>
            <a:off x="3566160" y="3931920"/>
            <a:ext cx="256032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Agile / Cloud</a:t>
            </a:r>
            <a:endParaRPr lang="en-US" sz="1600" dirty="0"/>
          </a:p>
        </p:txBody>
      </p:sp>
      <p:sp>
        <p:nvSpPr>
          <p:cNvPr id="10" name="Text 8"/>
          <p:cNvSpPr/>
          <p:nvPr/>
        </p:nvSpPr>
        <p:spPr>
          <a:xfrm>
            <a:off x="3566160" y="4389120"/>
            <a:ext cx="2560320" cy="365760"/>
          </a:xfrm>
          <a:prstGeom prst="rect">
            <a:avLst/>
          </a:prstGeom>
          <a:noFill/>
          <a:ln/>
        </p:spPr>
        <p:txBody>
          <a:bodyPr wrap="square" rtlCol="0" anchor="t"/>
          <a:lstStyle/>
          <a:p>
            <a:pPr algn="ctr" indent="0" marL="0">
              <a:buNone/>
            </a:pPr>
            <a:r>
              <a:rPr lang="en-US" sz="1100" dirty="0">
                <a:solidFill>
                  <a:srgbClr val="FFFFFF"/>
                </a:solidFill>
                <a:latin typeface="Arial" pitchFamily="34" charset="0"/>
                <a:ea typeface="Arial" pitchFamily="34" charset="-122"/>
                <a:cs typeface="Arial" pitchFamily="34" charset="-120"/>
              </a:rPr>
              <a:t>2005–2022</a:t>
            </a:r>
            <a:endParaRPr lang="en-US" sz="1100" dirty="0"/>
          </a:p>
        </p:txBody>
      </p:sp>
      <p:sp>
        <p:nvSpPr>
          <p:cNvPr id="11" name="Shape 9"/>
          <p:cNvSpPr/>
          <p:nvPr/>
        </p:nvSpPr>
        <p:spPr>
          <a:xfrm>
            <a:off x="6400800" y="3931920"/>
            <a:ext cx="2560320" cy="822960"/>
          </a:xfrm>
          <a:prstGeom prst="rect">
            <a:avLst/>
          </a:prstGeom>
          <a:solidFill>
            <a:srgbClr val="0F6E56"/>
          </a:solidFill>
          <a:ln/>
        </p:spPr>
      </p:sp>
      <p:sp>
        <p:nvSpPr>
          <p:cNvPr id="12" name="Text 10"/>
          <p:cNvSpPr/>
          <p:nvPr/>
        </p:nvSpPr>
        <p:spPr>
          <a:xfrm>
            <a:off x="6400800" y="3931920"/>
            <a:ext cx="2560320" cy="502920"/>
          </a:xfrm>
          <a:prstGeom prst="rect">
            <a:avLst/>
          </a:prstGeom>
          <a:noFill/>
          <a:ln/>
        </p:spPr>
        <p:txBody>
          <a:bodyPr wrap="square"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Agentic</a:t>
            </a:r>
            <a:endParaRPr lang="en-US" sz="1600" dirty="0"/>
          </a:p>
        </p:txBody>
      </p:sp>
      <p:sp>
        <p:nvSpPr>
          <p:cNvPr id="13" name="Text 11"/>
          <p:cNvSpPr/>
          <p:nvPr/>
        </p:nvSpPr>
        <p:spPr>
          <a:xfrm>
            <a:off x="6400800" y="4389120"/>
            <a:ext cx="2560320" cy="365760"/>
          </a:xfrm>
          <a:prstGeom prst="rect">
            <a:avLst/>
          </a:prstGeom>
          <a:noFill/>
          <a:ln/>
        </p:spPr>
        <p:txBody>
          <a:bodyPr wrap="square" rtlCol="0" anchor="t"/>
          <a:lstStyle/>
          <a:p>
            <a:pPr algn="ctr" indent="0" marL="0">
              <a:buNone/>
            </a:pPr>
            <a:r>
              <a:rPr lang="en-US" sz="1100" dirty="0">
                <a:solidFill>
                  <a:srgbClr val="FFFFFF"/>
                </a:solidFill>
                <a:latin typeface="Arial" pitchFamily="34" charset="0"/>
                <a:ea typeface="Arial" pitchFamily="34" charset="-122"/>
                <a:cs typeface="Arial" pitchFamily="34" charset="-120"/>
              </a:rPr>
              <a:t>2023–present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20040"/>
            <a:ext cx="7315200" cy="548640"/>
          </a:xfrm>
          <a:prstGeom prst="rect">
            <a:avLst/>
          </a:prstGeom>
          <a:noFill/>
          <a:ln/>
        </p:spPr>
        <p:txBody>
          <a:bodyPr wrap="square" rtlCol="0" anchor="ctr"/>
          <a:lstStyle/>
          <a:p>
            <a:pPr indent="0" marL="0">
              <a:buNone/>
            </a:pPr>
            <a:r>
              <a:rPr lang="en-US" sz="2800" b="1" dirty="0">
                <a:solidFill>
                  <a:srgbClr val="1B2A4A"/>
                </a:solidFill>
                <a:latin typeface="Georgia" pitchFamily="34" charset="0"/>
                <a:ea typeface="Georgia" pitchFamily="34" charset="-122"/>
                <a:cs typeface="Georgia" pitchFamily="34" charset="-120"/>
              </a:rPr>
              <a:t>The death of the launch cycle</a:t>
            </a:r>
            <a:endParaRPr lang="en-US" sz="2800" dirty="0"/>
          </a:p>
        </p:txBody>
      </p:sp>
      <p:sp>
        <p:nvSpPr>
          <p:cNvPr id="3" name="Shape 1"/>
          <p:cNvSpPr/>
          <p:nvPr/>
        </p:nvSpPr>
        <p:spPr>
          <a:xfrm>
            <a:off x="731520" y="914400"/>
            <a:ext cx="1097280" cy="36576"/>
          </a:xfrm>
          <a:prstGeom prst="rect">
            <a:avLst/>
          </a:prstGeom>
          <a:solidFill>
            <a:srgbClr val="0F6E56"/>
          </a:solidFill>
          <a:ln/>
        </p:spPr>
      </p:sp>
      <p:sp>
        <p:nvSpPr>
          <p:cNvPr id="4" name="Shape 2"/>
          <p:cNvSpPr/>
          <p:nvPr/>
        </p:nvSpPr>
        <p:spPr>
          <a:xfrm>
            <a:off x="548640" y="1280160"/>
            <a:ext cx="3840480" cy="3291840"/>
          </a:xfrm>
          <a:prstGeom prst="rect">
            <a:avLst/>
          </a:prstGeom>
          <a:solidFill>
            <a:srgbClr val="E8EDF5"/>
          </a:solidFill>
          <a:ln/>
          <a:effectLst>
            <a:outerShdw sx="100000" sy="100000" kx="0" ky="0" algn="bl" rotWithShape="0" blurRad="50800" dist="25400" dir="8100000">
              <a:srgbClr val="000000">
                <a:alpha val="10000"/>
              </a:srgbClr>
            </a:outerShdw>
          </a:effectLst>
        </p:spPr>
      </p:sp>
      <p:sp>
        <p:nvSpPr>
          <p:cNvPr id="5" name="Text 3"/>
          <p:cNvSpPr/>
          <p:nvPr/>
        </p:nvSpPr>
        <p:spPr>
          <a:xfrm>
            <a:off x="548640" y="1280160"/>
            <a:ext cx="3840480" cy="457200"/>
          </a:xfrm>
          <a:prstGeom prst="rect">
            <a:avLst/>
          </a:prstGeom>
          <a:noFill/>
          <a:ln/>
        </p:spPr>
        <p:txBody>
          <a:bodyPr wrap="square" rtlCol="0" anchor="ctr"/>
          <a:lstStyle/>
          <a:p>
            <a:pPr algn="ctr" indent="0" marL="0">
              <a:buNone/>
            </a:pPr>
            <a:r>
              <a:rPr lang="en-US" sz="1200" b="1" spc="300" kern="0" dirty="0">
                <a:solidFill>
                  <a:srgbClr val="1B2A4A"/>
                </a:solidFill>
                <a:latin typeface="Arial" pitchFamily="34" charset="0"/>
                <a:ea typeface="Arial" pitchFamily="34" charset="-122"/>
                <a:cs typeface="Arial" pitchFamily="34" charset="-120"/>
              </a:rPr>
              <a:t>OLD MODEL</a:t>
            </a:r>
            <a:endParaRPr lang="en-US" sz="1200" dirty="0"/>
          </a:p>
        </p:txBody>
      </p:sp>
      <p:sp>
        <p:nvSpPr>
          <p:cNvPr id="6" name="Text 4"/>
          <p:cNvSpPr/>
          <p:nvPr/>
        </p:nvSpPr>
        <p:spPr>
          <a:xfrm>
            <a:off x="822960" y="1828800"/>
            <a:ext cx="3291840" cy="2560320"/>
          </a:xfrm>
          <a:prstGeom prst="rect">
            <a:avLst/>
          </a:prstGeom>
          <a:noFill/>
          <a:ln/>
        </p:spPr>
        <p:txBody>
          <a:bodyPr wrap="square" rtlCol="0" anchor="t"/>
          <a:lstStyle/>
          <a:p>
            <a:pPr indent="0" marL="0">
              <a:buNone/>
            </a:pPr>
            <a:r>
              <a:rPr lang="en-US" sz="1500" b="1" dirty="0">
                <a:solidFill>
                  <a:srgbClr val="1B2A4A"/>
                </a:solidFill>
                <a:latin typeface="Georgia" pitchFamily="34" charset="0"/>
                <a:ea typeface="Georgia" pitchFamily="34" charset="-122"/>
                <a:cs typeface="Georgia" pitchFamily="34" charset="-120"/>
              </a:rPr>
              <a:t>3 releases per year</a:t>
            </a:r>
            <a:endParaRPr lang="en-US" sz="1500" dirty="0"/>
          </a:p>
          <a:p>
            <a:pPr indent="0" marL="0">
              <a:buNone/>
            </a:pPr>
            <a:r>
              <a:rPr lang="en-US" sz="1200" dirty="0">
                <a:solidFill>
                  <a:srgbClr val="555555"/>
                </a:solidFill>
                <a:latin typeface="Arial" pitchFamily="34" charset="0"/>
                <a:ea typeface="Arial" pitchFamily="34" charset="-122"/>
                <a:cs typeface="Arial" pitchFamily="34" charset="-120"/>
              </a:rPr>
              <a:t>8-week build → 2-week launch → 4-week measure</a:t>
            </a:r>
            <a:endParaRPr lang="en-US" sz="1500" dirty="0"/>
          </a:p>
          <a:p>
            <a:pPr indent="0" marL="0">
              <a:buNone/>
            </a:pPr>
            <a:r>
              <a:rPr lang="en-US" sz="800" dirty="0">
                <a:solidFill>
                  <a:srgbClr val="000000"/>
                </a:solidFill>
              </a:rPr>
              <a:t>
</a:t>
            </a:r>
            <a:endParaRPr lang="en-US" sz="1500" dirty="0"/>
          </a:p>
          <a:p>
            <a:pPr marL="342900" indent="-342900">
              <a:buSzPct val="100000"/>
              <a:buChar char="•"/>
            </a:pPr>
            <a:r>
              <a:rPr lang="en-US" sz="1300" dirty="0">
                <a:solidFill>
                  <a:srgbClr val="444444"/>
                </a:solidFill>
                <a:latin typeface="Arial" pitchFamily="34" charset="0"/>
                <a:ea typeface="Arial" pitchFamily="34" charset="-122"/>
                <a:cs typeface="Arial" pitchFamily="34" charset="-120"/>
              </a:rPr>
              <a:t>Messaging doc per release</a:t>
            </a:r>
            <a:endParaRPr lang="en-US" sz="1500" dirty="0"/>
          </a:p>
          <a:p>
            <a:pPr marL="342900" indent="-342900">
              <a:buSzPct val="100000"/>
              <a:buChar char="•"/>
            </a:pPr>
            <a:r>
              <a:rPr lang="en-US" sz="1300" dirty="0">
                <a:solidFill>
                  <a:srgbClr val="444444"/>
                </a:solidFill>
                <a:latin typeface="Arial" pitchFamily="34" charset="0"/>
                <a:ea typeface="Arial" pitchFamily="34" charset="-122"/>
                <a:cs typeface="Arial" pitchFamily="34" charset="-120"/>
              </a:rPr>
              <a:t>Sales deck refresh per release</a:t>
            </a:r>
            <a:endParaRPr lang="en-US" sz="1500" dirty="0"/>
          </a:p>
          <a:p>
            <a:pPr marL="342900" indent="-342900">
              <a:buSzPct val="100000"/>
              <a:buChar char="•"/>
            </a:pPr>
            <a:r>
              <a:rPr lang="en-US" sz="1300" dirty="0">
                <a:solidFill>
                  <a:srgbClr val="444444"/>
                </a:solidFill>
                <a:latin typeface="Arial" pitchFamily="34" charset="0"/>
                <a:ea typeface="Arial" pitchFamily="34" charset="-122"/>
                <a:cs typeface="Arial" pitchFamily="34" charset="-120"/>
              </a:rPr>
              <a:t>Analyst briefing per release</a:t>
            </a:r>
            <a:endParaRPr lang="en-US" sz="1500" dirty="0"/>
          </a:p>
          <a:p>
            <a:pPr marL="342900" indent="-342900">
              <a:buSzPct val="100000"/>
              <a:buChar char="•"/>
            </a:pPr>
            <a:r>
              <a:rPr lang="en-US" sz="1300" dirty="0">
                <a:solidFill>
                  <a:srgbClr val="444444"/>
                </a:solidFill>
                <a:latin typeface="Arial" pitchFamily="34" charset="0"/>
                <a:ea typeface="Arial" pitchFamily="34" charset="-122"/>
                <a:cs typeface="Arial" pitchFamily="34" charset="-120"/>
              </a:rPr>
              <a:t>Demand gen campaign per release</a:t>
            </a:r>
            <a:endParaRPr lang="en-US" sz="1500" dirty="0"/>
          </a:p>
          <a:p>
            <a:pPr marL="342900" indent="-342900">
              <a:buSzPct val="100000"/>
              <a:buChar char="•"/>
            </a:pPr>
            <a:r>
              <a:rPr lang="en-US" sz="1300" dirty="0">
                <a:solidFill>
                  <a:srgbClr val="444444"/>
                </a:solidFill>
                <a:latin typeface="Arial" pitchFamily="34" charset="0"/>
                <a:ea typeface="Arial" pitchFamily="34" charset="-122"/>
                <a:cs typeface="Arial" pitchFamily="34" charset="-120"/>
              </a:rPr>
              <a:t>Quarterly battlecard update</a:t>
            </a:r>
            <a:endParaRPr lang="en-US" sz="1500" dirty="0"/>
          </a:p>
        </p:txBody>
      </p:sp>
      <p:sp>
        <p:nvSpPr>
          <p:cNvPr id="7" name="Shape 5"/>
          <p:cNvSpPr/>
          <p:nvPr/>
        </p:nvSpPr>
        <p:spPr>
          <a:xfrm>
            <a:off x="4754880" y="1280160"/>
            <a:ext cx="3840480" cy="3291840"/>
          </a:xfrm>
          <a:prstGeom prst="rect">
            <a:avLst/>
          </a:prstGeom>
          <a:solidFill>
            <a:srgbClr val="E1F5EE"/>
          </a:solidFill>
          <a:ln/>
          <a:effectLst>
            <a:outerShdw sx="100000" sy="100000" kx="0" ky="0" algn="bl" rotWithShape="0" blurRad="50800" dist="25400" dir="8100000">
              <a:srgbClr val="000000">
                <a:alpha val="10000"/>
              </a:srgbClr>
            </a:outerShdw>
          </a:effectLst>
        </p:spPr>
      </p:sp>
      <p:sp>
        <p:nvSpPr>
          <p:cNvPr id="8" name="Text 6"/>
          <p:cNvSpPr/>
          <p:nvPr/>
        </p:nvSpPr>
        <p:spPr>
          <a:xfrm>
            <a:off x="4754880" y="1280160"/>
            <a:ext cx="3840480" cy="457200"/>
          </a:xfrm>
          <a:prstGeom prst="rect">
            <a:avLst/>
          </a:prstGeom>
          <a:noFill/>
          <a:ln/>
        </p:spPr>
        <p:txBody>
          <a:bodyPr wrap="square" rtlCol="0" anchor="ctr"/>
          <a:lstStyle/>
          <a:p>
            <a:pPr algn="ctr" indent="0" marL="0">
              <a:buNone/>
            </a:pPr>
            <a:r>
              <a:rPr lang="en-US" sz="1200" b="1" spc="300" kern="0" dirty="0">
                <a:solidFill>
                  <a:srgbClr val="0F6E56"/>
                </a:solidFill>
                <a:latin typeface="Arial" pitchFamily="34" charset="0"/>
                <a:ea typeface="Arial" pitchFamily="34" charset="-122"/>
                <a:cs typeface="Arial" pitchFamily="34" charset="-120"/>
              </a:rPr>
              <a:t>NEW REALITY</a:t>
            </a:r>
            <a:endParaRPr lang="en-US" sz="1200" dirty="0"/>
          </a:p>
        </p:txBody>
      </p:sp>
      <p:sp>
        <p:nvSpPr>
          <p:cNvPr id="9" name="Text 7"/>
          <p:cNvSpPr/>
          <p:nvPr/>
        </p:nvSpPr>
        <p:spPr>
          <a:xfrm>
            <a:off x="5029200" y="1828800"/>
            <a:ext cx="3291840" cy="2560320"/>
          </a:xfrm>
          <a:prstGeom prst="rect">
            <a:avLst/>
          </a:prstGeom>
          <a:noFill/>
          <a:ln/>
        </p:spPr>
        <p:txBody>
          <a:bodyPr wrap="square" rtlCol="0" anchor="t"/>
          <a:lstStyle/>
          <a:p>
            <a:pPr indent="0" marL="0">
              <a:buNone/>
            </a:pPr>
            <a:r>
              <a:rPr lang="en-US" sz="1500" b="1" dirty="0">
                <a:solidFill>
                  <a:srgbClr val="0F6E56"/>
                </a:solidFill>
                <a:latin typeface="Georgia" pitchFamily="34" charset="0"/>
                <a:ea typeface="Georgia" pitchFamily="34" charset="-122"/>
                <a:cs typeface="Georgia" pitchFamily="34" charset="-120"/>
              </a:rPr>
              <a:t>Continuous deployment</a:t>
            </a:r>
            <a:endParaRPr lang="en-US" sz="1500" dirty="0"/>
          </a:p>
          <a:p>
            <a:pPr indent="0" marL="0">
              <a:buNone/>
            </a:pPr>
            <a:r>
              <a:rPr lang="en-US" sz="1200" dirty="0">
                <a:solidFill>
                  <a:srgbClr val="555555"/>
                </a:solidFill>
                <a:latin typeface="Arial" pitchFamily="34" charset="0"/>
                <a:ea typeface="Arial" pitchFamily="34" charset="-122"/>
                <a:cs typeface="Arial" pitchFamily="34" charset="-120"/>
              </a:rPr>
              <a:t>40+ production pushes per day</a:t>
            </a:r>
            <a:endParaRPr lang="en-US" sz="1500" dirty="0"/>
          </a:p>
          <a:p>
            <a:pPr indent="0" marL="0">
              <a:buNone/>
            </a:pPr>
            <a:r>
              <a:rPr lang="en-US" sz="800" dirty="0">
                <a:solidFill>
                  <a:srgbClr val="000000"/>
                </a:solidFill>
              </a:rPr>
              <a:t>
</a:t>
            </a:r>
            <a:endParaRPr lang="en-US" sz="1500" dirty="0"/>
          </a:p>
          <a:p>
            <a:pPr marL="342900" indent="-342900">
              <a:buSzPct val="100000"/>
              <a:buChar char="•"/>
            </a:pPr>
            <a:r>
              <a:rPr lang="en-US" sz="1300" dirty="0">
                <a:solidFill>
                  <a:srgbClr val="444444"/>
                </a:solidFill>
                <a:latin typeface="Arial" pitchFamily="34" charset="0"/>
                <a:ea typeface="Arial" pitchFamily="34" charset="-122"/>
                <a:cs typeface="Arial" pitchFamily="34" charset="-120"/>
              </a:rPr>
              <a:t>Durable positioning layer (evolves slowly)</a:t>
            </a:r>
            <a:endParaRPr lang="en-US" sz="1500" dirty="0"/>
          </a:p>
          <a:p>
            <a:pPr marL="342900" indent="-342900">
              <a:buSzPct val="100000"/>
              <a:buChar char="•"/>
            </a:pPr>
            <a:r>
              <a:rPr lang="en-US" sz="1300" dirty="0">
                <a:solidFill>
                  <a:srgbClr val="444444"/>
                </a:solidFill>
                <a:latin typeface="Arial" pitchFamily="34" charset="0"/>
                <a:ea typeface="Arial" pitchFamily="34" charset="-122"/>
                <a:cs typeface="Arial" pitchFamily="34" charset="-120"/>
              </a:rPr>
              <a:t>Continuous CI layer (updates live)</a:t>
            </a:r>
            <a:endParaRPr lang="en-US" sz="1500" dirty="0"/>
          </a:p>
          <a:p>
            <a:pPr marL="342900" indent="-342900">
              <a:buSzPct val="100000"/>
              <a:buChar char="•"/>
            </a:pPr>
            <a:r>
              <a:rPr lang="en-US" sz="1300" dirty="0">
                <a:solidFill>
                  <a:srgbClr val="444444"/>
                </a:solidFill>
                <a:latin typeface="Arial" pitchFamily="34" charset="0"/>
                <a:ea typeface="Arial" pitchFamily="34" charset="-122"/>
                <a:cs typeface="Arial" pitchFamily="34" charset="-120"/>
              </a:rPr>
              <a:t>Tactical activation layer (fires per feature)</a:t>
            </a:r>
            <a:endParaRPr lang="en-US" sz="1500" dirty="0"/>
          </a:p>
          <a:p>
            <a:pPr marL="342900" indent="-342900">
              <a:buSzPct val="100000"/>
              <a:buChar char="•"/>
            </a:pPr>
            <a:r>
              <a:rPr lang="en-US" sz="1300" dirty="0">
                <a:solidFill>
                  <a:srgbClr val="444444"/>
                </a:solidFill>
                <a:latin typeface="Arial" pitchFamily="34" charset="0"/>
                <a:ea typeface="Arial" pitchFamily="34" charset="-122"/>
                <a:cs typeface="Arial" pitchFamily="34" charset="-120"/>
              </a:rPr>
              <a:t>Living competitive intelligence</a:t>
            </a:r>
            <a:endParaRPr lang="en-US" sz="1500" dirty="0"/>
          </a:p>
          <a:p>
            <a:pPr marL="342900" indent="-342900">
              <a:buSzPct val="100000"/>
              <a:buChar char="•"/>
            </a:pPr>
            <a:r>
              <a:rPr lang="en-US" sz="1300" dirty="0">
                <a:solidFill>
                  <a:srgbClr val="444444"/>
                </a:solidFill>
                <a:latin typeface="Arial" pitchFamily="34" charset="0"/>
                <a:ea typeface="Arial" pitchFamily="34" charset="-122"/>
                <a:cs typeface="Arial" pitchFamily="34" charset="-120"/>
              </a:rPr>
              <a:t>Agent-readable structured content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A2E"/>
        </a:solidFill>
      </p:bgPr>
    </p:bg>
    <p:spTree>
      <p:nvGrpSpPr>
        <p:cNvPr id="1" name=""/>
        <p:cNvGrpSpPr/>
        <p:nvPr/>
      </p:nvGrpSpPr>
      <p:grpSpPr>
        <a:xfrm>
          <a:off x="0" y="0"/>
          <a:ext cx="0" cy="0"/>
          <a:chOff x="0" y="0"/>
          <a:chExt cx="0" cy="0"/>
        </a:xfrm>
      </p:grpSpPr>
      <p:sp>
        <p:nvSpPr>
          <p:cNvPr id="2" name="Text 0"/>
          <p:cNvSpPr/>
          <p:nvPr/>
        </p:nvSpPr>
        <p:spPr>
          <a:xfrm>
            <a:off x="731520" y="320040"/>
            <a:ext cx="73152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The content crisis</a:t>
            </a:r>
            <a:endParaRPr lang="en-US" sz="2800" dirty="0"/>
          </a:p>
        </p:txBody>
      </p:sp>
      <p:sp>
        <p:nvSpPr>
          <p:cNvPr id="3" name="Shape 1"/>
          <p:cNvSpPr/>
          <p:nvPr/>
        </p:nvSpPr>
        <p:spPr>
          <a:xfrm>
            <a:off x="731520" y="914400"/>
            <a:ext cx="1097280" cy="36576"/>
          </a:xfrm>
          <a:prstGeom prst="rect">
            <a:avLst/>
          </a:prstGeom>
          <a:solidFill>
            <a:srgbClr val="B8860B"/>
          </a:solidFill>
          <a:ln/>
        </p:spPr>
      </p:sp>
      <p:sp>
        <p:nvSpPr>
          <p:cNvPr id="4" name="Text 2"/>
          <p:cNvSpPr/>
          <p:nvPr/>
        </p:nvSpPr>
        <p:spPr>
          <a:xfrm>
            <a:off x="914400" y="1188720"/>
            <a:ext cx="2286000" cy="1097280"/>
          </a:xfrm>
          <a:prstGeom prst="rect">
            <a:avLst/>
          </a:prstGeom>
          <a:noFill/>
          <a:ln/>
        </p:spPr>
        <p:txBody>
          <a:bodyPr wrap="square" rtlCol="0" anchor="ctr"/>
          <a:lstStyle/>
          <a:p>
            <a:pPr indent="0" marL="0">
              <a:buNone/>
            </a:pPr>
            <a:r>
              <a:rPr lang="en-US" sz="7200" b="1" dirty="0">
                <a:solidFill>
                  <a:srgbClr val="B8860B"/>
                </a:solidFill>
                <a:latin typeface="Georgia" pitchFamily="34" charset="0"/>
                <a:ea typeface="Georgia" pitchFamily="34" charset="-122"/>
                <a:cs typeface="Georgia" pitchFamily="34" charset="-120"/>
              </a:rPr>
              <a:t>90</a:t>
            </a:r>
            <a:endParaRPr lang="en-US" sz="7200" dirty="0"/>
          </a:p>
        </p:txBody>
      </p:sp>
      <p:sp>
        <p:nvSpPr>
          <p:cNvPr id="5" name="Text 3"/>
          <p:cNvSpPr/>
          <p:nvPr/>
        </p:nvSpPr>
        <p:spPr>
          <a:xfrm>
            <a:off x="3017520" y="1554480"/>
            <a:ext cx="1828800" cy="548640"/>
          </a:xfrm>
          <a:prstGeom prst="rect">
            <a:avLst/>
          </a:prstGeom>
          <a:noFill/>
          <a:ln/>
        </p:spPr>
        <p:txBody>
          <a:bodyPr wrap="square" rtlCol="0" anchor="ctr"/>
          <a:lstStyle/>
          <a:p>
            <a:pPr indent="0" marL="0">
              <a:buNone/>
            </a:pPr>
            <a:r>
              <a:rPr lang="en-US" sz="2400" dirty="0">
                <a:solidFill>
                  <a:srgbClr val="B8860B"/>
                </a:solidFill>
                <a:latin typeface="Georgia" pitchFamily="34" charset="0"/>
                <a:ea typeface="Georgia" pitchFamily="34" charset="-122"/>
                <a:cs typeface="Georgia" pitchFamily="34" charset="-120"/>
              </a:rPr>
              <a:t>seconds</a:t>
            </a:r>
            <a:endParaRPr lang="en-US" sz="2400" dirty="0"/>
          </a:p>
        </p:txBody>
      </p:sp>
      <p:sp>
        <p:nvSpPr>
          <p:cNvPr id="6" name="Text 4"/>
          <p:cNvSpPr/>
          <p:nvPr/>
        </p:nvSpPr>
        <p:spPr>
          <a:xfrm>
            <a:off x="914400" y="2377440"/>
            <a:ext cx="7498080" cy="822960"/>
          </a:xfrm>
          <a:prstGeom prst="rect">
            <a:avLst/>
          </a:prstGeom>
          <a:noFill/>
          <a:ln/>
        </p:spPr>
        <p:txBody>
          <a:bodyPr wrap="square" rtlCol="0" anchor="ctr"/>
          <a:lstStyle/>
          <a:p>
            <a:pPr indent="0" marL="0">
              <a:buNone/>
            </a:pPr>
            <a:r>
              <a:rPr lang="en-US" sz="1400" dirty="0">
                <a:solidFill>
                  <a:srgbClr val="8899AA"/>
                </a:solidFill>
                <a:latin typeface="Georgia" pitchFamily="34" charset="0"/>
                <a:ea typeface="Georgia" pitchFamily="34" charset="-122"/>
                <a:cs typeface="Georgia" pitchFamily="34" charset="-120"/>
              </a:rPr>
              <a:t>That’s how long it takes an AI agent to assemble the comparison matrix that used to take your buyer six weeks to build. The question is whether your product appears in it.</a:t>
            </a:r>
            <a:endParaRPr lang="en-US" sz="1400" dirty="0"/>
          </a:p>
        </p:txBody>
      </p:sp>
      <p:sp>
        <p:nvSpPr>
          <p:cNvPr id="7" name="Shape 5"/>
          <p:cNvSpPr/>
          <p:nvPr/>
        </p:nvSpPr>
        <p:spPr>
          <a:xfrm>
            <a:off x="548640" y="3383280"/>
            <a:ext cx="3840480" cy="1463040"/>
          </a:xfrm>
          <a:prstGeom prst="rect">
            <a:avLst/>
          </a:prstGeom>
          <a:solidFill>
            <a:srgbClr val="132B3A"/>
          </a:solidFill>
          <a:ln/>
        </p:spPr>
      </p:sp>
      <p:sp>
        <p:nvSpPr>
          <p:cNvPr id="8" name="Text 6"/>
          <p:cNvSpPr/>
          <p:nvPr/>
        </p:nvSpPr>
        <p:spPr>
          <a:xfrm>
            <a:off x="548640" y="3383280"/>
            <a:ext cx="3840480" cy="365760"/>
          </a:xfrm>
          <a:prstGeom prst="rect">
            <a:avLst/>
          </a:prstGeom>
          <a:noFill/>
          <a:ln/>
        </p:spPr>
        <p:txBody>
          <a:bodyPr wrap="square" rtlCol="0" anchor="ctr"/>
          <a:lstStyle/>
          <a:p>
            <a:pPr algn="ctr" indent="0" marL="0">
              <a:buNone/>
            </a:pPr>
            <a:r>
              <a:rPr lang="en-US" sz="1000" b="1" spc="200" kern="0" dirty="0">
                <a:solidFill>
                  <a:srgbClr val="0F6E56"/>
                </a:solidFill>
                <a:latin typeface="Arial" pitchFamily="34" charset="0"/>
                <a:ea typeface="Arial" pitchFamily="34" charset="-122"/>
                <a:cs typeface="Arial" pitchFamily="34" charset="-120"/>
              </a:rPr>
              <a:t>WHAT AGENTS CAN PROCESS</a:t>
            </a:r>
            <a:endParaRPr lang="en-US" sz="1000" dirty="0"/>
          </a:p>
        </p:txBody>
      </p:sp>
      <p:sp>
        <p:nvSpPr>
          <p:cNvPr id="9" name="Text 7"/>
          <p:cNvSpPr/>
          <p:nvPr/>
        </p:nvSpPr>
        <p:spPr>
          <a:xfrm>
            <a:off x="731520" y="3749040"/>
            <a:ext cx="3474720" cy="1097280"/>
          </a:xfrm>
          <a:prstGeom prst="rect">
            <a:avLst/>
          </a:prstGeom>
          <a:noFill/>
          <a:ln/>
        </p:spPr>
        <p:txBody>
          <a:bodyPr wrap="square" rtlCol="0" anchor="ctr"/>
          <a:lstStyle/>
          <a:p>
            <a:pPr marL="342900" indent="-342900">
              <a:buSzPct val="100000"/>
              <a:buChar char="•"/>
            </a:pPr>
            <a:r>
              <a:rPr lang="en-US" sz="1200" dirty="0">
                <a:solidFill>
                  <a:srgbClr val="FFFFFF"/>
                </a:solidFill>
                <a:latin typeface="Arial" pitchFamily="34" charset="0"/>
                <a:ea typeface="Arial" pitchFamily="34" charset="-122"/>
                <a:cs typeface="Arial" pitchFamily="34" charset="-120"/>
              </a:rPr>
              <a:t>Structured comparison data</a:t>
            </a:r>
            <a:endParaRPr lang="en-US" sz="1200" dirty="0"/>
          </a:p>
          <a:p>
            <a:pPr marL="342900" indent="-342900">
              <a:buSzPct val="100000"/>
              <a:buChar char="•"/>
            </a:pPr>
            <a:r>
              <a:rPr lang="en-US" sz="1200" dirty="0">
                <a:solidFill>
                  <a:srgbClr val="FFFFFF"/>
                </a:solidFill>
                <a:latin typeface="Arial" pitchFamily="34" charset="0"/>
                <a:ea typeface="Arial" pitchFamily="34" charset="-122"/>
                <a:cs typeface="Arial" pitchFamily="34" charset="-120"/>
              </a:rPr>
              <a:t>Third-party review rankings</a:t>
            </a:r>
            <a:endParaRPr lang="en-US" sz="1200" dirty="0"/>
          </a:p>
          <a:p>
            <a:pPr marL="342900" indent="-342900">
              <a:buSzPct val="100000"/>
              <a:buChar char="•"/>
            </a:pPr>
            <a:r>
              <a:rPr lang="en-US" sz="1200" dirty="0">
                <a:solidFill>
                  <a:srgbClr val="FFFFFF"/>
                </a:solidFill>
                <a:latin typeface="Arial" pitchFamily="34" charset="0"/>
                <a:ea typeface="Arial" pitchFamily="34" charset="-122"/>
                <a:cs typeface="Arial" pitchFamily="34" charset="-120"/>
              </a:rPr>
              <a:t>Technical docs &amp; APIs</a:t>
            </a:r>
            <a:endParaRPr lang="en-US" sz="1200" dirty="0"/>
          </a:p>
          <a:p>
            <a:pPr marL="342900" indent="-342900">
              <a:buSzPct val="100000"/>
              <a:buChar char="•"/>
            </a:pPr>
            <a:r>
              <a:rPr lang="en-US" sz="1200" dirty="0">
                <a:solidFill>
                  <a:srgbClr val="FFFFFF"/>
                </a:solidFill>
                <a:latin typeface="Arial" pitchFamily="34" charset="0"/>
                <a:ea typeface="Arial" pitchFamily="34" charset="-122"/>
                <a:cs typeface="Arial" pitchFamily="34" charset="-120"/>
              </a:rPr>
              <a:t>Machine-readable pricing</a:t>
            </a:r>
            <a:endParaRPr lang="en-US" sz="1200" dirty="0"/>
          </a:p>
        </p:txBody>
      </p:sp>
      <p:sp>
        <p:nvSpPr>
          <p:cNvPr id="10" name="Shape 8"/>
          <p:cNvSpPr/>
          <p:nvPr/>
        </p:nvSpPr>
        <p:spPr>
          <a:xfrm>
            <a:off x="4754880" y="3383280"/>
            <a:ext cx="3840480" cy="1463040"/>
          </a:xfrm>
          <a:prstGeom prst="rect">
            <a:avLst/>
          </a:prstGeom>
          <a:solidFill>
            <a:srgbClr val="2A1520"/>
          </a:solidFill>
          <a:ln/>
        </p:spPr>
      </p:sp>
      <p:sp>
        <p:nvSpPr>
          <p:cNvPr id="11" name="Text 9"/>
          <p:cNvSpPr/>
          <p:nvPr/>
        </p:nvSpPr>
        <p:spPr>
          <a:xfrm>
            <a:off x="4754880" y="3383280"/>
            <a:ext cx="3840480" cy="365760"/>
          </a:xfrm>
          <a:prstGeom prst="rect">
            <a:avLst/>
          </a:prstGeom>
          <a:noFill/>
          <a:ln/>
        </p:spPr>
        <p:txBody>
          <a:bodyPr wrap="square" rtlCol="0" anchor="ctr"/>
          <a:lstStyle/>
          <a:p>
            <a:pPr algn="ctr" indent="0" marL="0">
              <a:buNone/>
            </a:pPr>
            <a:r>
              <a:rPr lang="en-US" sz="1000" b="1" spc="200" kern="0" dirty="0">
                <a:solidFill>
                  <a:srgbClr val="E07070"/>
                </a:solidFill>
                <a:latin typeface="Arial" pitchFamily="34" charset="0"/>
                <a:ea typeface="Arial" pitchFamily="34" charset="-122"/>
                <a:cs typeface="Arial" pitchFamily="34" charset="-120"/>
              </a:rPr>
              <a:t>WHAT AGENTS SKIP</a:t>
            </a:r>
            <a:endParaRPr lang="en-US" sz="1000" dirty="0"/>
          </a:p>
        </p:txBody>
      </p:sp>
      <p:sp>
        <p:nvSpPr>
          <p:cNvPr id="12" name="Text 10"/>
          <p:cNvSpPr/>
          <p:nvPr/>
        </p:nvSpPr>
        <p:spPr>
          <a:xfrm>
            <a:off x="4937760" y="3749040"/>
            <a:ext cx="3474720" cy="1097280"/>
          </a:xfrm>
          <a:prstGeom prst="rect">
            <a:avLst/>
          </a:prstGeom>
          <a:noFill/>
          <a:ln/>
        </p:spPr>
        <p:txBody>
          <a:bodyPr wrap="square" rtlCol="0" anchor="ctr"/>
          <a:lstStyle/>
          <a:p>
            <a:pPr marL="342900" indent="-342900">
              <a:buSzPct val="100000"/>
              <a:buChar char="•"/>
            </a:pPr>
            <a:r>
              <a:rPr lang="en-US" sz="1200" dirty="0">
                <a:solidFill>
                  <a:srgbClr val="8899AA"/>
                </a:solidFill>
                <a:latin typeface="Arial" pitchFamily="34" charset="0"/>
                <a:ea typeface="Arial" pitchFamily="34" charset="-122"/>
                <a:cs typeface="Arial" pitchFamily="34" charset="-120"/>
              </a:rPr>
              <a:t>Narrative product pages</a:t>
            </a:r>
            <a:endParaRPr lang="en-US" sz="1200" dirty="0"/>
          </a:p>
          <a:p>
            <a:pPr marL="342900" indent="-342900">
              <a:buSzPct val="100000"/>
              <a:buChar char="•"/>
            </a:pPr>
            <a:r>
              <a:rPr lang="en-US" sz="1200" dirty="0">
                <a:solidFill>
                  <a:srgbClr val="8899AA"/>
                </a:solidFill>
                <a:latin typeface="Arial" pitchFamily="34" charset="0"/>
                <a:ea typeface="Arial" pitchFamily="34" charset="-122"/>
                <a:cs typeface="Arial" pitchFamily="34" charset="-120"/>
              </a:rPr>
              <a:t>Video testimonials</a:t>
            </a:r>
            <a:endParaRPr lang="en-US" sz="1200" dirty="0"/>
          </a:p>
          <a:p>
            <a:pPr marL="342900" indent="-342900">
              <a:buSzPct val="100000"/>
              <a:buChar char="•"/>
            </a:pPr>
            <a:r>
              <a:rPr lang="en-US" sz="1200" dirty="0">
                <a:solidFill>
                  <a:srgbClr val="8899AA"/>
                </a:solidFill>
                <a:latin typeface="Arial" pitchFamily="34" charset="0"/>
                <a:ea typeface="Arial" pitchFamily="34" charset="-122"/>
                <a:cs typeface="Arial" pitchFamily="34" charset="-120"/>
              </a:rPr>
              <a:t>Gated PDF case studies</a:t>
            </a:r>
            <a:endParaRPr lang="en-US" sz="1200" dirty="0"/>
          </a:p>
          <a:p>
            <a:pPr marL="342900" indent="-342900">
              <a:buSzPct val="100000"/>
              <a:buChar char="•"/>
            </a:pPr>
            <a:r>
              <a:rPr lang="en-US" sz="1200" dirty="0">
                <a:solidFill>
                  <a:srgbClr val="8899AA"/>
                </a:solidFill>
                <a:latin typeface="Arial" pitchFamily="34" charset="0"/>
                <a:ea typeface="Arial" pitchFamily="34" charset="-122"/>
                <a:cs typeface="Arial" pitchFamily="34" charset="-120"/>
              </a:rPr>
              <a:t>Email nurture sequences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20040"/>
            <a:ext cx="7315200" cy="548640"/>
          </a:xfrm>
          <a:prstGeom prst="rect">
            <a:avLst/>
          </a:prstGeom>
          <a:noFill/>
          <a:ln/>
        </p:spPr>
        <p:txBody>
          <a:bodyPr wrap="square" rtlCol="0" anchor="ctr"/>
          <a:lstStyle/>
          <a:p>
            <a:pPr indent="0" marL="0">
              <a:buNone/>
            </a:pPr>
            <a:r>
              <a:rPr lang="en-US" sz="2800" b="1" dirty="0">
                <a:solidFill>
                  <a:srgbClr val="1B2A4A"/>
                </a:solidFill>
                <a:latin typeface="Georgia" pitchFamily="34" charset="0"/>
                <a:ea typeface="Georgia" pitchFamily="34" charset="-122"/>
                <a:cs typeface="Georgia" pitchFamily="34" charset="-120"/>
              </a:rPr>
              <a:t>From SEO to GEO</a:t>
            </a:r>
            <a:endParaRPr lang="en-US" sz="2800" dirty="0"/>
          </a:p>
        </p:txBody>
      </p:sp>
      <p:sp>
        <p:nvSpPr>
          <p:cNvPr id="3" name="Shape 1"/>
          <p:cNvSpPr/>
          <p:nvPr/>
        </p:nvSpPr>
        <p:spPr>
          <a:xfrm>
            <a:off x="731520" y="914400"/>
            <a:ext cx="1097280" cy="36576"/>
          </a:xfrm>
          <a:prstGeom prst="rect">
            <a:avLst/>
          </a:prstGeom>
          <a:solidFill>
            <a:srgbClr val="0F6E56"/>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8046720" cy="914400"/>
        </p:xfrm>
        <a:graphic>
          <a:graphicData uri="http://schemas.openxmlformats.org/drawingml/2006/table">
            <a:tbl>
              <a:tblPr/>
              <a:tblGrid>
                <a:gridCol w="2011680"/>
                <a:gridCol w="3017520"/>
                <a:gridCol w="3017520"/>
              </a:tblGrid>
              <a:tr h="0">
                <a:tc>
                  <a:txBody>
                    <a:bodyPr/>
                    <a:lstStyle/>
                    <a:p>
                      <a:pPr indent="0" marL="0">
                        <a:buNone/>
                      </a:pPr>
                      <a:endParaRPr lang="en-US" sz="11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A4A"/>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SEO</a:t>
                      </a:r>
                      <a:endParaRPr lang="en-US" sz="13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1B2A4A"/>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GEO</a:t>
                      </a:r>
                      <a:endParaRPr lang="en-US" sz="13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0F6E56"/>
                    </a:solidFill>
                  </a:tcPr>
                </a:tc>
              </a:tr>
              <a:tr h="0">
                <a:tc>
                  <a:txBody>
                    <a:bodyPr/>
                    <a:lstStyle/>
                    <a:p>
                      <a:pPr indent="0" marL="0">
                        <a:buNone/>
                      </a:pPr>
                      <a:r>
                        <a:rPr lang="en-US" sz="1200" b="1" dirty="0">
                          <a:solidFill>
                            <a:srgbClr val="1B2A4A"/>
                          </a:solidFill>
                          <a:latin typeface="Arial" pitchFamily="34" charset="0"/>
                          <a:ea typeface="Arial" pitchFamily="34" charset="-122"/>
                          <a:cs typeface="Arial" pitchFamily="34" charset="-120"/>
                        </a:rPr>
                        <a:t>Optimize for</a:t>
                      </a:r>
                      <a:endParaRPr lang="en-US" sz="12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F6F8"/>
                    </a:solidFill>
                  </a:tcPr>
                </a:tc>
                <a:tc>
                  <a:txBody>
                    <a:bodyPr/>
                    <a:lstStyle/>
                    <a:p>
                      <a:pPr algn="ctr" indent="0" marL="0">
                        <a:buNone/>
                      </a:pPr>
                      <a:r>
                        <a:rPr lang="en-US" sz="1200" dirty="0">
                          <a:solidFill>
                            <a:srgbClr val="555555"/>
                          </a:solidFill>
                          <a:latin typeface="Arial" pitchFamily="34" charset="0"/>
                          <a:ea typeface="Arial" pitchFamily="34" charset="-122"/>
                          <a:cs typeface="Arial" pitchFamily="34" charset="-120"/>
                        </a:rPr>
                        <a:t>Ranking on a list</a:t>
                      </a:r>
                      <a:endParaRPr lang="en-US" sz="12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F6F8"/>
                    </a:solidFill>
                  </a:tcPr>
                </a:tc>
                <a:tc>
                  <a:txBody>
                    <a:bodyPr/>
                    <a:lstStyle/>
                    <a:p>
                      <a:pPr algn="ctr" indent="0" marL="0">
                        <a:buNone/>
                      </a:pPr>
                      <a:r>
                        <a:rPr lang="en-US" sz="1200" b="1" dirty="0">
                          <a:solidFill>
                            <a:srgbClr val="0F6E56"/>
                          </a:solidFill>
                          <a:latin typeface="Arial" pitchFamily="34" charset="0"/>
                          <a:ea typeface="Arial" pitchFamily="34" charset="-122"/>
                          <a:cs typeface="Arial" pitchFamily="34" charset="-120"/>
                        </a:rPr>
                        <a:t>Citation in a synthesis</a:t>
                      </a:r>
                      <a:endParaRPr lang="en-US" sz="12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F6F8"/>
                    </a:solidFill>
                  </a:tcPr>
                </a:tc>
              </a:tr>
              <a:tr h="0">
                <a:tc>
                  <a:txBody>
                    <a:bodyPr/>
                    <a:lstStyle/>
                    <a:p>
                      <a:pPr indent="0" marL="0">
                        <a:buNone/>
                      </a:pPr>
                      <a:r>
                        <a:rPr lang="en-US" sz="1200" b="1" dirty="0">
                          <a:solidFill>
                            <a:srgbClr val="1B2A4A"/>
                          </a:solidFill>
                          <a:latin typeface="Arial" pitchFamily="34" charset="0"/>
                          <a:ea typeface="Arial" pitchFamily="34" charset="-122"/>
                          <a:cs typeface="Arial" pitchFamily="34" charset="-120"/>
                        </a:rPr>
                        <a:t>Compete on</a:t>
                      </a:r>
                      <a:endParaRPr lang="en-US" sz="12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55555"/>
                          </a:solidFill>
                          <a:latin typeface="Arial" pitchFamily="34" charset="0"/>
                          <a:ea typeface="Arial" pitchFamily="34" charset="-122"/>
                          <a:cs typeface="Arial" pitchFamily="34" charset="-120"/>
                        </a:rPr>
                        <a:t>Keywords</a:t>
                      </a:r>
                      <a:endParaRPr lang="en-US" sz="12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F6E56"/>
                          </a:solidFill>
                          <a:latin typeface="Arial" pitchFamily="34" charset="0"/>
                          <a:ea typeface="Arial" pitchFamily="34" charset="-122"/>
                          <a:cs typeface="Arial" pitchFamily="34" charset="-120"/>
                        </a:rPr>
                        <a:t>Entity authority</a:t>
                      </a:r>
                      <a:endParaRPr lang="en-US" sz="12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B2A4A"/>
                          </a:solidFill>
                          <a:latin typeface="Arial" pitchFamily="34" charset="0"/>
                          <a:ea typeface="Arial" pitchFamily="34" charset="-122"/>
                          <a:cs typeface="Arial" pitchFamily="34" charset="-120"/>
                        </a:rPr>
                        <a:t>Build</a:t>
                      </a:r>
                      <a:endParaRPr lang="en-US" sz="12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F6F8"/>
                    </a:solidFill>
                  </a:tcPr>
                </a:tc>
                <a:tc>
                  <a:txBody>
                    <a:bodyPr/>
                    <a:lstStyle/>
                    <a:p>
                      <a:pPr algn="ctr" indent="0" marL="0">
                        <a:buNone/>
                      </a:pPr>
                      <a:r>
                        <a:rPr lang="en-US" sz="1200" dirty="0">
                          <a:solidFill>
                            <a:srgbClr val="555555"/>
                          </a:solidFill>
                          <a:latin typeface="Arial" pitchFamily="34" charset="0"/>
                          <a:ea typeface="Arial" pitchFamily="34" charset="-122"/>
                          <a:cs typeface="Arial" pitchFamily="34" charset="-120"/>
                        </a:rPr>
                        <a:t>Backlinks</a:t>
                      </a:r>
                      <a:endParaRPr lang="en-US" sz="12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F6F8"/>
                    </a:solidFill>
                  </a:tcPr>
                </a:tc>
                <a:tc>
                  <a:txBody>
                    <a:bodyPr/>
                    <a:lstStyle/>
                    <a:p>
                      <a:pPr algn="ctr" indent="0" marL="0">
                        <a:buNone/>
                      </a:pPr>
                      <a:r>
                        <a:rPr lang="en-US" sz="1200" b="1" dirty="0">
                          <a:solidFill>
                            <a:srgbClr val="0F6E56"/>
                          </a:solidFill>
                          <a:latin typeface="Arial" pitchFamily="34" charset="0"/>
                          <a:ea typeface="Arial" pitchFamily="34" charset="-122"/>
                          <a:cs typeface="Arial" pitchFamily="34" charset="-120"/>
                        </a:rPr>
                        <a:t>Structured proof points</a:t>
                      </a:r>
                      <a:endParaRPr lang="en-US" sz="12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F6F8"/>
                    </a:solidFill>
                  </a:tcPr>
                </a:tc>
              </a:tr>
              <a:tr h="0">
                <a:tc>
                  <a:txBody>
                    <a:bodyPr/>
                    <a:lstStyle/>
                    <a:p>
                      <a:pPr indent="0" marL="0">
                        <a:buNone/>
                      </a:pPr>
                      <a:r>
                        <a:rPr lang="en-US" sz="1200" b="1" dirty="0">
                          <a:solidFill>
                            <a:srgbClr val="1B2A4A"/>
                          </a:solidFill>
                          <a:latin typeface="Arial" pitchFamily="34" charset="0"/>
                          <a:ea typeface="Arial" pitchFamily="34" charset="-122"/>
                          <a:cs typeface="Arial" pitchFamily="34" charset="-120"/>
                        </a:rPr>
                        <a:t>What matters</a:t>
                      </a:r>
                      <a:endParaRPr lang="en-US" sz="12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55555"/>
                          </a:solidFill>
                          <a:latin typeface="Arial" pitchFamily="34" charset="0"/>
                          <a:ea typeface="Arial" pitchFamily="34" charset="-122"/>
                          <a:cs typeface="Arial" pitchFamily="34" charset="-120"/>
                        </a:rPr>
                        <a:t>Title tag</a:t>
                      </a:r>
                      <a:endParaRPr lang="en-US" sz="12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F6E56"/>
                          </a:solidFill>
                          <a:latin typeface="Arial" pitchFamily="34" charset="0"/>
                          <a:ea typeface="Arial" pitchFamily="34" charset="-122"/>
                          <a:cs typeface="Arial" pitchFamily="34" charset="-120"/>
                        </a:rPr>
                        <a:t>Schema markup</a:t>
                      </a:r>
                      <a:endParaRPr lang="en-US" sz="12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B2A4A"/>
                          </a:solidFill>
                          <a:latin typeface="Arial" pitchFamily="34" charset="0"/>
                          <a:ea typeface="Arial" pitchFamily="34" charset="-122"/>
                          <a:cs typeface="Arial" pitchFamily="34" charset="-120"/>
                        </a:rPr>
                        <a:t>Volume effect</a:t>
                      </a:r>
                      <a:endParaRPr lang="en-US" sz="12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F6F8"/>
                    </a:solidFill>
                  </a:tcPr>
                </a:tc>
                <a:tc>
                  <a:txBody>
                    <a:bodyPr/>
                    <a:lstStyle/>
                    <a:p>
                      <a:pPr algn="ctr" indent="0" marL="0">
                        <a:buNone/>
                      </a:pPr>
                      <a:r>
                        <a:rPr lang="en-US" sz="1200" dirty="0">
                          <a:solidFill>
                            <a:srgbClr val="555555"/>
                          </a:solidFill>
                          <a:latin typeface="Arial" pitchFamily="34" charset="0"/>
                          <a:ea typeface="Arial" pitchFamily="34" charset="-122"/>
                          <a:cs typeface="Arial" pitchFamily="34" charset="-120"/>
                        </a:rPr>
                        <a:t>More content helps</a:t>
                      </a:r>
                      <a:endParaRPr lang="en-US" sz="12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F6F8"/>
                    </a:solidFill>
                  </a:tcPr>
                </a:tc>
                <a:tc>
                  <a:txBody>
                    <a:bodyPr/>
                    <a:lstStyle/>
                    <a:p>
                      <a:pPr algn="ctr" indent="0" marL="0">
                        <a:buNone/>
                      </a:pPr>
                      <a:r>
                        <a:rPr lang="en-US" sz="1200" b="1" dirty="0">
                          <a:solidFill>
                            <a:srgbClr val="0F6E56"/>
                          </a:solidFill>
                          <a:latin typeface="Arial" pitchFamily="34" charset="0"/>
                          <a:ea typeface="Arial" pitchFamily="34" charset="-122"/>
                          <a:cs typeface="Arial" pitchFamily="34" charset="-120"/>
                        </a:rPr>
                        <a:t>Better structure helps</a:t>
                      </a:r>
                      <a:endParaRPr lang="en-US" sz="12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5F6F8"/>
                    </a:solidFill>
                  </a:tcPr>
                </a:tc>
              </a:tr>
              <a:tr h="0">
                <a:tc>
                  <a:txBody>
                    <a:bodyPr/>
                    <a:lstStyle/>
                    <a:p>
                      <a:pPr indent="0" marL="0">
                        <a:buNone/>
                      </a:pPr>
                      <a:r>
                        <a:rPr lang="en-US" sz="1200" b="1" dirty="0">
                          <a:solidFill>
                            <a:srgbClr val="1B2A4A"/>
                          </a:solidFill>
                          <a:latin typeface="Arial" pitchFamily="34" charset="0"/>
                          <a:ea typeface="Arial" pitchFamily="34" charset="-122"/>
                          <a:cs typeface="Arial" pitchFamily="34" charset="-120"/>
                        </a:rPr>
                        <a:t>Buyer sees</a:t>
                      </a:r>
                      <a:endParaRPr lang="en-US" sz="12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555555"/>
                          </a:solidFill>
                          <a:latin typeface="Arial" pitchFamily="34" charset="0"/>
                          <a:ea typeface="Arial" pitchFamily="34" charset="-122"/>
                          <a:cs typeface="Arial" pitchFamily="34" charset="-120"/>
                        </a:rPr>
                        <a:t>Blue links</a:t>
                      </a:r>
                      <a:endParaRPr lang="en-US" sz="12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F6E56"/>
                          </a:solidFill>
                          <a:latin typeface="Arial" pitchFamily="34" charset="0"/>
                          <a:ea typeface="Arial" pitchFamily="34" charset="-122"/>
                          <a:cs typeface="Arial" pitchFamily="34" charset="-120"/>
                        </a:rPr>
                        <a:t>Synthesized answer</a:t>
                      </a:r>
                      <a:endParaRPr lang="en-US" sz="1200" dirty="0">
                        <a:latin typeface="Arial" charset="0"/>
                        <a:ea typeface="Arial" charset="0"/>
                        <a:cs typeface="Arial" charset="0"/>
                      </a:endParaRPr>
                    </a:p>
                  </a:txBody>
                  <a:tcPr marL="91440" marR="91440" marT="45720" marB="45720">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4023360"/>
            <a:ext cx="8046720" cy="822960"/>
          </a:xfrm>
          <a:prstGeom prst="rect">
            <a:avLst/>
          </a:prstGeom>
          <a:solidFill>
            <a:srgbClr val="E1F5EE"/>
          </a:solidFill>
          <a:ln/>
        </p:spPr>
      </p:sp>
      <p:sp>
        <p:nvSpPr>
          <p:cNvPr id="6" name="Text 3"/>
          <p:cNvSpPr/>
          <p:nvPr/>
        </p:nvSpPr>
        <p:spPr>
          <a:xfrm>
            <a:off x="822960" y="4069080"/>
            <a:ext cx="7498080" cy="731520"/>
          </a:xfrm>
          <a:prstGeom prst="rect">
            <a:avLst/>
          </a:prstGeom>
          <a:noFill/>
          <a:ln/>
        </p:spPr>
        <p:txBody>
          <a:bodyPr wrap="square" rtlCol="0" anchor="ctr"/>
          <a:lstStyle/>
          <a:p>
            <a:pPr indent="0" marL="0">
              <a:buNone/>
            </a:pPr>
            <a:r>
              <a:rPr lang="en-US" sz="1200" i="1" dirty="0">
                <a:solidFill>
                  <a:srgbClr val="0F6E56"/>
                </a:solidFill>
                <a:latin typeface="Georgia" pitchFamily="34" charset="0"/>
                <a:ea typeface="Georgia" pitchFamily="34" charset="-122"/>
                <a:cs typeface="Georgia" pitchFamily="34" charset="-120"/>
              </a:rPr>
              <a:t>“Open Claude, ChatGPT, or Perplexity and ask it to evaluate vendors in your category. That sixty-second exercise will tell you more about your GEO readiness than any consultant’s report.”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731520" y="320040"/>
            <a:ext cx="7315200" cy="548640"/>
          </a:xfrm>
          <a:prstGeom prst="rect">
            <a:avLst/>
          </a:prstGeom>
          <a:noFill/>
          <a:ln/>
        </p:spPr>
        <p:txBody>
          <a:bodyPr wrap="square" rtlCol="0" anchor="ctr"/>
          <a:lstStyle/>
          <a:p>
            <a:pPr indent="0" marL="0">
              <a:buNone/>
            </a:pPr>
            <a:r>
              <a:rPr lang="en-US" sz="2800" b="1" dirty="0">
                <a:solidFill>
                  <a:srgbClr val="1B2A4A"/>
                </a:solidFill>
                <a:latin typeface="Georgia" pitchFamily="34" charset="0"/>
                <a:ea typeface="Georgia" pitchFamily="34" charset="-122"/>
                <a:cs typeface="Georgia" pitchFamily="34" charset="-120"/>
              </a:rPr>
              <a:t>The funnel is a flywheel</a:t>
            </a:r>
            <a:endParaRPr lang="en-US" sz="2800" dirty="0"/>
          </a:p>
        </p:txBody>
      </p:sp>
      <p:sp>
        <p:nvSpPr>
          <p:cNvPr id="3" name="Text 1"/>
          <p:cNvSpPr/>
          <p:nvPr/>
        </p:nvSpPr>
        <p:spPr>
          <a:xfrm>
            <a:off x="731520" y="777240"/>
            <a:ext cx="7315200" cy="365760"/>
          </a:xfrm>
          <a:prstGeom prst="rect">
            <a:avLst/>
          </a:prstGeom>
          <a:noFill/>
          <a:ln/>
        </p:spPr>
        <p:txBody>
          <a:bodyPr wrap="square" rtlCol="0" anchor="ctr"/>
          <a:lstStyle/>
          <a:p>
            <a:pPr indent="0" marL="0">
              <a:buNone/>
            </a:pPr>
            <a:r>
              <a:rPr lang="en-US" sz="1600" i="1" dirty="0">
                <a:solidFill>
                  <a:srgbClr val="0F6E56"/>
                </a:solidFill>
                <a:latin typeface="Georgia" pitchFamily="34" charset="0"/>
                <a:ea typeface="Georgia" pitchFamily="34" charset="-122"/>
                <a:cs typeface="Georgia" pitchFamily="34" charset="-120"/>
              </a:rPr>
              <a:t>— and the flywheel has an AI in the middle</a:t>
            </a:r>
            <a:endParaRPr lang="en-US" sz="1600" dirty="0"/>
          </a:p>
        </p:txBody>
      </p:sp>
      <p:sp>
        <p:nvSpPr>
          <p:cNvPr id="4" name="Shape 2"/>
          <p:cNvSpPr/>
          <p:nvPr/>
        </p:nvSpPr>
        <p:spPr>
          <a:xfrm>
            <a:off x="457200" y="1371600"/>
            <a:ext cx="8229600" cy="475488"/>
          </a:xfrm>
          <a:prstGeom prst="rect">
            <a:avLst/>
          </a:prstGeom>
          <a:solidFill>
            <a:srgbClr val="1B2A4A"/>
          </a:solidFill>
          <a:ln/>
        </p:spPr>
      </p:sp>
      <p:sp>
        <p:nvSpPr>
          <p:cNvPr id="5" name="Text 3"/>
          <p:cNvSpPr/>
          <p:nvPr/>
        </p:nvSpPr>
        <p:spPr>
          <a:xfrm>
            <a:off x="594360" y="1371600"/>
            <a:ext cx="1645920" cy="475488"/>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Awareness</a:t>
            </a:r>
            <a:endParaRPr lang="en-US" sz="1200" dirty="0"/>
          </a:p>
        </p:txBody>
      </p:sp>
      <p:sp>
        <p:nvSpPr>
          <p:cNvPr id="6" name="Text 4"/>
          <p:cNvSpPr/>
          <p:nvPr/>
        </p:nvSpPr>
        <p:spPr>
          <a:xfrm>
            <a:off x="2286000" y="1371600"/>
            <a:ext cx="2286000" cy="475488"/>
          </a:xfrm>
          <a:prstGeom prst="rect">
            <a:avLst/>
          </a:prstGeom>
          <a:noFill/>
          <a:ln/>
        </p:spPr>
        <p:txBody>
          <a:bodyPr wrap="square" rtlCol="0" anchor="ctr"/>
          <a:lstStyle/>
          <a:p>
            <a:pPr algn="ctr" indent="0" marL="0">
              <a:buNone/>
            </a:pPr>
            <a:r>
              <a:rPr lang="en-US" sz="1100" dirty="0">
                <a:solidFill>
                  <a:srgbClr val="B8860B"/>
                </a:solidFill>
                <a:latin typeface="Arial" pitchFamily="34" charset="0"/>
                <a:ea typeface="Arial" pitchFamily="34" charset="-122"/>
                <a:cs typeface="Arial" pitchFamily="34" charset="-120"/>
              </a:rPr>
              <a:t>6 weeks  →  90 seconds</a:t>
            </a:r>
            <a:endParaRPr lang="en-US" sz="1100" dirty="0"/>
          </a:p>
        </p:txBody>
      </p:sp>
      <p:sp>
        <p:nvSpPr>
          <p:cNvPr id="7" name="Text 5"/>
          <p:cNvSpPr/>
          <p:nvPr/>
        </p:nvSpPr>
        <p:spPr>
          <a:xfrm>
            <a:off x="4572000" y="1371600"/>
            <a:ext cx="3840480" cy="475488"/>
          </a:xfrm>
          <a:prstGeom prst="rect">
            <a:avLst/>
          </a:prstGeom>
          <a:noFill/>
          <a:ln/>
        </p:spPr>
        <p:txBody>
          <a:bodyPr wrap="square" rtlCol="0" anchor="ctr"/>
          <a:lstStyle/>
          <a:p>
            <a:pPr indent="0" marL="0">
              <a:buNone/>
            </a:pPr>
            <a:r>
              <a:rPr lang="en-US" sz="1100" dirty="0">
                <a:solidFill>
                  <a:srgbClr val="CCCCCC"/>
                </a:solidFill>
                <a:latin typeface="Arial" pitchFamily="34" charset="0"/>
                <a:ea typeface="Arial" pitchFamily="34" charset="-122"/>
                <a:cs typeface="Arial" pitchFamily="34" charset="-120"/>
              </a:rPr>
              <a:t>Compressed by AI agents</a:t>
            </a:r>
            <a:endParaRPr lang="en-US" sz="1100" dirty="0"/>
          </a:p>
        </p:txBody>
      </p:sp>
      <p:sp>
        <p:nvSpPr>
          <p:cNvPr id="8" name="Shape 6"/>
          <p:cNvSpPr/>
          <p:nvPr/>
        </p:nvSpPr>
        <p:spPr>
          <a:xfrm>
            <a:off x="640080" y="1938528"/>
            <a:ext cx="7863840" cy="475488"/>
          </a:xfrm>
          <a:prstGeom prst="rect">
            <a:avLst/>
          </a:prstGeom>
          <a:solidFill>
            <a:srgbClr val="1B2A4A"/>
          </a:solidFill>
          <a:ln/>
        </p:spPr>
      </p:sp>
      <p:sp>
        <p:nvSpPr>
          <p:cNvPr id="9" name="Text 7"/>
          <p:cNvSpPr/>
          <p:nvPr/>
        </p:nvSpPr>
        <p:spPr>
          <a:xfrm>
            <a:off x="777240" y="1938528"/>
            <a:ext cx="1645920" cy="475488"/>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Consideration</a:t>
            </a:r>
            <a:endParaRPr lang="en-US" sz="1200" dirty="0"/>
          </a:p>
        </p:txBody>
      </p:sp>
      <p:sp>
        <p:nvSpPr>
          <p:cNvPr id="10" name="Text 8"/>
          <p:cNvSpPr/>
          <p:nvPr/>
        </p:nvSpPr>
        <p:spPr>
          <a:xfrm>
            <a:off x="2468880" y="1938528"/>
            <a:ext cx="2286000" cy="475488"/>
          </a:xfrm>
          <a:prstGeom prst="rect">
            <a:avLst/>
          </a:prstGeom>
          <a:noFill/>
          <a:ln/>
        </p:spPr>
        <p:txBody>
          <a:bodyPr wrap="square" rtlCol="0" anchor="ctr"/>
          <a:lstStyle/>
          <a:p>
            <a:pPr algn="ctr" indent="0" marL="0">
              <a:buNone/>
            </a:pPr>
            <a:r>
              <a:rPr lang="en-US" sz="1100" dirty="0">
                <a:solidFill>
                  <a:srgbClr val="B8860B"/>
                </a:solidFill>
                <a:latin typeface="Arial" pitchFamily="34" charset="0"/>
                <a:ea typeface="Arial" pitchFamily="34" charset="-122"/>
                <a:cs typeface="Arial" pitchFamily="34" charset="-120"/>
              </a:rPr>
              <a:t>4 weeks  →  Minutes</a:t>
            </a:r>
            <a:endParaRPr lang="en-US" sz="1100" dirty="0"/>
          </a:p>
        </p:txBody>
      </p:sp>
      <p:sp>
        <p:nvSpPr>
          <p:cNvPr id="11" name="Text 9"/>
          <p:cNvSpPr/>
          <p:nvPr/>
        </p:nvSpPr>
        <p:spPr>
          <a:xfrm>
            <a:off x="4754880" y="1938528"/>
            <a:ext cx="3474720" cy="475488"/>
          </a:xfrm>
          <a:prstGeom prst="rect">
            <a:avLst/>
          </a:prstGeom>
          <a:noFill/>
          <a:ln/>
        </p:spPr>
        <p:txBody>
          <a:bodyPr wrap="square" rtlCol="0" anchor="ctr"/>
          <a:lstStyle/>
          <a:p>
            <a:pPr indent="0" marL="0">
              <a:buNone/>
            </a:pPr>
            <a:r>
              <a:rPr lang="en-US" sz="1100" dirty="0">
                <a:solidFill>
                  <a:srgbClr val="CCCCCC"/>
                </a:solidFill>
                <a:latin typeface="Arial" pitchFamily="34" charset="0"/>
                <a:ea typeface="Arial" pitchFamily="34" charset="-122"/>
                <a:cs typeface="Arial" pitchFamily="34" charset="-120"/>
              </a:rPr>
              <a:t>Happens inside agent context</a:t>
            </a:r>
            <a:endParaRPr lang="en-US" sz="1100" dirty="0"/>
          </a:p>
        </p:txBody>
      </p:sp>
      <p:sp>
        <p:nvSpPr>
          <p:cNvPr id="12" name="Shape 10"/>
          <p:cNvSpPr/>
          <p:nvPr/>
        </p:nvSpPr>
        <p:spPr>
          <a:xfrm>
            <a:off x="822960" y="2505456"/>
            <a:ext cx="7498080" cy="475488"/>
          </a:xfrm>
          <a:prstGeom prst="rect">
            <a:avLst/>
          </a:prstGeom>
          <a:solidFill>
            <a:srgbClr val="1B2A4A"/>
          </a:solidFill>
          <a:ln/>
        </p:spPr>
      </p:sp>
      <p:sp>
        <p:nvSpPr>
          <p:cNvPr id="13" name="Text 11"/>
          <p:cNvSpPr/>
          <p:nvPr/>
        </p:nvSpPr>
        <p:spPr>
          <a:xfrm>
            <a:off x="960120" y="2505456"/>
            <a:ext cx="1645920" cy="475488"/>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Decision</a:t>
            </a:r>
            <a:endParaRPr lang="en-US" sz="1200" dirty="0"/>
          </a:p>
        </p:txBody>
      </p:sp>
      <p:sp>
        <p:nvSpPr>
          <p:cNvPr id="14" name="Text 12"/>
          <p:cNvSpPr/>
          <p:nvPr/>
        </p:nvSpPr>
        <p:spPr>
          <a:xfrm>
            <a:off x="2651760" y="2505456"/>
            <a:ext cx="2286000" cy="475488"/>
          </a:xfrm>
          <a:prstGeom prst="rect">
            <a:avLst/>
          </a:prstGeom>
          <a:noFill/>
          <a:ln/>
        </p:spPr>
        <p:txBody>
          <a:bodyPr wrap="square" rtlCol="0" anchor="ctr"/>
          <a:lstStyle/>
          <a:p>
            <a:pPr algn="ctr" indent="0" marL="0">
              <a:buNone/>
            </a:pPr>
            <a:r>
              <a:rPr lang="en-US" sz="1100" dirty="0">
                <a:solidFill>
                  <a:srgbClr val="B8860B"/>
                </a:solidFill>
                <a:latin typeface="Arial" pitchFamily="34" charset="0"/>
                <a:ea typeface="Arial" pitchFamily="34" charset="-122"/>
                <a:cs typeface="Arial" pitchFamily="34" charset="-120"/>
              </a:rPr>
              <a:t>3 weeks  →  Days</a:t>
            </a:r>
            <a:endParaRPr lang="en-US" sz="1100" dirty="0"/>
          </a:p>
        </p:txBody>
      </p:sp>
      <p:sp>
        <p:nvSpPr>
          <p:cNvPr id="15" name="Text 13"/>
          <p:cNvSpPr/>
          <p:nvPr/>
        </p:nvSpPr>
        <p:spPr>
          <a:xfrm>
            <a:off x="4937760" y="2505456"/>
            <a:ext cx="3108960" cy="475488"/>
          </a:xfrm>
          <a:prstGeom prst="rect">
            <a:avLst/>
          </a:prstGeom>
          <a:noFill/>
          <a:ln/>
        </p:spPr>
        <p:txBody>
          <a:bodyPr wrap="square" rtlCol="0" anchor="ctr"/>
          <a:lstStyle/>
          <a:p>
            <a:pPr indent="0" marL="0">
              <a:buNone/>
            </a:pPr>
            <a:r>
              <a:rPr lang="en-US" sz="1100" dirty="0">
                <a:solidFill>
                  <a:srgbClr val="CCCCCC"/>
                </a:solidFill>
                <a:latin typeface="Arial" pitchFamily="34" charset="0"/>
                <a:ea typeface="Arial" pitchFamily="34" charset="-122"/>
                <a:cs typeface="Arial" pitchFamily="34" charset="-120"/>
              </a:rPr>
              <a:t>Buyer arrives with AI dossier</a:t>
            </a:r>
            <a:endParaRPr lang="en-US" sz="1100" dirty="0"/>
          </a:p>
        </p:txBody>
      </p:sp>
      <p:sp>
        <p:nvSpPr>
          <p:cNvPr id="16" name="Shape 14"/>
          <p:cNvSpPr/>
          <p:nvPr/>
        </p:nvSpPr>
        <p:spPr>
          <a:xfrm>
            <a:off x="1005840" y="3072384"/>
            <a:ext cx="7132320" cy="475488"/>
          </a:xfrm>
          <a:prstGeom prst="rect">
            <a:avLst/>
          </a:prstGeom>
          <a:solidFill>
            <a:srgbClr val="0F6E56"/>
          </a:solidFill>
          <a:ln/>
        </p:spPr>
      </p:sp>
      <p:sp>
        <p:nvSpPr>
          <p:cNvPr id="17" name="Text 15"/>
          <p:cNvSpPr/>
          <p:nvPr/>
        </p:nvSpPr>
        <p:spPr>
          <a:xfrm>
            <a:off x="1143000" y="3072384"/>
            <a:ext cx="1645920" cy="475488"/>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Onboarding</a:t>
            </a:r>
            <a:endParaRPr lang="en-US" sz="1200" dirty="0"/>
          </a:p>
        </p:txBody>
      </p:sp>
      <p:sp>
        <p:nvSpPr>
          <p:cNvPr id="18" name="Text 16"/>
          <p:cNvSpPr/>
          <p:nvPr/>
        </p:nvSpPr>
        <p:spPr>
          <a:xfrm>
            <a:off x="2834640" y="3072384"/>
            <a:ext cx="2286000" cy="475488"/>
          </a:xfrm>
          <a:prstGeom prst="rect">
            <a:avLst/>
          </a:prstGeom>
          <a:noFill/>
          <a:ln/>
        </p:spPr>
        <p:txBody>
          <a:bodyPr wrap="square" rtlCol="0" anchor="ctr"/>
          <a:lstStyle/>
          <a:p>
            <a:pPr algn="ctr" indent="0" marL="0">
              <a:buNone/>
            </a:pPr>
            <a:r>
              <a:rPr lang="en-US" sz="1100" dirty="0">
                <a:solidFill>
                  <a:srgbClr val="B8860B"/>
                </a:solidFill>
                <a:latin typeface="Arial" pitchFamily="34" charset="0"/>
                <a:ea typeface="Arial" pitchFamily="34" charset="-122"/>
                <a:cs typeface="Arial" pitchFamily="34" charset="-120"/>
              </a:rPr>
              <a:t>Months  →  Weeks</a:t>
            </a:r>
            <a:endParaRPr lang="en-US" sz="1100" dirty="0"/>
          </a:p>
        </p:txBody>
      </p:sp>
      <p:sp>
        <p:nvSpPr>
          <p:cNvPr id="19" name="Text 17"/>
          <p:cNvSpPr/>
          <p:nvPr/>
        </p:nvSpPr>
        <p:spPr>
          <a:xfrm>
            <a:off x="5120640" y="3072384"/>
            <a:ext cx="2743200" cy="475488"/>
          </a:xfrm>
          <a:prstGeom prst="rect">
            <a:avLst/>
          </a:prstGeom>
          <a:noFill/>
          <a:ln/>
        </p:spPr>
        <p:txBody>
          <a:bodyPr wrap="square" rtlCol="0" anchor="ctr"/>
          <a:lstStyle/>
          <a:p>
            <a:pPr indent="0" marL="0">
              <a:buNone/>
            </a:pPr>
            <a:r>
              <a:rPr lang="en-US" sz="1100" dirty="0">
                <a:solidFill>
                  <a:srgbClr val="CCCCCC"/>
                </a:solidFill>
                <a:latin typeface="Arial" pitchFamily="34" charset="0"/>
                <a:ea typeface="Arial" pitchFamily="34" charset="-122"/>
                <a:cs typeface="Arial" pitchFamily="34" charset="-120"/>
              </a:rPr>
              <a:t>AI agents handle setup</a:t>
            </a:r>
            <a:endParaRPr lang="en-US" sz="1100" dirty="0"/>
          </a:p>
        </p:txBody>
      </p:sp>
      <p:sp>
        <p:nvSpPr>
          <p:cNvPr id="20" name="Shape 18"/>
          <p:cNvSpPr/>
          <p:nvPr/>
        </p:nvSpPr>
        <p:spPr>
          <a:xfrm>
            <a:off x="1188720" y="3639312"/>
            <a:ext cx="6766560" cy="475488"/>
          </a:xfrm>
          <a:prstGeom prst="rect">
            <a:avLst/>
          </a:prstGeom>
          <a:solidFill>
            <a:srgbClr val="0F6E56"/>
          </a:solidFill>
          <a:ln/>
        </p:spPr>
      </p:sp>
      <p:sp>
        <p:nvSpPr>
          <p:cNvPr id="21" name="Text 19"/>
          <p:cNvSpPr/>
          <p:nvPr/>
        </p:nvSpPr>
        <p:spPr>
          <a:xfrm>
            <a:off x="1325880" y="3639312"/>
            <a:ext cx="1645920" cy="475488"/>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Retention</a:t>
            </a:r>
            <a:endParaRPr lang="en-US" sz="1200" dirty="0"/>
          </a:p>
        </p:txBody>
      </p:sp>
      <p:sp>
        <p:nvSpPr>
          <p:cNvPr id="22" name="Text 20"/>
          <p:cNvSpPr/>
          <p:nvPr/>
        </p:nvSpPr>
        <p:spPr>
          <a:xfrm>
            <a:off x="3017520" y="3639312"/>
            <a:ext cx="2286000" cy="475488"/>
          </a:xfrm>
          <a:prstGeom prst="rect">
            <a:avLst/>
          </a:prstGeom>
          <a:noFill/>
          <a:ln/>
        </p:spPr>
        <p:txBody>
          <a:bodyPr wrap="square" rtlCol="0" anchor="ctr"/>
          <a:lstStyle/>
          <a:p>
            <a:pPr algn="ctr" indent="0" marL="0">
              <a:buNone/>
            </a:pPr>
            <a:r>
              <a:rPr lang="en-US" sz="1100" dirty="0">
                <a:solidFill>
                  <a:srgbClr val="B8860B"/>
                </a:solidFill>
                <a:latin typeface="Arial" pitchFamily="34" charset="0"/>
                <a:ea typeface="Arial" pitchFamily="34" charset="-122"/>
                <a:cs typeface="Arial" pitchFamily="34" charset="-120"/>
              </a:rPr>
              <a:t>Annual review  →  Continuous</a:t>
            </a:r>
            <a:endParaRPr lang="en-US" sz="1100" dirty="0"/>
          </a:p>
        </p:txBody>
      </p:sp>
      <p:sp>
        <p:nvSpPr>
          <p:cNvPr id="23" name="Text 21"/>
          <p:cNvSpPr/>
          <p:nvPr/>
        </p:nvSpPr>
        <p:spPr>
          <a:xfrm>
            <a:off x="5303520" y="3639312"/>
            <a:ext cx="2377440" cy="475488"/>
          </a:xfrm>
          <a:prstGeom prst="rect">
            <a:avLst/>
          </a:prstGeom>
          <a:noFill/>
          <a:ln/>
        </p:spPr>
        <p:txBody>
          <a:bodyPr wrap="square" rtlCol="0" anchor="ctr"/>
          <a:lstStyle/>
          <a:p>
            <a:pPr indent="0" marL="0">
              <a:buNone/>
            </a:pPr>
            <a:r>
              <a:rPr lang="en-US" sz="1100" dirty="0">
                <a:solidFill>
                  <a:srgbClr val="CCCCCC"/>
                </a:solidFill>
                <a:latin typeface="Arial" pitchFamily="34" charset="0"/>
                <a:ea typeface="Arial" pitchFamily="34" charset="-122"/>
                <a:cs typeface="Arial" pitchFamily="34" charset="-120"/>
              </a:rPr>
              <a:t>AI evaluates alternatives daily</a:t>
            </a:r>
            <a:endParaRPr lang="en-US" sz="1100" dirty="0"/>
          </a:p>
        </p:txBody>
      </p:sp>
      <p:sp>
        <p:nvSpPr>
          <p:cNvPr id="24" name="Shape 22"/>
          <p:cNvSpPr/>
          <p:nvPr/>
        </p:nvSpPr>
        <p:spPr>
          <a:xfrm>
            <a:off x="1371600" y="4206240"/>
            <a:ext cx="6400800" cy="475488"/>
          </a:xfrm>
          <a:prstGeom prst="rect">
            <a:avLst/>
          </a:prstGeom>
          <a:solidFill>
            <a:srgbClr val="0F6E56"/>
          </a:solidFill>
          <a:ln/>
        </p:spPr>
      </p:sp>
      <p:sp>
        <p:nvSpPr>
          <p:cNvPr id="25" name="Text 23"/>
          <p:cNvSpPr/>
          <p:nvPr/>
        </p:nvSpPr>
        <p:spPr>
          <a:xfrm>
            <a:off x="1508760" y="4206240"/>
            <a:ext cx="1645920" cy="475488"/>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Advocacy</a:t>
            </a:r>
            <a:endParaRPr lang="en-US" sz="1200" dirty="0"/>
          </a:p>
        </p:txBody>
      </p:sp>
      <p:sp>
        <p:nvSpPr>
          <p:cNvPr id="26" name="Text 24"/>
          <p:cNvSpPr/>
          <p:nvPr/>
        </p:nvSpPr>
        <p:spPr>
          <a:xfrm>
            <a:off x="3200400" y="4206240"/>
            <a:ext cx="2286000" cy="475488"/>
          </a:xfrm>
          <a:prstGeom prst="rect">
            <a:avLst/>
          </a:prstGeom>
          <a:noFill/>
          <a:ln/>
        </p:spPr>
        <p:txBody>
          <a:bodyPr wrap="square" rtlCol="0" anchor="ctr"/>
          <a:lstStyle/>
          <a:p>
            <a:pPr algn="ctr" indent="0" marL="0">
              <a:buNone/>
            </a:pPr>
            <a:r>
              <a:rPr lang="en-US" sz="1100" dirty="0">
                <a:solidFill>
                  <a:srgbClr val="B8860B"/>
                </a:solidFill>
                <a:latin typeface="Arial" pitchFamily="34" charset="0"/>
                <a:ea typeface="Arial" pitchFamily="34" charset="-122"/>
                <a:cs typeface="Arial" pitchFamily="34" charset="-120"/>
              </a:rPr>
              <a:t>Case study  →  Training data</a:t>
            </a:r>
            <a:endParaRPr lang="en-US" sz="1100" dirty="0"/>
          </a:p>
        </p:txBody>
      </p:sp>
      <p:sp>
        <p:nvSpPr>
          <p:cNvPr id="27" name="Text 25"/>
          <p:cNvSpPr/>
          <p:nvPr/>
        </p:nvSpPr>
        <p:spPr>
          <a:xfrm>
            <a:off x="5486400" y="4206240"/>
            <a:ext cx="2011680" cy="475488"/>
          </a:xfrm>
          <a:prstGeom prst="rect">
            <a:avLst/>
          </a:prstGeom>
          <a:noFill/>
          <a:ln/>
        </p:spPr>
        <p:txBody>
          <a:bodyPr wrap="square" rtlCol="0" anchor="ctr"/>
          <a:lstStyle/>
          <a:p>
            <a:pPr indent="0" marL="0">
              <a:buNone/>
            </a:pPr>
            <a:r>
              <a:rPr lang="en-US" sz="1100" dirty="0">
                <a:solidFill>
                  <a:srgbClr val="CCCCCC"/>
                </a:solidFill>
                <a:latin typeface="Arial" pitchFamily="34" charset="0"/>
                <a:ea typeface="Arial" pitchFamily="34" charset="-122"/>
                <a:cs typeface="Arial" pitchFamily="34" charset="-120"/>
              </a:rPr>
              <a:t>Stories feed agent recommendations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20040"/>
            <a:ext cx="7315200" cy="548640"/>
          </a:xfrm>
          <a:prstGeom prst="rect">
            <a:avLst/>
          </a:prstGeom>
          <a:noFill/>
          <a:ln/>
        </p:spPr>
        <p:txBody>
          <a:bodyPr wrap="square" rtlCol="0" anchor="ctr"/>
          <a:lstStyle/>
          <a:p>
            <a:pPr indent="0" marL="0">
              <a:buNone/>
            </a:pPr>
            <a:r>
              <a:rPr lang="en-US" sz="2800" b="1" dirty="0">
                <a:solidFill>
                  <a:srgbClr val="1B2A4A"/>
                </a:solidFill>
                <a:latin typeface="Georgia" pitchFamily="34" charset="0"/>
                <a:ea typeface="Georgia" pitchFamily="34" charset="-122"/>
                <a:cs typeface="Georgia" pitchFamily="34" charset="-120"/>
              </a:rPr>
              <a:t>Post-SaaS economics</a:t>
            </a:r>
            <a:endParaRPr lang="en-US" sz="2800" dirty="0"/>
          </a:p>
        </p:txBody>
      </p:sp>
      <p:sp>
        <p:nvSpPr>
          <p:cNvPr id="3" name="Shape 1"/>
          <p:cNvSpPr/>
          <p:nvPr/>
        </p:nvSpPr>
        <p:spPr>
          <a:xfrm>
            <a:off x="731520" y="914400"/>
            <a:ext cx="1097280" cy="36576"/>
          </a:xfrm>
          <a:prstGeom prst="rect">
            <a:avLst/>
          </a:prstGeom>
          <a:solidFill>
            <a:srgbClr val="0F6E56"/>
          </a:solidFill>
          <a:ln/>
        </p:spPr>
      </p:sp>
      <p:sp>
        <p:nvSpPr>
          <p:cNvPr id="4" name="Shape 2"/>
          <p:cNvSpPr/>
          <p:nvPr/>
        </p:nvSpPr>
        <p:spPr>
          <a:xfrm>
            <a:off x="457200" y="1280160"/>
            <a:ext cx="2651760" cy="2743200"/>
          </a:xfrm>
          <a:prstGeom prst="rect">
            <a:avLst/>
          </a:prstGeom>
          <a:solidFill>
            <a:srgbClr val="F5F6F8"/>
          </a:solidFill>
          <a:ln/>
          <a:effectLst>
            <a:outerShdw sx="100000" sy="100000" kx="0" ky="0" algn="bl" rotWithShape="0" blurRad="50800" dist="25400" dir="8100000">
              <a:srgbClr val="000000">
                <a:alpha val="10000"/>
              </a:srgbClr>
            </a:outerShdw>
          </a:effectLst>
        </p:spPr>
      </p:sp>
      <p:sp>
        <p:nvSpPr>
          <p:cNvPr id="5" name="Shape 3"/>
          <p:cNvSpPr/>
          <p:nvPr/>
        </p:nvSpPr>
        <p:spPr>
          <a:xfrm>
            <a:off x="457200" y="1280160"/>
            <a:ext cx="2651760" cy="54864"/>
          </a:xfrm>
          <a:prstGeom prst="rect">
            <a:avLst/>
          </a:prstGeom>
          <a:solidFill>
            <a:srgbClr val="8899AA"/>
          </a:solidFill>
          <a:ln/>
        </p:spPr>
      </p:sp>
      <p:sp>
        <p:nvSpPr>
          <p:cNvPr id="6" name="Text 4"/>
          <p:cNvSpPr/>
          <p:nvPr/>
        </p:nvSpPr>
        <p:spPr>
          <a:xfrm>
            <a:off x="640080" y="1554480"/>
            <a:ext cx="2286000" cy="457200"/>
          </a:xfrm>
          <a:prstGeom prst="rect">
            <a:avLst/>
          </a:prstGeom>
          <a:noFill/>
          <a:ln/>
        </p:spPr>
        <p:txBody>
          <a:bodyPr wrap="square" rtlCol="0" anchor="ctr"/>
          <a:lstStyle/>
          <a:p>
            <a:pPr indent="0" marL="0">
              <a:buNone/>
            </a:pPr>
            <a:r>
              <a:rPr lang="en-US" sz="1600" b="1" dirty="0">
                <a:solidFill>
                  <a:srgbClr val="1B2A4A"/>
                </a:solidFill>
                <a:latin typeface="Georgia" pitchFamily="34" charset="0"/>
                <a:ea typeface="Georgia" pitchFamily="34" charset="-122"/>
                <a:cs typeface="Georgia" pitchFamily="34" charset="-120"/>
              </a:rPr>
              <a:t>Per-seat licensing</a:t>
            </a:r>
            <a:endParaRPr lang="en-US" sz="1600" dirty="0"/>
          </a:p>
        </p:txBody>
      </p:sp>
      <p:sp>
        <p:nvSpPr>
          <p:cNvPr id="7" name="Text 5"/>
          <p:cNvSpPr/>
          <p:nvPr/>
        </p:nvSpPr>
        <p:spPr>
          <a:xfrm>
            <a:off x="640080" y="2103120"/>
            <a:ext cx="2286000" cy="914400"/>
          </a:xfrm>
          <a:prstGeom prst="rect">
            <a:avLst/>
          </a:prstGeom>
          <a:noFill/>
          <a:ln/>
        </p:spPr>
        <p:txBody>
          <a:bodyPr wrap="square" rtlCol="0" anchor="ctr"/>
          <a:lstStyle/>
          <a:p>
            <a:pPr indent="0" marL="0">
              <a:buNone/>
            </a:pPr>
            <a:r>
              <a:rPr lang="en-US" sz="1200" dirty="0">
                <a:solidFill>
                  <a:srgbClr val="555555"/>
                </a:solidFill>
                <a:latin typeface="Arial" pitchFamily="34" charset="0"/>
                <a:ea typeface="Arial" pitchFamily="34" charset="-122"/>
                <a:cs typeface="Arial" pitchFamily="34" charset="-120"/>
              </a:rPr>
              <a:t>Value = adoption</a:t>
            </a:r>
            <a:endParaRPr lang="en-US" sz="1200" dirty="0"/>
          </a:p>
          <a:p>
            <a:pPr indent="0" marL="0">
              <a:buNone/>
            </a:pPr>
            <a:r>
              <a:rPr lang="en-US" sz="1200" dirty="0">
                <a:solidFill>
                  <a:srgbClr val="555555"/>
                </a:solidFill>
                <a:latin typeface="Arial" pitchFamily="34" charset="0"/>
                <a:ea typeface="Arial" pitchFamily="34" charset="-122"/>
                <a:cs typeface="Arial" pitchFamily="34" charset="-120"/>
              </a:rPr>
              <a:t>How many people use it?</a:t>
            </a:r>
            <a:endParaRPr lang="en-US" sz="1200" dirty="0"/>
          </a:p>
        </p:txBody>
      </p:sp>
      <p:sp>
        <p:nvSpPr>
          <p:cNvPr id="8" name="Text 6"/>
          <p:cNvSpPr/>
          <p:nvPr/>
        </p:nvSpPr>
        <p:spPr>
          <a:xfrm>
            <a:off x="640080" y="3291840"/>
            <a:ext cx="2286000" cy="365760"/>
          </a:xfrm>
          <a:prstGeom prst="rect">
            <a:avLst/>
          </a:prstGeom>
          <a:noFill/>
          <a:ln/>
        </p:spPr>
        <p:txBody>
          <a:bodyPr wrap="square" rtlCol="0" anchor="ctr"/>
          <a:lstStyle/>
          <a:p>
            <a:pPr indent="0" marL="0">
              <a:buNone/>
            </a:pPr>
            <a:r>
              <a:rPr lang="en-US" sz="1100" b="1" spc="200" kern="0" dirty="0">
                <a:solidFill>
                  <a:srgbClr val="8899AA"/>
                </a:solidFill>
                <a:latin typeface="Arial" pitchFamily="34" charset="0"/>
                <a:ea typeface="Arial" pitchFamily="34" charset="-122"/>
                <a:cs typeface="Arial" pitchFamily="34" charset="-120"/>
              </a:rPr>
              <a:t>DECLINING</a:t>
            </a:r>
            <a:endParaRPr lang="en-US" sz="1100" dirty="0"/>
          </a:p>
        </p:txBody>
      </p:sp>
      <p:sp>
        <p:nvSpPr>
          <p:cNvPr id="9" name="Shape 7"/>
          <p:cNvSpPr/>
          <p:nvPr/>
        </p:nvSpPr>
        <p:spPr>
          <a:xfrm>
            <a:off x="3383280" y="1280160"/>
            <a:ext cx="2651760" cy="2743200"/>
          </a:xfrm>
          <a:prstGeom prst="rect">
            <a:avLst/>
          </a:prstGeom>
          <a:solidFill>
            <a:srgbClr val="F5F6F8"/>
          </a:solidFill>
          <a:ln/>
          <a:effectLst>
            <a:outerShdw sx="100000" sy="100000" kx="0" ky="0" algn="bl" rotWithShape="0" blurRad="50800" dist="25400" dir="8100000">
              <a:srgbClr val="000000">
                <a:alpha val="10000"/>
              </a:srgbClr>
            </a:outerShdw>
          </a:effectLst>
        </p:spPr>
      </p:sp>
      <p:sp>
        <p:nvSpPr>
          <p:cNvPr id="10" name="Shape 8"/>
          <p:cNvSpPr/>
          <p:nvPr/>
        </p:nvSpPr>
        <p:spPr>
          <a:xfrm>
            <a:off x="3383280" y="1280160"/>
            <a:ext cx="2651760" cy="54864"/>
          </a:xfrm>
          <a:prstGeom prst="rect">
            <a:avLst/>
          </a:prstGeom>
          <a:solidFill>
            <a:srgbClr val="1B2A4A"/>
          </a:solidFill>
          <a:ln/>
        </p:spPr>
      </p:sp>
      <p:sp>
        <p:nvSpPr>
          <p:cNvPr id="11" name="Text 9"/>
          <p:cNvSpPr/>
          <p:nvPr/>
        </p:nvSpPr>
        <p:spPr>
          <a:xfrm>
            <a:off x="3566160" y="1554480"/>
            <a:ext cx="2286000" cy="457200"/>
          </a:xfrm>
          <a:prstGeom prst="rect">
            <a:avLst/>
          </a:prstGeom>
          <a:noFill/>
          <a:ln/>
        </p:spPr>
        <p:txBody>
          <a:bodyPr wrap="square" rtlCol="0" anchor="ctr"/>
          <a:lstStyle/>
          <a:p>
            <a:pPr indent="0" marL="0">
              <a:buNone/>
            </a:pPr>
            <a:r>
              <a:rPr lang="en-US" sz="1600" b="1" dirty="0">
                <a:solidFill>
                  <a:srgbClr val="1B2A4A"/>
                </a:solidFill>
                <a:latin typeface="Georgia" pitchFamily="34" charset="0"/>
                <a:ea typeface="Georgia" pitchFamily="34" charset="-122"/>
                <a:cs typeface="Georgia" pitchFamily="34" charset="-120"/>
              </a:rPr>
              <a:t>Consumption-based</a:t>
            </a:r>
            <a:endParaRPr lang="en-US" sz="1600" dirty="0"/>
          </a:p>
        </p:txBody>
      </p:sp>
      <p:sp>
        <p:nvSpPr>
          <p:cNvPr id="12" name="Text 10"/>
          <p:cNvSpPr/>
          <p:nvPr/>
        </p:nvSpPr>
        <p:spPr>
          <a:xfrm>
            <a:off x="3566160" y="2103120"/>
            <a:ext cx="2286000" cy="914400"/>
          </a:xfrm>
          <a:prstGeom prst="rect">
            <a:avLst/>
          </a:prstGeom>
          <a:noFill/>
          <a:ln/>
        </p:spPr>
        <p:txBody>
          <a:bodyPr wrap="square" rtlCol="0" anchor="ctr"/>
          <a:lstStyle/>
          <a:p>
            <a:pPr indent="0" marL="0">
              <a:buNone/>
            </a:pPr>
            <a:r>
              <a:rPr lang="en-US" sz="1200" dirty="0">
                <a:solidFill>
                  <a:srgbClr val="555555"/>
                </a:solidFill>
                <a:latin typeface="Arial" pitchFamily="34" charset="0"/>
                <a:ea typeface="Arial" pitchFamily="34" charset="-122"/>
                <a:cs typeface="Arial" pitchFamily="34" charset="-120"/>
              </a:rPr>
              <a:t>Value = usage</a:t>
            </a:r>
            <a:endParaRPr lang="en-US" sz="1200" dirty="0"/>
          </a:p>
          <a:p>
            <a:pPr indent="0" marL="0">
              <a:buNone/>
            </a:pPr>
            <a:r>
              <a:rPr lang="en-US" sz="1200" dirty="0">
                <a:solidFill>
                  <a:srgbClr val="555555"/>
                </a:solidFill>
                <a:latin typeface="Arial" pitchFamily="34" charset="0"/>
                <a:ea typeface="Arial" pitchFamily="34" charset="-122"/>
                <a:cs typeface="Arial" pitchFamily="34" charset="-120"/>
              </a:rPr>
              <a:t>What volume are they driving?</a:t>
            </a:r>
            <a:endParaRPr lang="en-US" sz="1200" dirty="0"/>
          </a:p>
        </p:txBody>
      </p:sp>
      <p:sp>
        <p:nvSpPr>
          <p:cNvPr id="13" name="Text 11"/>
          <p:cNvSpPr/>
          <p:nvPr/>
        </p:nvSpPr>
        <p:spPr>
          <a:xfrm>
            <a:off x="3566160" y="3291840"/>
            <a:ext cx="2286000" cy="365760"/>
          </a:xfrm>
          <a:prstGeom prst="rect">
            <a:avLst/>
          </a:prstGeom>
          <a:noFill/>
          <a:ln/>
        </p:spPr>
        <p:txBody>
          <a:bodyPr wrap="square" rtlCol="0" anchor="ctr"/>
          <a:lstStyle/>
          <a:p>
            <a:pPr indent="0" marL="0">
              <a:buNone/>
            </a:pPr>
            <a:r>
              <a:rPr lang="en-US" sz="1100" b="1" spc="200" kern="0" dirty="0">
                <a:solidFill>
                  <a:srgbClr val="1B2A4A"/>
                </a:solidFill>
                <a:latin typeface="Arial" pitchFamily="34" charset="0"/>
                <a:ea typeface="Arial" pitchFamily="34" charset="-122"/>
                <a:cs typeface="Arial" pitchFamily="34" charset="-120"/>
              </a:rPr>
              <a:t>RISING</a:t>
            </a:r>
            <a:endParaRPr lang="en-US" sz="1100" dirty="0"/>
          </a:p>
        </p:txBody>
      </p:sp>
      <p:sp>
        <p:nvSpPr>
          <p:cNvPr id="14" name="Shape 12"/>
          <p:cNvSpPr/>
          <p:nvPr/>
        </p:nvSpPr>
        <p:spPr>
          <a:xfrm>
            <a:off x="6309360" y="1280160"/>
            <a:ext cx="2651760" cy="2743200"/>
          </a:xfrm>
          <a:prstGeom prst="rect">
            <a:avLst/>
          </a:prstGeom>
          <a:solidFill>
            <a:srgbClr val="F5F6F8"/>
          </a:solidFill>
          <a:ln/>
          <a:effectLst>
            <a:outerShdw sx="100000" sy="100000" kx="0" ky="0" algn="bl" rotWithShape="0" blurRad="50800" dist="25400" dir="8100000">
              <a:srgbClr val="000000">
                <a:alpha val="10000"/>
              </a:srgbClr>
            </a:outerShdw>
          </a:effectLst>
        </p:spPr>
      </p:sp>
      <p:sp>
        <p:nvSpPr>
          <p:cNvPr id="15" name="Shape 13"/>
          <p:cNvSpPr/>
          <p:nvPr/>
        </p:nvSpPr>
        <p:spPr>
          <a:xfrm>
            <a:off x="6309360" y="1280160"/>
            <a:ext cx="2651760" cy="54864"/>
          </a:xfrm>
          <a:prstGeom prst="rect">
            <a:avLst/>
          </a:prstGeom>
          <a:solidFill>
            <a:srgbClr val="0F6E56"/>
          </a:solidFill>
          <a:ln/>
        </p:spPr>
      </p:sp>
      <p:sp>
        <p:nvSpPr>
          <p:cNvPr id="16" name="Text 14"/>
          <p:cNvSpPr/>
          <p:nvPr/>
        </p:nvSpPr>
        <p:spPr>
          <a:xfrm>
            <a:off x="6492240" y="1554480"/>
            <a:ext cx="2286000" cy="457200"/>
          </a:xfrm>
          <a:prstGeom prst="rect">
            <a:avLst/>
          </a:prstGeom>
          <a:noFill/>
          <a:ln/>
        </p:spPr>
        <p:txBody>
          <a:bodyPr wrap="square" rtlCol="0" anchor="ctr"/>
          <a:lstStyle/>
          <a:p>
            <a:pPr indent="0" marL="0">
              <a:buNone/>
            </a:pPr>
            <a:r>
              <a:rPr lang="en-US" sz="1600" b="1" dirty="0">
                <a:solidFill>
                  <a:srgbClr val="1B2A4A"/>
                </a:solidFill>
                <a:latin typeface="Georgia" pitchFamily="34" charset="0"/>
                <a:ea typeface="Georgia" pitchFamily="34" charset="-122"/>
                <a:cs typeface="Georgia" pitchFamily="34" charset="-120"/>
              </a:rPr>
              <a:t>Outcome-linked</a:t>
            </a:r>
            <a:endParaRPr lang="en-US" sz="1600" dirty="0"/>
          </a:p>
        </p:txBody>
      </p:sp>
      <p:sp>
        <p:nvSpPr>
          <p:cNvPr id="17" name="Text 15"/>
          <p:cNvSpPr/>
          <p:nvPr/>
        </p:nvSpPr>
        <p:spPr>
          <a:xfrm>
            <a:off x="6492240" y="2103120"/>
            <a:ext cx="2286000" cy="914400"/>
          </a:xfrm>
          <a:prstGeom prst="rect">
            <a:avLst/>
          </a:prstGeom>
          <a:noFill/>
          <a:ln/>
        </p:spPr>
        <p:txBody>
          <a:bodyPr wrap="square" rtlCol="0" anchor="ctr"/>
          <a:lstStyle/>
          <a:p>
            <a:pPr indent="0" marL="0">
              <a:buNone/>
            </a:pPr>
            <a:r>
              <a:rPr lang="en-US" sz="1200" dirty="0">
                <a:solidFill>
                  <a:srgbClr val="555555"/>
                </a:solidFill>
                <a:latin typeface="Arial" pitchFamily="34" charset="0"/>
                <a:ea typeface="Arial" pitchFamily="34" charset="-122"/>
                <a:cs typeface="Arial" pitchFamily="34" charset="-120"/>
              </a:rPr>
              <a:t>Value = impact</a:t>
            </a:r>
            <a:endParaRPr lang="en-US" sz="1200" dirty="0"/>
          </a:p>
          <a:p>
            <a:pPr indent="0" marL="0">
              <a:buNone/>
            </a:pPr>
            <a:r>
              <a:rPr lang="en-US" sz="1200" dirty="0">
                <a:solidFill>
                  <a:srgbClr val="555555"/>
                </a:solidFill>
                <a:latin typeface="Arial" pitchFamily="34" charset="0"/>
                <a:ea typeface="Arial" pitchFamily="34" charset="-122"/>
                <a:cs typeface="Arial" pitchFamily="34" charset="-120"/>
              </a:rPr>
              <a:t>What did the product deliver?</a:t>
            </a:r>
            <a:endParaRPr lang="en-US" sz="1200" dirty="0"/>
          </a:p>
        </p:txBody>
      </p:sp>
      <p:sp>
        <p:nvSpPr>
          <p:cNvPr id="18" name="Text 16"/>
          <p:cNvSpPr/>
          <p:nvPr/>
        </p:nvSpPr>
        <p:spPr>
          <a:xfrm>
            <a:off x="6492240" y="3291840"/>
            <a:ext cx="2286000" cy="365760"/>
          </a:xfrm>
          <a:prstGeom prst="rect">
            <a:avLst/>
          </a:prstGeom>
          <a:noFill/>
          <a:ln/>
        </p:spPr>
        <p:txBody>
          <a:bodyPr wrap="square" rtlCol="0" anchor="ctr"/>
          <a:lstStyle/>
          <a:p>
            <a:pPr indent="0" marL="0">
              <a:buNone/>
            </a:pPr>
            <a:r>
              <a:rPr lang="en-US" sz="1100" b="1" spc="200" kern="0" dirty="0">
                <a:solidFill>
                  <a:srgbClr val="0F6E56"/>
                </a:solidFill>
                <a:latin typeface="Arial" pitchFamily="34" charset="0"/>
                <a:ea typeface="Arial" pitchFamily="34" charset="-122"/>
                <a:cs typeface="Arial" pitchFamily="34" charset="-120"/>
              </a:rPr>
              <a:t>EMERGING</a:t>
            </a:r>
            <a:endParaRPr lang="en-US" sz="1100" dirty="0"/>
          </a:p>
        </p:txBody>
      </p:sp>
      <p:sp>
        <p:nvSpPr>
          <p:cNvPr id="19" name="Text 17"/>
          <p:cNvSpPr/>
          <p:nvPr/>
        </p:nvSpPr>
        <p:spPr>
          <a:xfrm>
            <a:off x="731520" y="4206240"/>
            <a:ext cx="7680960" cy="640080"/>
          </a:xfrm>
          <a:prstGeom prst="rect">
            <a:avLst/>
          </a:prstGeom>
          <a:noFill/>
          <a:ln/>
        </p:spPr>
        <p:txBody>
          <a:bodyPr wrap="square" rtlCol="0" anchor="ctr"/>
          <a:lstStyle/>
          <a:p>
            <a:pPr indent="0" marL="0">
              <a:buNone/>
            </a:pPr>
            <a:r>
              <a:rPr lang="en-US" sz="1300" i="1" dirty="0">
                <a:solidFill>
                  <a:srgbClr val="555555"/>
                </a:solidFill>
                <a:latin typeface="Georgia" pitchFamily="34" charset="0"/>
                <a:ea typeface="Georgia" pitchFamily="34" charset="-122"/>
                <a:cs typeface="Georgia" pitchFamily="34" charset="-120"/>
              </a:rPr>
              <a:t>When shelfware disappears, the PMM’s job extends deep into post-sale — helping customers find reasons to use 70 more seats, not just the 30 they’re paying for.</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A2E"/>
        </a:solidFill>
      </p:bgPr>
    </p:bg>
    <p:spTree>
      <p:nvGrpSpPr>
        <p:cNvPr id="1" name=""/>
        <p:cNvGrpSpPr/>
        <p:nvPr/>
      </p:nvGrpSpPr>
      <p:grpSpPr>
        <a:xfrm>
          <a:off x="0" y="0"/>
          <a:ext cx="0" cy="0"/>
          <a:chOff x="0" y="0"/>
          <a:chExt cx="0" cy="0"/>
        </a:xfrm>
      </p:grpSpPr>
      <p:sp>
        <p:nvSpPr>
          <p:cNvPr id="2" name="Text 0"/>
          <p:cNvSpPr/>
          <p:nvPr/>
        </p:nvSpPr>
        <p:spPr>
          <a:xfrm>
            <a:off x="731520" y="320040"/>
            <a:ext cx="73152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The 10x PMM</a:t>
            </a:r>
            <a:endParaRPr lang="en-US" sz="2800" dirty="0"/>
          </a:p>
        </p:txBody>
      </p:sp>
      <p:sp>
        <p:nvSpPr>
          <p:cNvPr id="3" name="Shape 1"/>
          <p:cNvSpPr/>
          <p:nvPr/>
        </p:nvSpPr>
        <p:spPr>
          <a:xfrm>
            <a:off x="731520" y="914400"/>
            <a:ext cx="1097280" cy="36576"/>
          </a:xfrm>
          <a:prstGeom prst="rect">
            <a:avLst/>
          </a:prstGeom>
          <a:solidFill>
            <a:srgbClr val="B8860B"/>
          </a:solidFill>
          <a:ln/>
        </p:spPr>
      </p:sp>
      <p:sp>
        <p:nvSpPr>
          <p:cNvPr id="4" name="Shape 2"/>
          <p:cNvSpPr/>
          <p:nvPr/>
        </p:nvSpPr>
        <p:spPr>
          <a:xfrm>
            <a:off x="457200" y="1188720"/>
            <a:ext cx="3931920" cy="3108960"/>
          </a:xfrm>
          <a:prstGeom prst="rect">
            <a:avLst/>
          </a:prstGeom>
          <a:solidFill>
            <a:srgbClr val="132B3A"/>
          </a:solidFill>
          <a:ln/>
        </p:spPr>
      </p:sp>
      <p:sp>
        <p:nvSpPr>
          <p:cNvPr id="5" name="Text 3"/>
          <p:cNvSpPr/>
          <p:nvPr/>
        </p:nvSpPr>
        <p:spPr>
          <a:xfrm>
            <a:off x="457200" y="1188720"/>
            <a:ext cx="3931920" cy="457200"/>
          </a:xfrm>
          <a:prstGeom prst="rect">
            <a:avLst/>
          </a:prstGeom>
          <a:noFill/>
          <a:ln/>
        </p:spPr>
        <p:txBody>
          <a:bodyPr wrap="square" rtlCol="0" anchor="ctr"/>
          <a:lstStyle/>
          <a:p>
            <a:pPr algn="ctr" indent="0" marL="0">
              <a:buNone/>
            </a:pPr>
            <a:r>
              <a:rPr lang="en-US" sz="1400" b="1" spc="300" kern="0" dirty="0">
                <a:solidFill>
                  <a:srgbClr val="8899AA"/>
                </a:solidFill>
                <a:latin typeface="Arial" pitchFamily="34" charset="0"/>
                <a:ea typeface="Arial" pitchFamily="34" charset="-122"/>
                <a:cs typeface="Arial" pitchFamily="34" charset="-120"/>
              </a:rPr>
              <a:t>1x PMM</a:t>
            </a:r>
            <a:endParaRPr lang="en-US" sz="1400" dirty="0"/>
          </a:p>
        </p:txBody>
      </p:sp>
      <p:sp>
        <p:nvSpPr>
          <p:cNvPr id="6" name="Text 4"/>
          <p:cNvSpPr/>
          <p:nvPr/>
        </p:nvSpPr>
        <p:spPr>
          <a:xfrm>
            <a:off x="457200" y="1554480"/>
            <a:ext cx="3931920" cy="365760"/>
          </a:xfrm>
          <a:prstGeom prst="rect">
            <a:avLst/>
          </a:prstGeom>
          <a:noFill/>
          <a:ln/>
        </p:spPr>
        <p:txBody>
          <a:bodyPr wrap="square" rtlCol="0" anchor="ctr"/>
          <a:lstStyle/>
          <a:p>
            <a:pPr algn="ctr" indent="0" marL="0">
              <a:buNone/>
            </a:pPr>
            <a:r>
              <a:rPr lang="en-US" sz="1100" i="1" dirty="0">
                <a:solidFill>
                  <a:srgbClr val="8899AA"/>
                </a:solidFill>
                <a:latin typeface="Arial" pitchFamily="34" charset="0"/>
                <a:ea typeface="Arial" pitchFamily="34" charset="-122"/>
                <a:cs typeface="Arial" pitchFamily="34" charset="-120"/>
              </a:rPr>
              <a:t>Same job, better tools</a:t>
            </a:r>
            <a:endParaRPr lang="en-US" sz="1100" dirty="0"/>
          </a:p>
        </p:txBody>
      </p:sp>
      <p:sp>
        <p:nvSpPr>
          <p:cNvPr id="7" name="Text 5"/>
          <p:cNvSpPr/>
          <p:nvPr/>
        </p:nvSpPr>
        <p:spPr>
          <a:xfrm>
            <a:off x="731520" y="2103120"/>
            <a:ext cx="3383280" cy="2011680"/>
          </a:xfrm>
          <a:prstGeom prst="rect">
            <a:avLst/>
          </a:prstGeom>
          <a:noFill/>
          <a:ln/>
        </p:spPr>
        <p:txBody>
          <a:bodyPr wrap="square" rtlCol="0" anchor="ctr"/>
          <a:lstStyle/>
          <a:p>
            <a:pPr marL="342900" indent="-342900">
              <a:buSzPct val="100000"/>
              <a:buChar char="•"/>
            </a:pPr>
            <a:r>
              <a:rPr lang="en-US" sz="1200" dirty="0">
                <a:solidFill>
                  <a:srgbClr val="8899AA"/>
                </a:solidFill>
                <a:latin typeface="Arial" pitchFamily="34" charset="0"/>
                <a:ea typeface="Arial" pitchFamily="34" charset="-122"/>
                <a:cs typeface="Arial" pitchFamily="34" charset="-120"/>
              </a:rPr>
              <a:t>60% time on content production</a:t>
            </a:r>
            <a:endParaRPr lang="en-US" sz="1200" dirty="0"/>
          </a:p>
          <a:p>
            <a:pPr marL="342900" indent="-342900">
              <a:buSzPct val="100000"/>
              <a:buChar char="•"/>
            </a:pPr>
            <a:r>
              <a:rPr lang="en-US" sz="1200" dirty="0">
                <a:solidFill>
                  <a:srgbClr val="8899AA"/>
                </a:solidFill>
                <a:latin typeface="Arial" pitchFamily="34" charset="0"/>
                <a:ea typeface="Arial" pitchFamily="34" charset="-122"/>
                <a:cs typeface="Arial" pitchFamily="34" charset="-120"/>
              </a:rPr>
              <a:t>Uses AI to write messaging docs faster</a:t>
            </a:r>
            <a:endParaRPr lang="en-US" sz="1200" dirty="0"/>
          </a:p>
          <a:p>
            <a:pPr marL="342900" indent="-342900">
              <a:buSzPct val="100000"/>
              <a:buChar char="•"/>
            </a:pPr>
            <a:r>
              <a:rPr lang="en-US" sz="1200" dirty="0">
                <a:solidFill>
                  <a:srgbClr val="8899AA"/>
                </a:solidFill>
                <a:latin typeface="Arial" pitchFamily="34" charset="0"/>
                <a:ea typeface="Arial" pitchFamily="34" charset="-122"/>
                <a:cs typeface="Arial" pitchFamily="34" charset="-120"/>
              </a:rPr>
              <a:t>Generates more content with AI</a:t>
            </a:r>
            <a:endParaRPr lang="en-US" sz="1200" dirty="0"/>
          </a:p>
          <a:p>
            <a:pPr marL="342900" indent="-342900">
              <a:buSzPct val="100000"/>
              <a:buChar char="•"/>
            </a:pPr>
            <a:r>
              <a:rPr lang="en-US" sz="1200" dirty="0">
                <a:solidFill>
                  <a:srgbClr val="8899AA"/>
                </a:solidFill>
                <a:latin typeface="Arial" pitchFamily="34" charset="0"/>
                <a:ea typeface="Arial" pitchFamily="34" charset="-122"/>
                <a:cs typeface="Arial" pitchFamily="34" charset="-120"/>
              </a:rPr>
              <a:t>Builds battlecards with AI assist</a:t>
            </a:r>
            <a:endParaRPr lang="en-US" sz="1200" dirty="0"/>
          </a:p>
          <a:p>
            <a:pPr marL="342900" indent="-342900">
              <a:buSzPct val="100000"/>
              <a:buChar char="•"/>
            </a:pPr>
            <a:r>
              <a:rPr lang="en-US" sz="1200" dirty="0">
                <a:solidFill>
                  <a:srgbClr val="8899AA"/>
                </a:solidFill>
                <a:latin typeface="Arial" pitchFamily="34" charset="0"/>
                <a:ea typeface="Arial" pitchFamily="34" charset="-122"/>
                <a:cs typeface="Arial" pitchFamily="34" charset="-120"/>
              </a:rPr>
              <a:t>Same playbook, faster</a:t>
            </a:r>
            <a:endParaRPr lang="en-US" sz="1200" dirty="0"/>
          </a:p>
        </p:txBody>
      </p:sp>
      <p:sp>
        <p:nvSpPr>
          <p:cNvPr id="8" name="Shape 6"/>
          <p:cNvSpPr/>
          <p:nvPr/>
        </p:nvSpPr>
        <p:spPr>
          <a:xfrm>
            <a:off x="4754880" y="1188720"/>
            <a:ext cx="3931920" cy="3108960"/>
          </a:xfrm>
          <a:prstGeom prst="rect">
            <a:avLst/>
          </a:prstGeom>
          <a:solidFill>
            <a:srgbClr val="0A2E24"/>
          </a:solidFill>
          <a:ln/>
        </p:spPr>
      </p:sp>
      <p:sp>
        <p:nvSpPr>
          <p:cNvPr id="9" name="Text 7"/>
          <p:cNvSpPr/>
          <p:nvPr/>
        </p:nvSpPr>
        <p:spPr>
          <a:xfrm>
            <a:off x="4754880" y="1188720"/>
            <a:ext cx="3931920" cy="457200"/>
          </a:xfrm>
          <a:prstGeom prst="rect">
            <a:avLst/>
          </a:prstGeom>
          <a:noFill/>
          <a:ln/>
        </p:spPr>
        <p:txBody>
          <a:bodyPr wrap="square" rtlCol="0" anchor="ctr"/>
          <a:lstStyle/>
          <a:p>
            <a:pPr algn="ctr" indent="0" marL="0">
              <a:buNone/>
            </a:pPr>
            <a:r>
              <a:rPr lang="en-US" sz="1400" b="1" spc="300" kern="0" dirty="0">
                <a:solidFill>
                  <a:srgbClr val="B8860B"/>
                </a:solidFill>
                <a:latin typeface="Arial" pitchFamily="34" charset="0"/>
                <a:ea typeface="Arial" pitchFamily="34" charset="-122"/>
                <a:cs typeface="Arial" pitchFamily="34" charset="-120"/>
              </a:rPr>
              <a:t>10x PMM</a:t>
            </a:r>
            <a:endParaRPr lang="en-US" sz="1400" dirty="0"/>
          </a:p>
        </p:txBody>
      </p:sp>
      <p:sp>
        <p:nvSpPr>
          <p:cNvPr id="10" name="Text 8"/>
          <p:cNvSpPr/>
          <p:nvPr/>
        </p:nvSpPr>
        <p:spPr>
          <a:xfrm>
            <a:off x="4754880" y="1554480"/>
            <a:ext cx="3931920" cy="365760"/>
          </a:xfrm>
          <a:prstGeom prst="rect">
            <a:avLst/>
          </a:prstGeom>
          <a:noFill/>
          <a:ln/>
        </p:spPr>
        <p:txBody>
          <a:bodyPr wrap="square" rtlCol="0" anchor="ctr"/>
          <a:lstStyle/>
          <a:p>
            <a:pPr algn="ctr" indent="0" marL="0">
              <a:buNone/>
            </a:pPr>
            <a:r>
              <a:rPr lang="en-US" sz="1100" i="1" dirty="0">
                <a:solidFill>
                  <a:srgbClr val="B8860B"/>
                </a:solidFill>
                <a:latin typeface="Arial" pitchFamily="34" charset="0"/>
                <a:ea typeface="Arial" pitchFamily="34" charset="-122"/>
                <a:cs typeface="Arial" pitchFamily="34" charset="-120"/>
              </a:rPr>
              <a:t>Different job, different model</a:t>
            </a:r>
            <a:endParaRPr lang="en-US" sz="1100" dirty="0"/>
          </a:p>
        </p:txBody>
      </p:sp>
      <p:sp>
        <p:nvSpPr>
          <p:cNvPr id="11" name="Text 9"/>
          <p:cNvSpPr/>
          <p:nvPr/>
        </p:nvSpPr>
        <p:spPr>
          <a:xfrm>
            <a:off x="5029200" y="2103120"/>
            <a:ext cx="3383280" cy="2011680"/>
          </a:xfrm>
          <a:prstGeom prst="rect">
            <a:avLst/>
          </a:prstGeom>
          <a:noFill/>
          <a:ln/>
        </p:spPr>
        <p:txBody>
          <a:bodyPr wrap="square" rtlCol="0" anchor="ctr"/>
          <a:lstStyle/>
          <a:p>
            <a:pPr marL="342900" indent="-342900">
              <a:buSzPct val="100000"/>
              <a:buChar char="•"/>
            </a:pPr>
            <a:r>
              <a:rPr lang="en-US" sz="1200" dirty="0">
                <a:solidFill>
                  <a:srgbClr val="FFFFFF"/>
                </a:solidFill>
                <a:latin typeface="Arial" pitchFamily="34" charset="0"/>
                <a:ea typeface="Arial" pitchFamily="34" charset="-122"/>
                <a:cs typeface="Arial" pitchFamily="34" charset="-120"/>
              </a:rPr>
              <a:t>60% time on strategy &amp; judgment</a:t>
            </a:r>
            <a:endParaRPr lang="en-US" sz="1200" dirty="0"/>
          </a:p>
          <a:p>
            <a:pPr marL="342900" indent="-342900">
              <a:buSzPct val="100000"/>
              <a:buChar char="•"/>
            </a:pPr>
            <a:r>
              <a:rPr lang="en-US" sz="1200" dirty="0">
                <a:solidFill>
                  <a:srgbClr val="FFFFFF"/>
                </a:solidFill>
                <a:latin typeface="Arial" pitchFamily="34" charset="0"/>
                <a:ea typeface="Arial" pitchFamily="34" charset="-122"/>
                <a:cs typeface="Arial" pitchFamily="34" charset="-120"/>
              </a:rPr>
              <a:t>Questions whether the artifact is right</a:t>
            </a:r>
            <a:endParaRPr lang="en-US" sz="1200" dirty="0"/>
          </a:p>
          <a:p>
            <a:pPr marL="342900" indent="-342900">
              <a:buSzPct val="100000"/>
              <a:buChar char="•"/>
            </a:pPr>
            <a:r>
              <a:rPr lang="en-US" sz="1200" dirty="0">
                <a:solidFill>
                  <a:srgbClr val="FFFFFF"/>
                </a:solidFill>
                <a:latin typeface="Arial" pitchFamily="34" charset="0"/>
                <a:ea typeface="Arial" pitchFamily="34" charset="-122"/>
                <a:cs typeface="Arial" pitchFamily="34" charset="-120"/>
              </a:rPr>
              <a:t>Audits content for agent visibility</a:t>
            </a:r>
            <a:endParaRPr lang="en-US" sz="1200" dirty="0"/>
          </a:p>
          <a:p>
            <a:pPr marL="342900" indent="-342900">
              <a:buSzPct val="100000"/>
              <a:buChar char="•"/>
            </a:pPr>
            <a:r>
              <a:rPr lang="en-US" sz="1200" dirty="0">
                <a:solidFill>
                  <a:srgbClr val="FFFFFF"/>
                </a:solidFill>
                <a:latin typeface="Arial" pitchFamily="34" charset="0"/>
                <a:ea typeface="Arial" pitchFamily="34" charset="-122"/>
                <a:cs typeface="Arial" pitchFamily="34" charset="-120"/>
              </a:rPr>
              <a:t>Builds living CI systems</a:t>
            </a:r>
            <a:endParaRPr lang="en-US" sz="1200" dirty="0"/>
          </a:p>
          <a:p>
            <a:pPr marL="342900" indent="-342900">
              <a:buSzPct val="100000"/>
              <a:buChar char="•"/>
            </a:pPr>
            <a:r>
              <a:rPr lang="en-US" sz="1200" dirty="0">
                <a:solidFill>
                  <a:srgbClr val="FFFFFF"/>
                </a:solidFill>
                <a:latin typeface="Arial" pitchFamily="34" charset="0"/>
                <a:ea typeface="Arial" pitchFamily="34" charset="-122"/>
                <a:cs typeface="Arial" pitchFamily="34" charset="-120"/>
              </a:rPr>
              <a:t>New playbook, different problems</a:t>
            </a:r>
            <a:endParaRPr lang="en-US" sz="1200" dirty="0"/>
          </a:p>
        </p:txBody>
      </p:sp>
      <p:sp>
        <p:nvSpPr>
          <p:cNvPr id="12" name="Text 10"/>
          <p:cNvSpPr/>
          <p:nvPr/>
        </p:nvSpPr>
        <p:spPr>
          <a:xfrm>
            <a:off x="731520" y="4480560"/>
            <a:ext cx="7680960" cy="457200"/>
          </a:xfrm>
          <a:prstGeom prst="rect">
            <a:avLst/>
          </a:prstGeom>
          <a:noFill/>
          <a:ln/>
        </p:spPr>
        <p:txBody>
          <a:bodyPr wrap="square" rtlCol="0" anchor="ctr"/>
          <a:lstStyle/>
          <a:p>
            <a:pPr indent="0" marL="0">
              <a:buNone/>
            </a:pPr>
            <a:r>
              <a:rPr lang="en-US" sz="1200" i="1" dirty="0">
                <a:solidFill>
                  <a:srgbClr val="8899AA"/>
                </a:solidFill>
                <a:latin typeface="Georgia" pitchFamily="34" charset="0"/>
                <a:ea typeface="Georgia" pitchFamily="34" charset="-122"/>
                <a:cs typeface="Georgia" pitchFamily="34" charset="-120"/>
              </a:rPr>
              <a:t>“The 10x PMM is not the one with the best prompt library. It is the one who has fundamentally rewired how they think about markets, products, and customers.”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20040"/>
            <a:ext cx="7315200" cy="548640"/>
          </a:xfrm>
          <a:prstGeom prst="rect">
            <a:avLst/>
          </a:prstGeom>
          <a:noFill/>
          <a:ln/>
        </p:spPr>
        <p:txBody>
          <a:bodyPr wrap="square" rtlCol="0" anchor="ctr"/>
          <a:lstStyle/>
          <a:p>
            <a:pPr indent="0" marL="0">
              <a:buNone/>
            </a:pPr>
            <a:r>
              <a:rPr lang="en-US" sz="2800" b="1" dirty="0">
                <a:solidFill>
                  <a:srgbClr val="1B2A4A"/>
                </a:solidFill>
                <a:latin typeface="Georgia" pitchFamily="34" charset="0"/>
                <a:ea typeface="Georgia" pitchFamily="34" charset="-122"/>
                <a:cs typeface="Georgia" pitchFamily="34" charset="-120"/>
              </a:rPr>
              <a:t>The Pragmatic 37, remapped</a:t>
            </a:r>
            <a:endParaRPr lang="en-US" sz="2800" dirty="0"/>
          </a:p>
        </p:txBody>
      </p:sp>
      <p:sp>
        <p:nvSpPr>
          <p:cNvPr id="3" name="Shape 1"/>
          <p:cNvSpPr/>
          <p:nvPr/>
        </p:nvSpPr>
        <p:spPr>
          <a:xfrm>
            <a:off x="731520" y="914400"/>
            <a:ext cx="1097280" cy="36576"/>
          </a:xfrm>
          <a:prstGeom prst="rect">
            <a:avLst/>
          </a:prstGeom>
          <a:solidFill>
            <a:srgbClr val="0F6E56"/>
          </a:solidFill>
          <a:ln/>
        </p:spPr>
      </p:sp>
      <p:sp>
        <p:nvSpPr>
          <p:cNvPr id="4" name="Text 2"/>
          <p:cNvSpPr/>
          <p:nvPr/>
        </p:nvSpPr>
        <p:spPr>
          <a:xfrm>
            <a:off x="731520" y="1097280"/>
            <a:ext cx="7680960" cy="457200"/>
          </a:xfrm>
          <a:prstGeom prst="rect">
            <a:avLst/>
          </a:prstGeom>
          <a:noFill/>
          <a:ln/>
        </p:spPr>
        <p:txBody>
          <a:bodyPr wrap="square" rtlCol="0" anchor="ctr"/>
          <a:lstStyle/>
          <a:p>
            <a:pPr indent="0" marL="0">
              <a:buNone/>
            </a:pPr>
            <a:r>
              <a:rPr lang="en-US" sz="1400" i="1" dirty="0">
                <a:solidFill>
                  <a:srgbClr val="555555"/>
                </a:solidFill>
                <a:latin typeface="Georgia" pitchFamily="34" charset="0"/>
                <a:ea typeface="Georgia" pitchFamily="34" charset="-122"/>
                <a:cs typeface="Georgia" pitchFamily="34" charset="-120"/>
              </a:rPr>
              <a:t>Same boxes. Different operating tempo. Different outputs. Different skills.</a:t>
            </a:r>
            <a:endParaRPr lang="en-US" sz="1400" dirty="0"/>
          </a:p>
        </p:txBody>
      </p:sp>
      <p:sp>
        <p:nvSpPr>
          <p:cNvPr id="5" name="Shape 3"/>
          <p:cNvSpPr/>
          <p:nvPr/>
        </p:nvSpPr>
        <p:spPr>
          <a:xfrm>
            <a:off x="457200" y="1737360"/>
            <a:ext cx="8229600" cy="685800"/>
          </a:xfrm>
          <a:prstGeom prst="rect">
            <a:avLst/>
          </a:prstGeom>
          <a:solidFill>
            <a:srgbClr val="F5F6F8"/>
          </a:solidFill>
          <a:ln/>
          <a:effectLst>
            <a:outerShdw sx="100000" sy="100000" kx="0" ky="0" algn="bl" rotWithShape="0" blurRad="50800" dist="25400" dir="8100000">
              <a:srgbClr val="000000">
                <a:alpha val="10000"/>
              </a:srgbClr>
            </a:outerShdw>
          </a:effectLst>
        </p:spPr>
      </p:sp>
      <p:sp>
        <p:nvSpPr>
          <p:cNvPr id="6" name="Shape 4"/>
          <p:cNvSpPr/>
          <p:nvPr/>
        </p:nvSpPr>
        <p:spPr>
          <a:xfrm>
            <a:off x="457200" y="1737360"/>
            <a:ext cx="73152" cy="685800"/>
          </a:xfrm>
          <a:prstGeom prst="rect">
            <a:avLst/>
          </a:prstGeom>
          <a:solidFill>
            <a:srgbClr val="1B2A4A"/>
          </a:solidFill>
          <a:ln/>
        </p:spPr>
      </p:sp>
      <p:sp>
        <p:nvSpPr>
          <p:cNvPr id="7" name="Text 5"/>
          <p:cNvSpPr/>
          <p:nvPr/>
        </p:nvSpPr>
        <p:spPr>
          <a:xfrm>
            <a:off x="731520" y="1737360"/>
            <a:ext cx="2011680" cy="685800"/>
          </a:xfrm>
          <a:prstGeom prst="rect">
            <a:avLst/>
          </a:prstGeom>
          <a:noFill/>
          <a:ln/>
        </p:spPr>
        <p:txBody>
          <a:bodyPr wrap="square" rtlCol="0" anchor="ctr"/>
          <a:lstStyle/>
          <a:p>
            <a:pPr indent="0" marL="0">
              <a:buNone/>
            </a:pPr>
            <a:r>
              <a:rPr lang="en-US" sz="1300" b="1" dirty="0">
                <a:solidFill>
                  <a:srgbClr val="1B2A4A"/>
                </a:solidFill>
                <a:latin typeface="Georgia" pitchFamily="34" charset="0"/>
                <a:ea typeface="Georgia" pitchFamily="34" charset="-122"/>
                <a:cs typeface="Georgia" pitchFamily="34" charset="-120"/>
              </a:rPr>
              <a:t>Competitive Landscape</a:t>
            </a:r>
            <a:endParaRPr lang="en-US" sz="1300" dirty="0"/>
          </a:p>
        </p:txBody>
      </p:sp>
      <p:sp>
        <p:nvSpPr>
          <p:cNvPr id="8" name="Text 6"/>
          <p:cNvSpPr/>
          <p:nvPr/>
        </p:nvSpPr>
        <p:spPr>
          <a:xfrm>
            <a:off x="2743200" y="1737360"/>
            <a:ext cx="2560320" cy="685800"/>
          </a:xfrm>
          <a:prstGeom prst="rect">
            <a:avLst/>
          </a:prstGeom>
          <a:noFill/>
          <a:ln/>
        </p:spPr>
        <p:txBody>
          <a:bodyPr wrap="square" rtlCol="0" anchor="ctr"/>
          <a:lstStyle/>
          <a:p>
            <a:pPr indent="0" marL="0">
              <a:buNone/>
            </a:pPr>
            <a:r>
              <a:rPr lang="en-US" sz="1100" dirty="0">
                <a:solidFill>
                  <a:srgbClr val="8899AA"/>
                </a:solidFill>
                <a:latin typeface="Arial" pitchFamily="34" charset="0"/>
                <a:ea typeface="Arial" pitchFamily="34" charset="-122"/>
                <a:cs typeface="Arial" pitchFamily="34" charset="-120"/>
              </a:rPr>
              <a:t>Quarterly battlecard update</a:t>
            </a:r>
            <a:endParaRPr lang="en-US" sz="1100" dirty="0"/>
          </a:p>
        </p:txBody>
      </p:sp>
      <p:sp>
        <p:nvSpPr>
          <p:cNvPr id="9" name="Text 7"/>
          <p:cNvSpPr/>
          <p:nvPr/>
        </p:nvSpPr>
        <p:spPr>
          <a:xfrm>
            <a:off x="5120640" y="1737360"/>
            <a:ext cx="365760" cy="685800"/>
          </a:xfrm>
          <a:prstGeom prst="rect">
            <a:avLst/>
          </a:prstGeom>
          <a:noFill/>
          <a:ln/>
        </p:spPr>
        <p:txBody>
          <a:bodyPr wrap="square" rtlCol="0" anchor="ctr"/>
          <a:lstStyle/>
          <a:p>
            <a:pPr algn="ctr" indent="0" marL="0">
              <a:buNone/>
            </a:pPr>
            <a:r>
              <a:rPr lang="en-US" sz="1600" dirty="0">
                <a:solidFill>
                  <a:srgbClr val="0F6E56"/>
                </a:solidFill>
                <a:latin typeface="Arial" pitchFamily="34" charset="0"/>
                <a:ea typeface="Arial" pitchFamily="34" charset="-122"/>
                <a:cs typeface="Arial" pitchFamily="34" charset="-120"/>
              </a:rPr>
              <a:t>→</a:t>
            </a:r>
            <a:endParaRPr lang="en-US" sz="1600" dirty="0"/>
          </a:p>
        </p:txBody>
      </p:sp>
      <p:sp>
        <p:nvSpPr>
          <p:cNvPr id="10" name="Text 8"/>
          <p:cNvSpPr/>
          <p:nvPr/>
        </p:nvSpPr>
        <p:spPr>
          <a:xfrm>
            <a:off x="5486400" y="1737360"/>
            <a:ext cx="3017520" cy="685800"/>
          </a:xfrm>
          <a:prstGeom prst="rect">
            <a:avLst/>
          </a:prstGeom>
          <a:noFill/>
          <a:ln/>
        </p:spPr>
        <p:txBody>
          <a:bodyPr wrap="square" rtlCol="0" anchor="ctr"/>
          <a:lstStyle/>
          <a:p>
            <a:pPr indent="0" marL="0">
              <a:buNone/>
            </a:pPr>
            <a:r>
              <a:rPr lang="en-US" sz="1100" b="1" dirty="0">
                <a:solidFill>
                  <a:srgbClr val="0F6E56"/>
                </a:solidFill>
                <a:latin typeface="Arial" pitchFamily="34" charset="0"/>
                <a:ea typeface="Arial" pitchFamily="34" charset="-122"/>
                <a:cs typeface="Arial" pitchFamily="34" charset="-120"/>
              </a:rPr>
              <a:t>Continuous signal monitoring → living CI system</a:t>
            </a:r>
            <a:endParaRPr lang="en-US" sz="1100" dirty="0"/>
          </a:p>
        </p:txBody>
      </p:sp>
      <p:sp>
        <p:nvSpPr>
          <p:cNvPr id="11" name="Shape 9"/>
          <p:cNvSpPr/>
          <p:nvPr/>
        </p:nvSpPr>
        <p:spPr>
          <a:xfrm>
            <a:off x="457200" y="2514600"/>
            <a:ext cx="8229600" cy="685800"/>
          </a:xfrm>
          <a:prstGeom prst="rect">
            <a:avLst/>
          </a:prstGeom>
          <a:solidFill>
            <a:srgbClr val="F5F6F8"/>
          </a:solidFill>
          <a:ln/>
          <a:effectLst>
            <a:outerShdw sx="100000" sy="100000" kx="0" ky="0" algn="bl" rotWithShape="0" blurRad="50800" dist="25400" dir="8100000">
              <a:srgbClr val="000000">
                <a:alpha val="10000"/>
              </a:srgbClr>
            </a:outerShdw>
          </a:effectLst>
        </p:spPr>
      </p:sp>
      <p:sp>
        <p:nvSpPr>
          <p:cNvPr id="12" name="Shape 10"/>
          <p:cNvSpPr/>
          <p:nvPr/>
        </p:nvSpPr>
        <p:spPr>
          <a:xfrm>
            <a:off x="457200" y="2514600"/>
            <a:ext cx="73152" cy="685800"/>
          </a:xfrm>
          <a:prstGeom prst="rect">
            <a:avLst/>
          </a:prstGeom>
          <a:solidFill>
            <a:srgbClr val="0F6E56"/>
          </a:solidFill>
          <a:ln/>
        </p:spPr>
      </p:sp>
      <p:sp>
        <p:nvSpPr>
          <p:cNvPr id="13" name="Text 11"/>
          <p:cNvSpPr/>
          <p:nvPr/>
        </p:nvSpPr>
        <p:spPr>
          <a:xfrm>
            <a:off x="731520" y="2514600"/>
            <a:ext cx="2011680" cy="685800"/>
          </a:xfrm>
          <a:prstGeom prst="rect">
            <a:avLst/>
          </a:prstGeom>
          <a:noFill/>
          <a:ln/>
        </p:spPr>
        <p:txBody>
          <a:bodyPr wrap="square" rtlCol="0" anchor="ctr"/>
          <a:lstStyle/>
          <a:p>
            <a:pPr indent="0" marL="0">
              <a:buNone/>
            </a:pPr>
            <a:r>
              <a:rPr lang="en-US" sz="1300" b="1" dirty="0">
                <a:solidFill>
                  <a:srgbClr val="1B2A4A"/>
                </a:solidFill>
                <a:latin typeface="Georgia" pitchFamily="34" charset="0"/>
                <a:ea typeface="Georgia" pitchFamily="34" charset="-122"/>
                <a:cs typeface="Georgia" pitchFamily="34" charset="-120"/>
              </a:rPr>
              <a:t>Positioning</a:t>
            </a:r>
            <a:endParaRPr lang="en-US" sz="1300" dirty="0"/>
          </a:p>
        </p:txBody>
      </p:sp>
      <p:sp>
        <p:nvSpPr>
          <p:cNvPr id="14" name="Text 12"/>
          <p:cNvSpPr/>
          <p:nvPr/>
        </p:nvSpPr>
        <p:spPr>
          <a:xfrm>
            <a:off x="2743200" y="2514600"/>
            <a:ext cx="2560320" cy="685800"/>
          </a:xfrm>
          <a:prstGeom prst="rect">
            <a:avLst/>
          </a:prstGeom>
          <a:noFill/>
          <a:ln/>
        </p:spPr>
        <p:txBody>
          <a:bodyPr wrap="square" rtlCol="0" anchor="ctr"/>
          <a:lstStyle/>
          <a:p>
            <a:pPr indent="0" marL="0">
              <a:buNone/>
            </a:pPr>
            <a:r>
              <a:rPr lang="en-US" sz="1100" dirty="0">
                <a:solidFill>
                  <a:srgbClr val="8899AA"/>
                </a:solidFill>
                <a:latin typeface="Arial" pitchFamily="34" charset="0"/>
                <a:ea typeface="Arial" pitchFamily="34" charset="-122"/>
                <a:cs typeface="Arial" pitchFamily="34" charset="-120"/>
              </a:rPr>
              <a:t>PowerPoint deck for sales kickoff</a:t>
            </a:r>
            <a:endParaRPr lang="en-US" sz="1100" dirty="0"/>
          </a:p>
        </p:txBody>
      </p:sp>
      <p:sp>
        <p:nvSpPr>
          <p:cNvPr id="15" name="Text 13"/>
          <p:cNvSpPr/>
          <p:nvPr/>
        </p:nvSpPr>
        <p:spPr>
          <a:xfrm>
            <a:off x="5120640" y="2514600"/>
            <a:ext cx="365760" cy="685800"/>
          </a:xfrm>
          <a:prstGeom prst="rect">
            <a:avLst/>
          </a:prstGeom>
          <a:noFill/>
          <a:ln/>
        </p:spPr>
        <p:txBody>
          <a:bodyPr wrap="square" rtlCol="0" anchor="ctr"/>
          <a:lstStyle/>
          <a:p>
            <a:pPr algn="ctr" indent="0" marL="0">
              <a:buNone/>
            </a:pPr>
            <a:r>
              <a:rPr lang="en-US" sz="1600" dirty="0">
                <a:solidFill>
                  <a:srgbClr val="0F6E56"/>
                </a:solidFill>
                <a:latin typeface="Arial" pitchFamily="34" charset="0"/>
                <a:ea typeface="Arial" pitchFamily="34" charset="-122"/>
                <a:cs typeface="Arial" pitchFamily="34" charset="-120"/>
              </a:rPr>
              <a:t>→</a:t>
            </a:r>
            <a:endParaRPr lang="en-US" sz="1600" dirty="0"/>
          </a:p>
        </p:txBody>
      </p:sp>
      <p:sp>
        <p:nvSpPr>
          <p:cNvPr id="16" name="Text 14"/>
          <p:cNvSpPr/>
          <p:nvPr/>
        </p:nvSpPr>
        <p:spPr>
          <a:xfrm>
            <a:off x="5486400" y="2514600"/>
            <a:ext cx="3017520" cy="685800"/>
          </a:xfrm>
          <a:prstGeom prst="rect">
            <a:avLst/>
          </a:prstGeom>
          <a:noFill/>
          <a:ln/>
        </p:spPr>
        <p:txBody>
          <a:bodyPr wrap="square" rtlCol="0" anchor="ctr"/>
          <a:lstStyle/>
          <a:p>
            <a:pPr indent="0" marL="0">
              <a:buNone/>
            </a:pPr>
            <a:r>
              <a:rPr lang="en-US" sz="1100" b="1" dirty="0">
                <a:solidFill>
                  <a:srgbClr val="0F6E56"/>
                </a:solidFill>
                <a:latin typeface="Arial" pitchFamily="34" charset="0"/>
                <a:ea typeface="Arial" pitchFamily="34" charset="-122"/>
                <a:cs typeface="Arial" pitchFamily="34" charset="-120"/>
              </a:rPr>
              <a:t>Structured data layer for AI agents + human narrative</a:t>
            </a:r>
            <a:endParaRPr lang="en-US" sz="1100" dirty="0"/>
          </a:p>
        </p:txBody>
      </p:sp>
      <p:sp>
        <p:nvSpPr>
          <p:cNvPr id="17" name="Shape 15"/>
          <p:cNvSpPr/>
          <p:nvPr/>
        </p:nvSpPr>
        <p:spPr>
          <a:xfrm>
            <a:off x="457200" y="3291840"/>
            <a:ext cx="8229600" cy="685800"/>
          </a:xfrm>
          <a:prstGeom prst="rect">
            <a:avLst/>
          </a:prstGeom>
          <a:solidFill>
            <a:srgbClr val="F5F6F8"/>
          </a:solidFill>
          <a:ln/>
          <a:effectLst>
            <a:outerShdw sx="100000" sy="100000" kx="0" ky="0" algn="bl" rotWithShape="0" blurRad="50800" dist="25400" dir="8100000">
              <a:srgbClr val="000000">
                <a:alpha val="10000"/>
              </a:srgbClr>
            </a:outerShdw>
          </a:effectLst>
        </p:spPr>
      </p:sp>
      <p:sp>
        <p:nvSpPr>
          <p:cNvPr id="18" name="Shape 16"/>
          <p:cNvSpPr/>
          <p:nvPr/>
        </p:nvSpPr>
        <p:spPr>
          <a:xfrm>
            <a:off x="457200" y="3291840"/>
            <a:ext cx="73152" cy="685800"/>
          </a:xfrm>
          <a:prstGeom prst="rect">
            <a:avLst/>
          </a:prstGeom>
          <a:solidFill>
            <a:srgbClr val="B8860B"/>
          </a:solidFill>
          <a:ln/>
        </p:spPr>
      </p:sp>
      <p:sp>
        <p:nvSpPr>
          <p:cNvPr id="19" name="Text 17"/>
          <p:cNvSpPr/>
          <p:nvPr/>
        </p:nvSpPr>
        <p:spPr>
          <a:xfrm>
            <a:off x="731520" y="3291840"/>
            <a:ext cx="2011680" cy="685800"/>
          </a:xfrm>
          <a:prstGeom prst="rect">
            <a:avLst/>
          </a:prstGeom>
          <a:noFill/>
          <a:ln/>
        </p:spPr>
        <p:txBody>
          <a:bodyPr wrap="square" rtlCol="0" anchor="ctr"/>
          <a:lstStyle/>
          <a:p>
            <a:pPr indent="0" marL="0">
              <a:buNone/>
            </a:pPr>
            <a:r>
              <a:rPr lang="en-US" sz="1300" b="1" dirty="0">
                <a:solidFill>
                  <a:srgbClr val="1B2A4A"/>
                </a:solidFill>
                <a:latin typeface="Georgia" pitchFamily="34" charset="0"/>
                <a:ea typeface="Georgia" pitchFamily="34" charset="-122"/>
                <a:cs typeface="Georgia" pitchFamily="34" charset="-120"/>
              </a:rPr>
              <a:t>Win/Loss Analysis</a:t>
            </a:r>
            <a:endParaRPr lang="en-US" sz="1300" dirty="0"/>
          </a:p>
        </p:txBody>
      </p:sp>
      <p:sp>
        <p:nvSpPr>
          <p:cNvPr id="20" name="Text 18"/>
          <p:cNvSpPr/>
          <p:nvPr/>
        </p:nvSpPr>
        <p:spPr>
          <a:xfrm>
            <a:off x="2743200" y="3291840"/>
            <a:ext cx="2560320" cy="685800"/>
          </a:xfrm>
          <a:prstGeom prst="rect">
            <a:avLst/>
          </a:prstGeom>
          <a:noFill/>
          <a:ln/>
        </p:spPr>
        <p:txBody>
          <a:bodyPr wrap="square" rtlCol="0" anchor="ctr"/>
          <a:lstStyle/>
          <a:p>
            <a:pPr indent="0" marL="0">
              <a:buNone/>
            </a:pPr>
            <a:r>
              <a:rPr lang="en-US" sz="1100" dirty="0">
                <a:solidFill>
                  <a:srgbClr val="8899AA"/>
                </a:solidFill>
                <a:latin typeface="Arial" pitchFamily="34" charset="0"/>
                <a:ea typeface="Arial" pitchFamily="34" charset="-122"/>
                <a:cs typeface="Arial" pitchFamily="34" charset="-120"/>
              </a:rPr>
              <a:t>Post-mortem interviews quarterly</a:t>
            </a:r>
            <a:endParaRPr lang="en-US" sz="1100" dirty="0"/>
          </a:p>
        </p:txBody>
      </p:sp>
      <p:sp>
        <p:nvSpPr>
          <p:cNvPr id="21" name="Text 19"/>
          <p:cNvSpPr/>
          <p:nvPr/>
        </p:nvSpPr>
        <p:spPr>
          <a:xfrm>
            <a:off x="5120640" y="3291840"/>
            <a:ext cx="365760" cy="685800"/>
          </a:xfrm>
          <a:prstGeom prst="rect">
            <a:avLst/>
          </a:prstGeom>
          <a:noFill/>
          <a:ln/>
        </p:spPr>
        <p:txBody>
          <a:bodyPr wrap="square" rtlCol="0" anchor="ctr"/>
          <a:lstStyle/>
          <a:p>
            <a:pPr algn="ctr" indent="0" marL="0">
              <a:buNone/>
            </a:pPr>
            <a:r>
              <a:rPr lang="en-US" sz="1600" dirty="0">
                <a:solidFill>
                  <a:srgbClr val="0F6E56"/>
                </a:solidFill>
                <a:latin typeface="Arial" pitchFamily="34" charset="0"/>
                <a:ea typeface="Arial" pitchFamily="34" charset="-122"/>
                <a:cs typeface="Arial" pitchFamily="34" charset="-120"/>
              </a:rPr>
              <a:t>→</a:t>
            </a:r>
            <a:endParaRPr lang="en-US" sz="1600" dirty="0"/>
          </a:p>
        </p:txBody>
      </p:sp>
      <p:sp>
        <p:nvSpPr>
          <p:cNvPr id="22" name="Text 20"/>
          <p:cNvSpPr/>
          <p:nvPr/>
        </p:nvSpPr>
        <p:spPr>
          <a:xfrm>
            <a:off x="5486400" y="3291840"/>
            <a:ext cx="3017520" cy="685800"/>
          </a:xfrm>
          <a:prstGeom prst="rect">
            <a:avLst/>
          </a:prstGeom>
          <a:noFill/>
          <a:ln/>
        </p:spPr>
        <p:txBody>
          <a:bodyPr wrap="square" rtlCol="0" anchor="ctr"/>
          <a:lstStyle/>
          <a:p>
            <a:pPr indent="0" marL="0">
              <a:buNone/>
            </a:pPr>
            <a:r>
              <a:rPr lang="en-US" sz="1100" b="1" dirty="0">
                <a:solidFill>
                  <a:srgbClr val="0F6E56"/>
                </a:solidFill>
                <a:latin typeface="Arial" pitchFamily="34" charset="0"/>
                <a:ea typeface="Arial" pitchFamily="34" charset="-122"/>
                <a:cs typeface="Arial" pitchFamily="34" charset="-120"/>
              </a:rPr>
              <a:t>AI-analyzed deal recordings in real time</a:t>
            </a:r>
            <a:endParaRPr lang="en-US" sz="1100" dirty="0"/>
          </a:p>
        </p:txBody>
      </p:sp>
      <p:sp>
        <p:nvSpPr>
          <p:cNvPr id="23" name="Shape 21"/>
          <p:cNvSpPr/>
          <p:nvPr/>
        </p:nvSpPr>
        <p:spPr>
          <a:xfrm>
            <a:off x="457200" y="4069080"/>
            <a:ext cx="8229600" cy="685800"/>
          </a:xfrm>
          <a:prstGeom prst="rect">
            <a:avLst/>
          </a:prstGeom>
          <a:solidFill>
            <a:srgbClr val="F5F6F8"/>
          </a:solidFill>
          <a:ln/>
          <a:effectLst>
            <a:outerShdw sx="100000" sy="100000" kx="0" ky="0" algn="bl" rotWithShape="0" blurRad="50800" dist="25400" dir="8100000">
              <a:srgbClr val="000000">
                <a:alpha val="10000"/>
              </a:srgbClr>
            </a:outerShdw>
          </a:effectLst>
        </p:spPr>
      </p:sp>
      <p:sp>
        <p:nvSpPr>
          <p:cNvPr id="24" name="Shape 22"/>
          <p:cNvSpPr/>
          <p:nvPr/>
        </p:nvSpPr>
        <p:spPr>
          <a:xfrm>
            <a:off x="457200" y="4069080"/>
            <a:ext cx="73152" cy="685800"/>
          </a:xfrm>
          <a:prstGeom prst="rect">
            <a:avLst/>
          </a:prstGeom>
          <a:solidFill>
            <a:srgbClr val="1B2A4A"/>
          </a:solidFill>
          <a:ln/>
        </p:spPr>
      </p:sp>
      <p:sp>
        <p:nvSpPr>
          <p:cNvPr id="25" name="Text 23"/>
          <p:cNvSpPr/>
          <p:nvPr/>
        </p:nvSpPr>
        <p:spPr>
          <a:xfrm>
            <a:off x="731520" y="4069080"/>
            <a:ext cx="2011680" cy="685800"/>
          </a:xfrm>
          <a:prstGeom prst="rect">
            <a:avLst/>
          </a:prstGeom>
          <a:noFill/>
          <a:ln/>
        </p:spPr>
        <p:txBody>
          <a:bodyPr wrap="square" rtlCol="0" anchor="ctr"/>
          <a:lstStyle/>
          <a:p>
            <a:pPr indent="0" marL="0">
              <a:buNone/>
            </a:pPr>
            <a:r>
              <a:rPr lang="en-US" sz="1300" b="1" dirty="0">
                <a:solidFill>
                  <a:srgbClr val="1B2A4A"/>
                </a:solidFill>
                <a:latin typeface="Georgia" pitchFamily="34" charset="0"/>
                <a:ea typeface="Georgia" pitchFamily="34" charset="-122"/>
                <a:cs typeface="Georgia" pitchFamily="34" charset="-120"/>
              </a:rPr>
              <a:t>Content</a:t>
            </a:r>
            <a:endParaRPr lang="en-US" sz="1300" dirty="0"/>
          </a:p>
        </p:txBody>
      </p:sp>
      <p:sp>
        <p:nvSpPr>
          <p:cNvPr id="26" name="Text 24"/>
          <p:cNvSpPr/>
          <p:nvPr/>
        </p:nvSpPr>
        <p:spPr>
          <a:xfrm>
            <a:off x="2743200" y="4069080"/>
            <a:ext cx="2560320" cy="685800"/>
          </a:xfrm>
          <a:prstGeom prst="rect">
            <a:avLst/>
          </a:prstGeom>
          <a:noFill/>
          <a:ln/>
        </p:spPr>
        <p:txBody>
          <a:bodyPr wrap="square" rtlCol="0" anchor="ctr"/>
          <a:lstStyle/>
          <a:p>
            <a:pPr indent="0" marL="0">
              <a:buNone/>
            </a:pPr>
            <a:r>
              <a:rPr lang="en-US" sz="1100" dirty="0">
                <a:solidFill>
                  <a:srgbClr val="8899AA"/>
                </a:solidFill>
                <a:latin typeface="Arial" pitchFamily="34" charset="0"/>
                <a:ea typeface="Arial" pitchFamily="34" charset="-122"/>
                <a:cs typeface="Arial" pitchFamily="34" charset="-120"/>
              </a:rPr>
              <a:t>Gated PDFs, blog posts, videos</a:t>
            </a:r>
            <a:endParaRPr lang="en-US" sz="1100" dirty="0"/>
          </a:p>
        </p:txBody>
      </p:sp>
      <p:sp>
        <p:nvSpPr>
          <p:cNvPr id="27" name="Text 25"/>
          <p:cNvSpPr/>
          <p:nvPr/>
        </p:nvSpPr>
        <p:spPr>
          <a:xfrm>
            <a:off x="5120640" y="4069080"/>
            <a:ext cx="365760" cy="685800"/>
          </a:xfrm>
          <a:prstGeom prst="rect">
            <a:avLst/>
          </a:prstGeom>
          <a:noFill/>
          <a:ln/>
        </p:spPr>
        <p:txBody>
          <a:bodyPr wrap="square" rtlCol="0" anchor="ctr"/>
          <a:lstStyle/>
          <a:p>
            <a:pPr algn="ctr" indent="0" marL="0">
              <a:buNone/>
            </a:pPr>
            <a:r>
              <a:rPr lang="en-US" sz="1600" dirty="0">
                <a:solidFill>
                  <a:srgbClr val="0F6E56"/>
                </a:solidFill>
                <a:latin typeface="Arial" pitchFamily="34" charset="0"/>
                <a:ea typeface="Arial" pitchFamily="34" charset="-122"/>
                <a:cs typeface="Arial" pitchFamily="34" charset="-120"/>
              </a:rPr>
              <a:t>→</a:t>
            </a:r>
            <a:endParaRPr lang="en-US" sz="1600" dirty="0"/>
          </a:p>
        </p:txBody>
      </p:sp>
      <p:sp>
        <p:nvSpPr>
          <p:cNvPr id="28" name="Text 26"/>
          <p:cNvSpPr/>
          <p:nvPr/>
        </p:nvSpPr>
        <p:spPr>
          <a:xfrm>
            <a:off x="5486400" y="4069080"/>
            <a:ext cx="3017520" cy="685800"/>
          </a:xfrm>
          <a:prstGeom prst="rect">
            <a:avLst/>
          </a:prstGeom>
          <a:noFill/>
          <a:ln/>
        </p:spPr>
        <p:txBody>
          <a:bodyPr wrap="square" rtlCol="0" anchor="ctr"/>
          <a:lstStyle/>
          <a:p>
            <a:pPr indent="0" marL="0">
              <a:buNone/>
            </a:pPr>
            <a:r>
              <a:rPr lang="en-US" sz="1100" b="1" dirty="0">
                <a:solidFill>
                  <a:srgbClr val="0F6E56"/>
                </a:solidFill>
                <a:latin typeface="Arial" pitchFamily="34" charset="0"/>
                <a:ea typeface="Arial" pitchFamily="34" charset="-122"/>
                <a:cs typeface="Arial" pitchFamily="34" charset="-120"/>
              </a:rPr>
              <a:t>Agent-readable structured assets + narrative pieces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A2E"/>
        </a:solidFill>
      </p:bgPr>
    </p:bg>
    <p:spTree>
      <p:nvGrpSpPr>
        <p:cNvPr id="1" name=""/>
        <p:cNvGrpSpPr/>
        <p:nvPr/>
      </p:nvGrpSpPr>
      <p:grpSpPr>
        <a:xfrm>
          <a:off x="0" y="0"/>
          <a:ext cx="0" cy="0"/>
          <a:chOff x="0" y="0"/>
          <a:chExt cx="0" cy="0"/>
        </a:xfrm>
      </p:grpSpPr>
      <p:sp>
        <p:nvSpPr>
          <p:cNvPr id="2" name="Text 0"/>
          <p:cNvSpPr/>
          <p:nvPr/>
        </p:nvSpPr>
        <p:spPr>
          <a:xfrm>
            <a:off x="731520" y="320040"/>
            <a:ext cx="73152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Chapter 1 deliverables</a:t>
            </a:r>
            <a:endParaRPr lang="en-US" sz="2800" dirty="0"/>
          </a:p>
        </p:txBody>
      </p:sp>
      <p:sp>
        <p:nvSpPr>
          <p:cNvPr id="3" name="Shape 1"/>
          <p:cNvSpPr/>
          <p:nvPr/>
        </p:nvSpPr>
        <p:spPr>
          <a:xfrm>
            <a:off x="731520" y="914400"/>
            <a:ext cx="1097280" cy="36576"/>
          </a:xfrm>
          <a:prstGeom prst="rect">
            <a:avLst/>
          </a:prstGeom>
          <a:solidFill>
            <a:srgbClr val="B8860B"/>
          </a:solidFill>
          <a:ln/>
        </p:spPr>
      </p:sp>
      <p:sp>
        <p:nvSpPr>
          <p:cNvPr id="4" name="Text 2"/>
          <p:cNvSpPr/>
          <p:nvPr/>
        </p:nvSpPr>
        <p:spPr>
          <a:xfrm>
            <a:off x="548640" y="1188720"/>
            <a:ext cx="640080" cy="731520"/>
          </a:xfrm>
          <a:prstGeom prst="rect">
            <a:avLst/>
          </a:prstGeom>
          <a:noFill/>
          <a:ln/>
        </p:spPr>
        <p:txBody>
          <a:bodyPr wrap="square" rtlCol="0" anchor="t"/>
          <a:lstStyle/>
          <a:p>
            <a:pPr indent="0" marL="0">
              <a:buNone/>
            </a:pPr>
            <a:r>
              <a:rPr lang="en-US" sz="2800" b="1" dirty="0">
                <a:solidFill>
                  <a:srgbClr val="B8860B"/>
                </a:solidFill>
                <a:latin typeface="Georgia" pitchFamily="34" charset="0"/>
                <a:ea typeface="Georgia" pitchFamily="34" charset="-122"/>
                <a:cs typeface="Georgia" pitchFamily="34" charset="-120"/>
              </a:rPr>
              <a:t>01</a:t>
            </a:r>
            <a:endParaRPr lang="en-US" sz="2800" dirty="0"/>
          </a:p>
        </p:txBody>
      </p:sp>
      <p:sp>
        <p:nvSpPr>
          <p:cNvPr id="5" name="Text 3"/>
          <p:cNvSpPr/>
          <p:nvPr/>
        </p:nvSpPr>
        <p:spPr>
          <a:xfrm>
            <a:off x="1280160" y="1188720"/>
            <a:ext cx="6858000" cy="365760"/>
          </a:xfrm>
          <a:prstGeom prst="rect">
            <a:avLst/>
          </a:prstGeom>
          <a:noFill/>
          <a:ln/>
        </p:spPr>
        <p:txBody>
          <a:bodyPr wrap="square"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Old vs. new playbook diagnostic</a:t>
            </a:r>
            <a:endParaRPr lang="en-US" sz="1600" dirty="0"/>
          </a:p>
        </p:txBody>
      </p:sp>
      <p:sp>
        <p:nvSpPr>
          <p:cNvPr id="6" name="Text 4"/>
          <p:cNvSpPr/>
          <p:nvPr/>
        </p:nvSpPr>
        <p:spPr>
          <a:xfrm>
            <a:off x="1280160" y="1508760"/>
            <a:ext cx="6858000" cy="365760"/>
          </a:xfrm>
          <a:prstGeom prst="rect">
            <a:avLst/>
          </a:prstGeom>
          <a:noFill/>
          <a:ln/>
        </p:spPr>
        <p:txBody>
          <a:bodyPr wrap="square" rtlCol="0" anchor="ctr"/>
          <a:lstStyle/>
          <a:p>
            <a:pPr indent="0" marL="0">
              <a:buNone/>
            </a:pPr>
            <a:r>
              <a:rPr lang="en-US" sz="1200" dirty="0">
                <a:solidFill>
                  <a:srgbClr val="8899AA"/>
                </a:solidFill>
                <a:latin typeface="Arial" pitchFamily="34" charset="0"/>
                <a:ea typeface="Arial" pitchFamily="34" charset="-122"/>
                <a:cs typeface="Arial" pitchFamily="34" charset="-120"/>
              </a:rPr>
              <a:t>Map your current GTM against its agentic-era equivalent. Identify gaps.</a:t>
            </a:r>
            <a:endParaRPr lang="en-US" sz="1200" dirty="0"/>
          </a:p>
        </p:txBody>
      </p:sp>
      <p:sp>
        <p:nvSpPr>
          <p:cNvPr id="7" name="Text 5"/>
          <p:cNvSpPr/>
          <p:nvPr/>
        </p:nvSpPr>
        <p:spPr>
          <a:xfrm>
            <a:off x="548640" y="2103120"/>
            <a:ext cx="640080" cy="731520"/>
          </a:xfrm>
          <a:prstGeom prst="rect">
            <a:avLst/>
          </a:prstGeom>
          <a:noFill/>
          <a:ln/>
        </p:spPr>
        <p:txBody>
          <a:bodyPr wrap="square" rtlCol="0" anchor="t"/>
          <a:lstStyle/>
          <a:p>
            <a:pPr indent="0" marL="0">
              <a:buNone/>
            </a:pPr>
            <a:r>
              <a:rPr lang="en-US" sz="2800" b="1" dirty="0">
                <a:solidFill>
                  <a:srgbClr val="B8860B"/>
                </a:solidFill>
                <a:latin typeface="Georgia" pitchFamily="34" charset="0"/>
                <a:ea typeface="Georgia" pitchFamily="34" charset="-122"/>
                <a:cs typeface="Georgia" pitchFamily="34" charset="-120"/>
              </a:rPr>
              <a:t>02</a:t>
            </a:r>
            <a:endParaRPr lang="en-US" sz="2800" dirty="0"/>
          </a:p>
        </p:txBody>
      </p:sp>
      <p:sp>
        <p:nvSpPr>
          <p:cNvPr id="8" name="Text 6"/>
          <p:cNvSpPr/>
          <p:nvPr/>
        </p:nvSpPr>
        <p:spPr>
          <a:xfrm>
            <a:off x="1280160" y="2103120"/>
            <a:ext cx="6858000" cy="365760"/>
          </a:xfrm>
          <a:prstGeom prst="rect">
            <a:avLst/>
          </a:prstGeom>
          <a:noFill/>
          <a:ln/>
        </p:spPr>
        <p:txBody>
          <a:bodyPr wrap="square"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GEO audit</a:t>
            </a:r>
            <a:endParaRPr lang="en-US" sz="1600" dirty="0"/>
          </a:p>
        </p:txBody>
      </p:sp>
      <p:sp>
        <p:nvSpPr>
          <p:cNvPr id="9" name="Text 7"/>
          <p:cNvSpPr/>
          <p:nvPr/>
        </p:nvSpPr>
        <p:spPr>
          <a:xfrm>
            <a:off x="1280160" y="2423160"/>
            <a:ext cx="6858000" cy="365760"/>
          </a:xfrm>
          <a:prstGeom prst="rect">
            <a:avLst/>
          </a:prstGeom>
          <a:noFill/>
          <a:ln/>
        </p:spPr>
        <p:txBody>
          <a:bodyPr wrap="square" rtlCol="0" anchor="ctr"/>
          <a:lstStyle/>
          <a:p>
            <a:pPr indent="0" marL="0">
              <a:buNone/>
            </a:pPr>
            <a:r>
              <a:rPr lang="en-US" sz="1200" dirty="0">
                <a:solidFill>
                  <a:srgbClr val="8899AA"/>
                </a:solidFill>
                <a:latin typeface="Arial" pitchFamily="34" charset="0"/>
                <a:ea typeface="Arial" pitchFamily="34" charset="-122"/>
                <a:cs typeface="Arial" pitchFamily="34" charset="-120"/>
              </a:rPr>
              <a:t>Run 5+ evaluation queries across AI assistants. Score your visibility 0–5.</a:t>
            </a:r>
            <a:endParaRPr lang="en-US" sz="1200" dirty="0"/>
          </a:p>
        </p:txBody>
      </p:sp>
      <p:sp>
        <p:nvSpPr>
          <p:cNvPr id="10" name="Text 8"/>
          <p:cNvSpPr/>
          <p:nvPr/>
        </p:nvSpPr>
        <p:spPr>
          <a:xfrm>
            <a:off x="548640" y="3017520"/>
            <a:ext cx="640080" cy="731520"/>
          </a:xfrm>
          <a:prstGeom prst="rect">
            <a:avLst/>
          </a:prstGeom>
          <a:noFill/>
          <a:ln/>
        </p:spPr>
        <p:txBody>
          <a:bodyPr wrap="square" rtlCol="0" anchor="t"/>
          <a:lstStyle/>
          <a:p>
            <a:pPr indent="0" marL="0">
              <a:buNone/>
            </a:pPr>
            <a:r>
              <a:rPr lang="en-US" sz="2800" b="1" dirty="0">
                <a:solidFill>
                  <a:srgbClr val="B8860B"/>
                </a:solidFill>
                <a:latin typeface="Georgia" pitchFamily="34" charset="0"/>
                <a:ea typeface="Georgia" pitchFamily="34" charset="-122"/>
                <a:cs typeface="Georgia" pitchFamily="34" charset="-120"/>
              </a:rPr>
              <a:t>03</a:t>
            </a:r>
            <a:endParaRPr lang="en-US" sz="2800" dirty="0"/>
          </a:p>
        </p:txBody>
      </p:sp>
      <p:sp>
        <p:nvSpPr>
          <p:cNvPr id="11" name="Text 9"/>
          <p:cNvSpPr/>
          <p:nvPr/>
        </p:nvSpPr>
        <p:spPr>
          <a:xfrm>
            <a:off x="1280160" y="3017520"/>
            <a:ext cx="6858000" cy="365760"/>
          </a:xfrm>
          <a:prstGeom prst="rect">
            <a:avLst/>
          </a:prstGeom>
          <a:noFill/>
          <a:ln/>
        </p:spPr>
        <p:txBody>
          <a:bodyPr wrap="square"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Content survivability assessment</a:t>
            </a:r>
            <a:endParaRPr lang="en-US" sz="1600" dirty="0"/>
          </a:p>
        </p:txBody>
      </p:sp>
      <p:sp>
        <p:nvSpPr>
          <p:cNvPr id="12" name="Text 10"/>
          <p:cNvSpPr/>
          <p:nvPr/>
        </p:nvSpPr>
        <p:spPr>
          <a:xfrm>
            <a:off x="1280160" y="3337560"/>
            <a:ext cx="6858000" cy="365760"/>
          </a:xfrm>
          <a:prstGeom prst="rect">
            <a:avLst/>
          </a:prstGeom>
          <a:noFill/>
          <a:ln/>
        </p:spPr>
        <p:txBody>
          <a:bodyPr wrap="square" rtlCol="0" anchor="ctr"/>
          <a:lstStyle/>
          <a:p>
            <a:pPr indent="0" marL="0">
              <a:buNone/>
            </a:pPr>
            <a:r>
              <a:rPr lang="en-US" sz="1200" dirty="0">
                <a:solidFill>
                  <a:srgbClr val="8899AA"/>
                </a:solidFill>
                <a:latin typeface="Arial" pitchFamily="34" charset="0"/>
                <a:ea typeface="Arial" pitchFamily="34" charset="-122"/>
                <a:cs typeface="Arial" pitchFamily="34" charset="-120"/>
              </a:rPr>
              <a:t>Which of your top 20 assets are agent-readable, agent-adjacent, or invisible?</a:t>
            </a:r>
            <a:endParaRPr lang="en-US" sz="1200" dirty="0"/>
          </a:p>
        </p:txBody>
      </p:sp>
      <p:sp>
        <p:nvSpPr>
          <p:cNvPr id="13" name="Text 11"/>
          <p:cNvSpPr/>
          <p:nvPr/>
        </p:nvSpPr>
        <p:spPr>
          <a:xfrm>
            <a:off x="548640" y="3931920"/>
            <a:ext cx="640080" cy="731520"/>
          </a:xfrm>
          <a:prstGeom prst="rect">
            <a:avLst/>
          </a:prstGeom>
          <a:noFill/>
          <a:ln/>
        </p:spPr>
        <p:txBody>
          <a:bodyPr wrap="square" rtlCol="0" anchor="t"/>
          <a:lstStyle/>
          <a:p>
            <a:pPr indent="0" marL="0">
              <a:buNone/>
            </a:pPr>
            <a:r>
              <a:rPr lang="en-US" sz="2800" b="1" dirty="0">
                <a:solidFill>
                  <a:srgbClr val="B8860B"/>
                </a:solidFill>
                <a:latin typeface="Georgia" pitchFamily="34" charset="0"/>
                <a:ea typeface="Georgia" pitchFamily="34" charset="-122"/>
                <a:cs typeface="Georgia" pitchFamily="34" charset="-120"/>
              </a:rPr>
              <a:t>04</a:t>
            </a:r>
            <a:endParaRPr lang="en-US" sz="2800" dirty="0"/>
          </a:p>
        </p:txBody>
      </p:sp>
      <p:sp>
        <p:nvSpPr>
          <p:cNvPr id="14" name="Text 12"/>
          <p:cNvSpPr/>
          <p:nvPr/>
        </p:nvSpPr>
        <p:spPr>
          <a:xfrm>
            <a:off x="1280160" y="3931920"/>
            <a:ext cx="6858000" cy="365760"/>
          </a:xfrm>
          <a:prstGeom prst="rect">
            <a:avLst/>
          </a:prstGeom>
          <a:noFill/>
          <a:ln/>
        </p:spPr>
        <p:txBody>
          <a:bodyPr wrap="square"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10x PMM self-assessment</a:t>
            </a:r>
            <a:endParaRPr lang="en-US" sz="1600" dirty="0"/>
          </a:p>
        </p:txBody>
      </p:sp>
      <p:sp>
        <p:nvSpPr>
          <p:cNvPr id="15" name="Text 13"/>
          <p:cNvSpPr/>
          <p:nvPr/>
        </p:nvSpPr>
        <p:spPr>
          <a:xfrm>
            <a:off x="1280160" y="4251960"/>
            <a:ext cx="6858000" cy="365760"/>
          </a:xfrm>
          <a:prstGeom prst="rect">
            <a:avLst/>
          </a:prstGeom>
          <a:noFill/>
          <a:ln/>
        </p:spPr>
        <p:txBody>
          <a:bodyPr wrap="square" rtlCol="0" anchor="ctr"/>
          <a:lstStyle/>
          <a:p>
            <a:pPr indent="0" marL="0">
              <a:buNone/>
            </a:pPr>
            <a:r>
              <a:rPr lang="en-US" sz="1200" dirty="0">
                <a:solidFill>
                  <a:srgbClr val="8899AA"/>
                </a:solidFill>
                <a:latin typeface="Arial" pitchFamily="34" charset="0"/>
                <a:ea typeface="Arial" pitchFamily="34" charset="-122"/>
                <a:cs typeface="Arial" pitchFamily="34" charset="-120"/>
              </a:rPr>
              <a:t>Score across 10 dimensions. Design your 30-day upskilling plan.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A2E"/>
        </a:solidFill>
      </p:bgPr>
    </p:bg>
    <p:spTree>
      <p:nvGrpSpPr>
        <p:cNvPr id="1" name=""/>
        <p:cNvGrpSpPr/>
        <p:nvPr/>
      </p:nvGrpSpPr>
      <p:grpSpPr>
        <a:xfrm>
          <a:off x="0" y="0"/>
          <a:ext cx="0" cy="0"/>
          <a:chOff x="0" y="0"/>
          <a:chExt cx="0" cy="0"/>
        </a:xfrm>
      </p:grpSpPr>
      <p:sp>
        <p:nvSpPr>
          <p:cNvPr id="2" name="Text 0"/>
          <p:cNvSpPr/>
          <p:nvPr/>
        </p:nvSpPr>
        <p:spPr>
          <a:xfrm>
            <a:off x="731520" y="1371600"/>
            <a:ext cx="7315200" cy="548640"/>
          </a:xfrm>
          <a:prstGeom prst="rect">
            <a:avLst/>
          </a:prstGeom>
          <a:noFill/>
          <a:ln/>
        </p:spPr>
        <p:txBody>
          <a:bodyPr wrap="square" rtlCol="0" anchor="ctr"/>
          <a:lstStyle/>
          <a:p>
            <a:pPr indent="0" marL="0">
              <a:buNone/>
            </a:pPr>
            <a:r>
              <a:rPr lang="en-US" sz="1600" b="1" spc="300" kern="0" dirty="0">
                <a:solidFill>
                  <a:srgbClr val="0F6E56"/>
                </a:solidFill>
                <a:latin typeface="Arial" pitchFamily="34" charset="0"/>
                <a:ea typeface="Arial" pitchFamily="34" charset="-122"/>
                <a:cs typeface="Arial" pitchFamily="34" charset="-120"/>
              </a:rPr>
              <a:t>Next: Chapter 2</a:t>
            </a:r>
            <a:endParaRPr lang="en-US" sz="1600" dirty="0"/>
          </a:p>
        </p:txBody>
      </p:sp>
      <p:sp>
        <p:nvSpPr>
          <p:cNvPr id="3" name="Text 1"/>
          <p:cNvSpPr/>
          <p:nvPr/>
        </p:nvSpPr>
        <p:spPr>
          <a:xfrm>
            <a:off x="731520" y="1920240"/>
            <a:ext cx="7315200" cy="914400"/>
          </a:xfrm>
          <a:prstGeom prst="rect">
            <a:avLst/>
          </a:prstGeom>
          <a:noFill/>
          <a:ln/>
        </p:spPr>
        <p:txBody>
          <a:bodyPr wrap="square"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Building signal in a noisy world</a:t>
            </a:r>
            <a:endParaRPr lang="en-US" sz="3600" dirty="0"/>
          </a:p>
        </p:txBody>
      </p:sp>
      <p:sp>
        <p:nvSpPr>
          <p:cNvPr id="4" name="Text 2"/>
          <p:cNvSpPr/>
          <p:nvPr/>
        </p:nvSpPr>
        <p:spPr>
          <a:xfrm>
            <a:off x="731520" y="2926080"/>
            <a:ext cx="7315200" cy="731520"/>
          </a:xfrm>
          <a:prstGeom prst="rect">
            <a:avLst/>
          </a:prstGeom>
          <a:noFill/>
          <a:ln/>
        </p:spPr>
        <p:txBody>
          <a:bodyPr wrap="square" rtlCol="0" anchor="ctr"/>
          <a:lstStyle/>
          <a:p>
            <a:pPr indent="0" marL="0">
              <a:buNone/>
            </a:pPr>
            <a:r>
              <a:rPr lang="en-US" sz="1400" i="1" dirty="0">
                <a:solidFill>
                  <a:srgbClr val="8899AA"/>
                </a:solidFill>
                <a:latin typeface="Georgia" pitchFamily="34" charset="0"/>
                <a:ea typeface="Georgia" pitchFamily="34" charset="-122"/>
                <a:cs typeface="Georgia" pitchFamily="34" charset="-120"/>
              </a:rPr>
              <a:t>Mapping Market Problems, Positioning, and five other Pragmatic boxes to the Awareness stage of the agentic funnel.</a:t>
            </a:r>
            <a:endParaRPr lang="en-US" sz="1400" dirty="0"/>
          </a:p>
        </p:txBody>
      </p:sp>
      <p:sp>
        <p:nvSpPr>
          <p:cNvPr id="5" name="Shape 3"/>
          <p:cNvSpPr/>
          <p:nvPr/>
        </p:nvSpPr>
        <p:spPr>
          <a:xfrm>
            <a:off x="731520" y="4023360"/>
            <a:ext cx="1371600" cy="36576"/>
          </a:xfrm>
          <a:prstGeom prst="rect">
            <a:avLst/>
          </a:prstGeom>
          <a:solidFill>
            <a:srgbClr val="0F6E56"/>
          </a:solidFill>
          <a:ln/>
        </p:spPr>
      </p:sp>
      <p:sp>
        <p:nvSpPr>
          <p:cNvPr id="6" name="Text 4"/>
          <p:cNvSpPr/>
          <p:nvPr/>
        </p:nvSpPr>
        <p:spPr>
          <a:xfrm>
            <a:off x="731520" y="4297680"/>
            <a:ext cx="7315200" cy="365760"/>
          </a:xfrm>
          <a:prstGeom prst="rect">
            <a:avLst/>
          </a:prstGeom>
          <a:noFill/>
          <a:ln/>
        </p:spPr>
        <p:txBody>
          <a:bodyPr wrap="square" rtlCol="0" anchor="ctr"/>
          <a:lstStyle/>
          <a:p>
            <a:pPr indent="0" marL="0">
              <a:buNone/>
            </a:pPr>
            <a:r>
              <a:rPr lang="en-US" sz="1300" dirty="0">
                <a:solidFill>
                  <a:srgbClr val="8899AA"/>
                </a:solidFill>
                <a:latin typeface="Arial" pitchFamily="34" charset="0"/>
                <a:ea typeface="Arial" pitchFamily="34" charset="-122"/>
                <a:cs typeface="Arial" pitchFamily="34" charset="-120"/>
              </a:rPr>
              <a:t>futureofpmm.com/curriculum</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The Old Playbook Is Dead</dc:title>
  <dc:subject>PptxGenJS Presentation</dc:subject>
  <dc:creator>Chris O’Hara &amp; Dan Yu</dc:creator>
  <cp:lastModifiedBy>Chris O’Hara &amp; Dan Yu</cp:lastModifiedBy>
  <cp:revision>1</cp:revision>
  <dcterms:created xsi:type="dcterms:W3CDTF">2026-03-25T11:31:35Z</dcterms:created>
  <dcterms:modified xsi:type="dcterms:W3CDTF">2026-03-25T11:31:35Z</dcterms:modified>
</cp:coreProperties>
</file>