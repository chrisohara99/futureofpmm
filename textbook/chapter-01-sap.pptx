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THE FUTURE OF PRODUCT MARKETING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389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011680" cy="4114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PART I · CHAPTER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The Old Playbook</a:t>
            </a:r>
            <a:br/>
            <a:r>
              <a:t>Is Dead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Pragmatic Remix: All 37 Boxes (Reframed)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A"/>
                </a:solidFill>
                <a:latin typeface="Arial"/>
              </a:defRPr>
            </a:pPr>
            <a:r>
              <a:t>Chris O'Hara &amp; Dan Yu  ·  futureofpmm.com  ·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THE STORY OF SARAH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546A"/>
                </a:solidFill>
                <a:latin typeface="Arial"/>
              </a:defRPr>
            </a:pPr>
            <a:r>
              <a:t>Sometime in late 2024, a product marketer noticed something strange in her pipeline data...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3657600" cy="2560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Traffic Up, Forms 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More people visiting product pages,</a:t>
            </a:r>
            <a:br/>
            <a:r>
              <a:t>fewer downloading white papers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286000"/>
            <a:ext cx="3657600" cy="25603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926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Prospects Knew Too Much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4747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Showing up to calls knowing competitive</a:t>
            </a:r>
            <a:br/>
            <a:r>
              <a:t>pricing and technical limitations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286000"/>
            <a:ext cx="3657600" cy="2560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926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Deals Closed in 3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4747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Typical cycle was 11 weeks.</a:t>
            </a:r>
            <a:br/>
            <a:r>
              <a:t>Two enterprise deals closed in under 3.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035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546A"/>
                </a:solidFill>
                <a:latin typeface="Arial"/>
              </a:defRPr>
            </a:pPr>
            <a:r>
              <a:t>What had changed: her buyers had started using AI agents to do the research, comparison shopping, and vendor pre-qualification that used to take human buying committees weeks.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THE BUYER JOURNEY COMPRESSION</a:t>
            </a:r>
          </a:p>
        </p:txBody>
      </p:sp>
      <p:pic>
        <p:nvPicPr>
          <p:cNvPr id="4" name="Picture 3" descr="fig1-buyer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5786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A"/>
                </a:solidFill>
                <a:latin typeface="Arial"/>
              </a:defRPr>
            </a:pPr>
            <a:r>
              <a:t>Figure 1: Steps 2–4 of the old journey — where most PMM content lived — now happen inside an AI's context window in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THE THREE ERAS OF ENTERPRISE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657600" cy="43891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ERA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Data Warehouse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7E6E6"/>
                </a:solidFill>
                <a:latin typeface="Arial"/>
              </a:defRPr>
            </a:pPr>
            <a:r>
              <a:t>Age of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ETL batch jobs. Static deliverables.</a:t>
            </a:r>
            <a:br/>
            <a:r>
              <a:t>Quarterly reviews. Slow data,</a:t>
            </a:r>
            <a:br/>
            <a:r>
              <a:t>slow marketing, slow buyers.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657600" cy="4389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ERA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Data Lake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000"/>
                </a:solidFill>
                <a:latin typeface="Arial"/>
              </a:defRPr>
            </a:pPr>
            <a:r>
              <a:t>Age of Unification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0175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CDP era. Customer strategy.</a:t>
            </a:r>
            <a:br/>
            <a:r>
              <a:t>Journey mapping. Win/loss analysis.</a:t>
            </a:r>
            <a:br/>
            <a:r>
              <a:t>"A CDP knows your customer."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657600" cy="43891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ERA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288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Data Fabric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000"/>
                </a:solidFill>
                <a:latin typeface="Arial"/>
              </a:defRPr>
            </a:pPr>
            <a:r>
              <a:t>Age of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175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Agentic AI. Federated metadata.</a:t>
            </a:r>
            <a:br/>
            <a:r>
              <a:t>Agents that monitor, adjust, generate.</a:t>
            </a:r>
            <a:br/>
            <a:r>
              <a:t>"An AMP knows your business."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546A"/>
                </a:solidFill>
                <a:latin typeface="Arial"/>
              </a:defRPr>
            </a:pPr>
            <a:r>
              <a:t>A DMP knew your audience. A CDP knew your customer. An AMP knows your business.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THE VISIBILITY GAP</a:t>
            </a:r>
          </a:p>
        </p:txBody>
      </p:sp>
      <p:pic>
        <p:nvPicPr>
          <p:cNvPr id="4" name="Picture 3" descr="fig2-visibility-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105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A"/>
                </a:solidFill>
                <a:latin typeface="Arial"/>
              </a:defRPr>
            </a:pPr>
            <a:r>
              <a:t>Figure 2: The Visibility Gap is not a technology problem — it is a prioritization problem.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FROM SEO TO 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546A"/>
                </a:solidFill>
                <a:latin typeface="Arial"/>
              </a:defRPr>
            </a:pPr>
            <a:r>
              <a:t>Generative Engine Optimization — the signals are fundamentally different.</a:t>
            </a:r>
          </a:p>
        </p:txBody>
      </p:sp>
      <p:pic>
        <p:nvPicPr>
          <p:cNvPr id="5" name="Picture 4" descr="fig3-seo-to-g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144000" cy="499015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The Audit (Do This Week)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Open Claude, ChatGPT, or Perplexity. Ask it to evaluate vendors in your category. See if your company appears. That 60-second exercise tells you more about your GEO readiness than any consultant's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THE PRAGMATIC FRAMEWORK MEETS THE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546A"/>
                </a:solidFill>
                <a:latin typeface="Arial"/>
              </a:defRPr>
            </a:pPr>
            <a:r>
              <a:t>37 boxes. Three clusters. One question: what happens when AI agents become part of the team?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657600" cy="41148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4546A"/>
                </a:solidFill>
                <a:latin typeface="Arial"/>
              </a:defRPr>
            </a:pPr>
            <a:r>
              <a:t>CLUSTER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4546A"/>
                </a:solidFill>
                <a:latin typeface="Arial"/>
              </a:defRPr>
            </a:pPr>
            <a:r>
              <a:t>Automated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A"/>
                </a:solidFill>
                <a:latin typeface="Arial"/>
              </a:defRPr>
            </a:pPr>
            <a:r>
              <a:t>Market sizing, derivative content,</a:t>
            </a:r>
            <a:br/>
            <a:r>
              <a:t>event logistics, sales tools production.</a:t>
            </a:r>
            <a:br/>
            <a:r>
              <a:t>Agents do the majority today.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3291840" cy="1828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A"/>
                </a:solidFill>
                <a:latin typeface="Arial"/>
              </a:defRPr>
            </a:pPr>
            <a:r>
              <a:t>70% time savings on production.</a:t>
            </a:r>
            <a:br/>
            <a:r>
              <a:t>If your value is producing artifacts,</a:t>
            </a:r>
            <a:br/>
            <a:r>
              <a:t>the automation wave is not your friend.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737360"/>
            <a:ext cx="3657600" cy="41148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CLUSTER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86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Augmented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8346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Positioning, win/loss analysis,</a:t>
            </a:r>
            <a:br/>
            <a:r>
              <a:t>buyer personas, pricing strategy.</a:t>
            </a:r>
            <a:br/>
            <a:r>
              <a:t>Human essential, agent accelerates.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4023360"/>
            <a:ext cx="3291840" cy="182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206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Human-agent team is so much better</a:t>
            </a:r>
            <a:br/>
            <a:r>
              <a:t>that operating without agents</a:t>
            </a:r>
            <a:br/>
            <a:r>
              <a:t>becomes a competitive disadvantage.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737360"/>
            <a:ext cx="3657600" cy="4114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CLUSTER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86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Elevated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8346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Stakeholder management, customer</a:t>
            </a:r>
            <a:br/>
            <a:r>
              <a:t>empathy, thought leadership.</a:t>
            </a:r>
            <a:br/>
            <a:r>
              <a:t>Irreducibly human.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4023360"/>
            <a:ext cx="3291840" cy="182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206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These activities become MORE important</a:t>
            </a:r>
            <a:br/>
            <a:r>
              <a:t>precisely because machines can't do them.</a:t>
            </a:r>
            <a:br/>
            <a:r>
              <a:t>This is where careers are built.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THE CURRICULUM ARCHITECTURE</a:t>
            </a:r>
          </a:p>
        </p:txBody>
      </p:sp>
      <p:pic>
        <p:nvPicPr>
          <p:cNvPr id="4" name="Picture 3" descr="fig4-pragmatic-funnel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80093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4546A"/>
                </a:solidFill>
                <a:latin typeface="Arial"/>
              </a:defRPr>
            </a:pPr>
            <a:r>
              <a:t>Figure 4: The Pragmatic 37 → Agentic Funnel Map. All 37 activities mapped to the six-stage funnel, color-coded by Pragmatic category.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THE 10x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22860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546A"/>
                </a:solidFill>
                <a:latin typeface="Arial"/>
              </a:defRPr>
            </a:pPr>
            <a:r>
              <a:t>A PMM who automates 20 hours a week of Cluster One work and redirects that time into deeper competitive analysis, more thoughtful positioning, and genuine thought leadership is going to outperform a PMM who's still manually updating battlecards.</a:t>
            </a:r>
            <a:br/>
            <a:br/>
            <a:r>
              <a:t>Not by 20%. By a factor that justifies the title of this book.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546A"/>
                </a:solidFill>
                <a:latin typeface="Arial"/>
              </a:defRPr>
            </a:pPr>
            <a:r>
              <a:t>What "10x yourself" actually means: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0000"/>
                </a:solidFill>
                <a:latin typeface="Arial"/>
              </a:defRPr>
            </a:pPr>
            <a:r>
              <a:t>✗  NOT working ten times harder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0000"/>
                </a:solidFill>
                <a:latin typeface="Arial"/>
              </a:defRPr>
            </a:pPr>
            <a:r>
              <a:t>✗  NOT working ten times faster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0AD47"/>
                </a:solidFill>
                <a:latin typeface="Arial"/>
              </a:defRPr>
            </a:pPr>
            <a:r>
              <a:t>✓  Operating at a fundamentally different level of strategic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546A"/>
                </a:solidFill>
                <a:latin typeface="Arial"/>
              </a:defRPr>
            </a:pPr>
            <a:r>
              <a:t>You've offloaded the mechanical work to machines built for it — and you're finally free to do the work that only a human can 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CMO PERSPECTIVE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164592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546A"/>
                </a:solidFill>
                <a:latin typeface="Arial"/>
              </a:defRPr>
            </a:pPr>
            <a:r>
              <a:t>The conversation about AI inside marketing departments is almost entirely wrong. It's focused on efficiency — how to produce the same outputs with fewer people. That's a CFO question.</a:t>
            </a:r>
            <a:br/>
            <a:br/>
            <a:r>
              <a:t>The CMO question: how do we produce fundamentally different outputs?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546A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The agentic shift is a structural transformation, not just a toolkit upgrade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86200"/>
            <a:ext cx="112471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Buyer behavior has already changed — AI agents compress research from weeks to hours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Most PMM content is invisible to agents (the Visibility Gap)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92040"/>
            <a:ext cx="1124712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983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The Pragmatic 37 cluster into: Automated, Augmented, Elevated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The PMM who frees Cluster One hours to invest in Cluster Three operates at a different 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4546A"/>
                </a:solidFill>
                <a:latin typeface="Arial"/>
              </a:defRPr>
            </a:pPr>
            <a:r>
              <a:t>futureofpmm.com  ·  Chris O'Hara &amp; Dan Yu  ·  The Future of Product Marketing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